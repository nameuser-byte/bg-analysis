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9"/>
  </p:notesMasterIdLst>
  <p:sldIdLst>
    <p:sldId id="288" r:id="rId3"/>
    <p:sldId id="289" r:id="rId4"/>
    <p:sldId id="290" r:id="rId5"/>
    <p:sldId id="294" r:id="rId6"/>
    <p:sldId id="292" r:id="rId7"/>
    <p:sldId id="29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14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8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4F1121-C736-40AD-A2FD-8CD00E0C1257}">
  <a:tblStyle styleId="{E54F1121-C736-40AD-A2FD-8CD00E0C12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3B5ECD-0DDE-43B0-BCF7-2AAF3335D4B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2094" y="996"/>
      </p:cViewPr>
      <p:guideLst>
        <p:guide orient="horz" pos="181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74f7b66bc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3f74f7b66bc_10_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SAW(다이싱) 공정의 SPC Out-of-Control 현상을 분석해 물리적 원인을 추적하고 공정 능력(Cpk) 개선안을 도출한 발표입니다.</a:t>
            </a:r>
            <a:endParaRPr/>
          </a:p>
        </p:txBody>
      </p:sp>
      <p:sp>
        <p:nvSpPr>
          <p:cNvPr id="417" name="Google Shape;417;g3f74f7b66bc_10_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ko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75361c155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3f75361c155_8_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발표는 6개 챕터로 구성됩니다. Ch.1 문제 제기, Ch.2 OOC 관리 가치(규명 대상 정의), Ch.3 원인 규명, Ch.4 개선 근거, Ch.5 Fishbone 가설 종합, Ch.6 개선 권고안 순으로, '규명 대상 정의 → 원인 규명 → 개선 근거 → 권고안'의 논리로 이어집니다.</a:t>
            </a:r>
            <a:endParaRPr/>
          </a:p>
        </p:txBody>
      </p:sp>
      <p:sp>
        <p:nvSpPr>
          <p:cNvPr id="433" name="Google Shape;433;g3f75361c155_8_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ko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75361c155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g3f75361c155_10_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후공정은 BG-SAW-DA-MOLD-Final Test 순입니다. SAW는 BG 이후 독립 공정이며, 최종 불량의 주원인은 MOLD/DA입니다. SAW OOC는 최종 수율에 직접 기여하지 않습니다.</a:t>
            </a:r>
            <a:endParaRPr/>
          </a:p>
        </p:txBody>
      </p:sp>
      <p:sp>
        <p:nvSpPr>
          <p:cNvPr id="490" name="Google Shape;490;g3f75361c155_10_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74f7b66bc_1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g3f74f7b66bc_10_5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2. 데이터 수집 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Sawing 공정과 OOC 현황 및 수율 영향도 분석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핵심요약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OOC 발생과 최종 Fail 연관성이 매우 약하다.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아래에는 그래프 및 표로 표시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OOC 와 Final Test Pass/Fail 연관성은 전혀 없지만, 설비의 상태를 알리는 조기 경보 지표로서 관리해야 한다.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900"/>
              <a:buFont typeface="Calibri"/>
              <a:buNone/>
            </a:pP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ko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이와 관련해서는 다음 슬라이드부터 설명하겠습니다 ~</a:t>
            </a:r>
            <a:endParaRPr sz="13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556" name="Google Shape;556;g3f74f7b66bc_10_5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9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85124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2"/>
          <p:cNvSpPr/>
          <p:nvPr/>
        </p:nvSpPr>
        <p:spPr>
          <a:xfrm>
            <a:off x="5692140" y="2331720"/>
            <a:ext cx="2194500" cy="2194500"/>
          </a:xfrm>
          <a:prstGeom prst="ellipse">
            <a:avLst/>
          </a:prstGeom>
          <a:noFill/>
          <a:ln w="31750" cap="flat" cmpd="sng">
            <a:solidFill>
              <a:srgbClr val="1B49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0" name="Google Shape;420;p62"/>
          <p:cNvSpPr/>
          <p:nvPr/>
        </p:nvSpPr>
        <p:spPr>
          <a:xfrm>
            <a:off x="5932170" y="2571750"/>
            <a:ext cx="1714500" cy="1714500"/>
          </a:xfrm>
          <a:prstGeom prst="ellipse">
            <a:avLst/>
          </a:prstGeom>
          <a:noFill/>
          <a:ln w="15875" cap="flat" cmpd="sng">
            <a:solidFill>
              <a:srgbClr val="2E7D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1" name="Google Shape;421;p62"/>
          <p:cNvSpPr/>
          <p:nvPr/>
        </p:nvSpPr>
        <p:spPr>
          <a:xfrm>
            <a:off x="6172200" y="2811780"/>
            <a:ext cx="1234440" cy="1234440"/>
          </a:xfrm>
          <a:prstGeom prst="ellipse">
            <a:avLst/>
          </a:prstGeom>
          <a:noFill/>
          <a:ln w="15875" cap="flat" cmpd="sng">
            <a:solidFill>
              <a:srgbClr val="1B49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2" name="Google Shape;422;p62"/>
          <p:cNvSpPr/>
          <p:nvPr/>
        </p:nvSpPr>
        <p:spPr>
          <a:xfrm>
            <a:off x="6412230" y="3051810"/>
            <a:ext cx="754380" cy="754380"/>
          </a:xfrm>
          <a:prstGeom prst="ellipse">
            <a:avLst/>
          </a:prstGeom>
          <a:noFill/>
          <a:ln w="15875" cap="flat" cmpd="sng">
            <a:solidFill>
              <a:srgbClr val="2E7D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6686550" y="3326130"/>
            <a:ext cx="205740" cy="205740"/>
          </a:xfrm>
          <a:prstGeom prst="ellipse">
            <a:avLst/>
          </a:prstGeom>
          <a:solidFill>
            <a:srgbClr val="D1495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6" name="Google Shape;426;p62"/>
          <p:cNvSpPr/>
          <p:nvPr/>
        </p:nvSpPr>
        <p:spPr>
          <a:xfrm>
            <a:off x="514350" y="2297420"/>
            <a:ext cx="589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1100"/>
              <a:buFont typeface="Calibri"/>
              <a:buNone/>
              <a:tabLst/>
              <a:defRPr/>
            </a:pPr>
            <a:r>
              <a:rPr kumimoji="0" lang="en-US" altLang="ko" sz="1100" b="0" i="1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kumimoji="0" lang="ko" altLang="en-US" sz="1100" b="0" i="1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조</a:t>
            </a:r>
            <a:endParaRPr kumimoji="0" sz="1100" b="0" i="1" u="none" strike="noStrike" kern="0" cap="none" spc="0" normalizeH="0" baseline="0" noProof="0">
              <a:ln>
                <a:noFill/>
              </a:ln>
              <a:solidFill>
                <a:srgbClr val="AEC6DC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1100"/>
              <a:buFont typeface="Calibri"/>
              <a:buNone/>
              <a:tabLst/>
              <a:defRPr/>
            </a:pPr>
            <a:r>
              <a:rPr kumimoji="0" lang="ko" altLang="en-US" sz="1100" b="0" i="1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김화영 성웅제 이동호 정회찬 한건희</a:t>
            </a:r>
            <a:endParaRPr kumimoji="0" sz="1100" b="0" i="1" u="none" strike="noStrike" kern="0" cap="none" spc="0" normalizeH="0" baseline="0" noProof="0">
              <a:ln>
                <a:noFill/>
              </a:ln>
              <a:solidFill>
                <a:srgbClr val="AEC6DC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62"/>
          <p:cNvSpPr/>
          <p:nvPr/>
        </p:nvSpPr>
        <p:spPr>
          <a:xfrm>
            <a:off x="514350" y="3909060"/>
            <a:ext cx="1988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  <a:tabLst/>
              <a:defRPr/>
            </a:pPr>
            <a:r>
              <a:rPr kumimoji="0" lang="en-US" altLang="ko" sz="17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n = 20,000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62"/>
          <p:cNvSpPr/>
          <p:nvPr/>
        </p:nvSpPr>
        <p:spPr>
          <a:xfrm>
            <a:off x="514350" y="4251960"/>
            <a:ext cx="198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CC"/>
              </a:buClr>
              <a:buSzPts val="800"/>
              <a:buFont typeface="Calibri"/>
              <a:buNone/>
              <a:tabLst/>
              <a:defRPr/>
            </a:pP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9FB6C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분석 샘플 </a:t>
            </a: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9FB6C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9FB6C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합성 데이터</a:t>
            </a: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9FB6C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62"/>
          <p:cNvSpPr/>
          <p:nvPr/>
        </p:nvSpPr>
        <p:spPr>
          <a:xfrm>
            <a:off x="514350" y="4766310"/>
            <a:ext cx="8092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93AA"/>
              </a:buClr>
              <a:buSzPts val="800"/>
              <a:buFont typeface="Calibri"/>
              <a:buNone/>
              <a:tabLst/>
              <a:defRPr/>
            </a:pPr>
            <a:r>
              <a:rPr kumimoji="0" lang="ko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7C93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반도체 패키징 </a:t>
            </a:r>
            <a:r>
              <a:rPr lang="en-US" altLang="ko" sz="800" dirty="0" err="1">
                <a:solidFill>
                  <a:srgbClr val="7C93AA"/>
                </a:solidFill>
                <a:latin typeface="Calibri"/>
                <a:ea typeface="Calibri"/>
                <a:cs typeface="Calibri"/>
                <a:sym typeface="Calibri"/>
              </a:rPr>
              <a:t>Backgrinding</a:t>
            </a:r>
            <a:r>
              <a:rPr kumimoji="0" lang="en-US" altLang="ko" sz="800" b="0" i="0" u="none" strike="noStrike" kern="0" cap="none" spc="0" normalizeH="0" baseline="0" noProof="0" dirty="0">
                <a:ln>
                  <a:noFill/>
                </a:ln>
                <a:solidFill>
                  <a:srgbClr val="7C93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ko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7C93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공정 </a:t>
            </a:r>
            <a:r>
              <a:rPr kumimoji="0" lang="en-US" altLang="ko" sz="800" b="0" i="0" u="none" strike="noStrike" kern="0" cap="none" spc="0" normalizeH="0" baseline="0" noProof="0" dirty="0">
                <a:ln>
                  <a:noFill/>
                </a:ln>
                <a:solidFill>
                  <a:srgbClr val="7C93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SPC </a:t>
            </a:r>
            <a:r>
              <a:rPr kumimoji="0" lang="ko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7C93A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종합 분석 리포트  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424;p62">
            <a:extLst>
              <a:ext uri="{FF2B5EF4-FFF2-40B4-BE49-F238E27FC236}">
                <a16:creationId xmlns:a16="http://schemas.microsoft.com/office/drawing/2014/main" id="{94912780-23AB-4E9E-A5F0-D21BAF8C5A44}"/>
              </a:ext>
            </a:extLst>
          </p:cNvPr>
          <p:cNvSpPr/>
          <p:nvPr/>
        </p:nvSpPr>
        <p:spPr>
          <a:xfrm>
            <a:off x="480046" y="1063000"/>
            <a:ext cx="858775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mbria"/>
              <a:buNone/>
              <a:tabLst/>
              <a:defRPr/>
            </a:pPr>
            <a:r>
              <a:rPr kumimoji="0" lang="en-US" altLang="ko" sz="39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Backgrinding</a:t>
            </a:r>
            <a:r>
              <a:rPr kumimoji="0" lang="en-US" altLang="ko" sz="3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kumimoji="0" lang="ko" altLang="en-US" sz="3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공정 불량 데이터 분석</a:t>
            </a:r>
            <a:endParaRPr kumimoji="0" sz="3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425;p62">
            <a:extLst>
              <a:ext uri="{FF2B5EF4-FFF2-40B4-BE49-F238E27FC236}">
                <a16:creationId xmlns:a16="http://schemas.microsoft.com/office/drawing/2014/main" id="{F919931A-3D16-4E3F-871D-9DA3D922AB0E}"/>
              </a:ext>
            </a:extLst>
          </p:cNvPr>
          <p:cNvSpPr/>
          <p:nvPr/>
        </p:nvSpPr>
        <p:spPr>
          <a:xfrm>
            <a:off x="493776" y="1748790"/>
            <a:ext cx="61722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2000"/>
              <a:buFont typeface="Cambria"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DE4F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불량</a:t>
            </a:r>
            <a:r>
              <a:rPr kumimoji="0" lang="en-US" altLang="ko" sz="2000" b="1" i="0" u="none" strike="noStrike" kern="0" cap="none" spc="0" normalizeH="0" baseline="0" noProof="0" dirty="0">
                <a:ln>
                  <a:noFill/>
                </a:ln>
                <a:solidFill>
                  <a:srgbClr val="CDE4F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kumimoji="0" lang="ko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DE4F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원인 분석 및 개선 방안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3"/>
          <p:cNvSpPr/>
          <p:nvPr/>
        </p:nvSpPr>
        <p:spPr>
          <a:xfrm>
            <a:off x="514425" y="260350"/>
            <a:ext cx="8160900" cy="1234500"/>
          </a:xfrm>
          <a:prstGeom prst="roundRect">
            <a:avLst>
              <a:gd name="adj" fmla="val 7576"/>
            </a:avLst>
          </a:prstGeom>
          <a:solidFill>
            <a:srgbClr val="CDE4F0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5B9BD5"/>
              </a:highlight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6" name="Google Shape;436;p63"/>
          <p:cNvSpPr/>
          <p:nvPr/>
        </p:nvSpPr>
        <p:spPr>
          <a:xfrm>
            <a:off x="638175" y="377190"/>
            <a:ext cx="41148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A1"/>
              </a:buClr>
              <a:buSzPts val="1000"/>
              <a:buFont typeface="Calibri"/>
              <a:buNone/>
              <a:tabLst/>
              <a:defRPr/>
            </a:pPr>
            <a:r>
              <a:rPr kumimoji="0" lang="en-US" altLang="ko" sz="1000" b="1" i="0" u="none" strike="noStrike" kern="0" cap="none" spc="0" normalizeH="0" baseline="0" noProof="0">
                <a:ln>
                  <a:noFill/>
                </a:ln>
                <a:solidFill>
                  <a:srgbClr val="2E7DA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63"/>
          <p:cNvSpPr/>
          <p:nvPr/>
        </p:nvSpPr>
        <p:spPr>
          <a:xfrm>
            <a:off x="617601" y="630936"/>
            <a:ext cx="5486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  <a:tabLst/>
              <a:defRPr/>
            </a:pPr>
            <a:r>
              <a:rPr kumimoji="0" lang="ko" altLang="en-US" sz="3000" b="1" i="0" u="none" strike="noStrike" kern="0" cap="none" spc="0" normalizeH="0" baseline="0" noProof="0">
                <a:ln>
                  <a:noFill/>
                </a:ln>
                <a:solidFill>
                  <a:srgbClr val="0E2E52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목차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0E2E52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63"/>
          <p:cNvSpPr/>
          <p:nvPr/>
        </p:nvSpPr>
        <p:spPr>
          <a:xfrm>
            <a:off x="638175" y="1220724"/>
            <a:ext cx="6515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6CC"/>
              </a:buClr>
              <a:buSzPts val="1000"/>
              <a:buFont typeface="Calibri"/>
              <a:buNone/>
              <a:tabLst/>
              <a:defRPr/>
            </a:pPr>
            <a:r>
              <a:rPr kumimoji="0" lang="en-US" altLang="ko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SAW </a:t>
            </a:r>
            <a:r>
              <a:rPr kumimoji="0" lang="ko" altLang="en-US" sz="10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공정 불량 데이터 분석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63"/>
          <p:cNvSpPr/>
          <p:nvPr/>
        </p:nvSpPr>
        <p:spPr>
          <a:xfrm>
            <a:off x="514350" y="1591056"/>
            <a:ext cx="8161020" cy="452628"/>
          </a:xfrm>
          <a:prstGeom prst="roundRect">
            <a:avLst>
              <a:gd name="adj" fmla="val 7576"/>
            </a:avLst>
          </a:prstGeom>
          <a:solidFill>
            <a:srgbClr val="185FA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0" name="Google Shape;440;p63"/>
          <p:cNvSpPr/>
          <p:nvPr/>
        </p:nvSpPr>
        <p:spPr>
          <a:xfrm>
            <a:off x="514350" y="1591056"/>
            <a:ext cx="651510" cy="452628"/>
          </a:xfrm>
          <a:prstGeom prst="roundRect">
            <a:avLst>
              <a:gd name="adj" fmla="val 7576"/>
            </a:avLst>
          </a:prstGeom>
          <a:solidFill>
            <a:srgbClr val="2E7DA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1" name="Google Shape;441;p63"/>
          <p:cNvSpPr/>
          <p:nvPr/>
        </p:nvSpPr>
        <p:spPr>
          <a:xfrm>
            <a:off x="4457700" y="1687068"/>
            <a:ext cx="1028700" cy="260604"/>
          </a:xfrm>
          <a:prstGeom prst="roundRect">
            <a:avLst>
              <a:gd name="adj" fmla="val 50000"/>
            </a:avLst>
          </a:prstGeom>
          <a:noFill/>
          <a:ln w="15875" cap="flat" cmpd="sng">
            <a:solidFill>
              <a:srgbClr val="2E7D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2" name="Google Shape;442;p63"/>
          <p:cNvSpPr/>
          <p:nvPr/>
        </p:nvSpPr>
        <p:spPr>
          <a:xfrm>
            <a:off x="4457700" y="1687068"/>
            <a:ext cx="10287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800"/>
              <a:buFont typeface="Calibri"/>
              <a:buNone/>
              <a:tabLst/>
              <a:defRPr/>
            </a:pPr>
            <a:r>
              <a:rPr kumimoji="0" lang="ko" altLang="en-US" sz="800" b="1" i="0" u="none" strike="noStrike" kern="0" cap="none" spc="0" normalizeH="0" baseline="0" noProof="0">
                <a:ln>
                  <a:noFill/>
                </a:ln>
                <a:solidFill>
                  <a:srgbClr val="CDE4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도입 </a:t>
            </a:r>
            <a:r>
              <a:rPr kumimoji="0" lang="en-US" altLang="ko" sz="800" b="1" i="0" u="none" strike="noStrike" kern="0" cap="none" spc="0" normalizeH="0" baseline="0" noProof="0">
                <a:ln>
                  <a:noFill/>
                </a:ln>
                <a:solidFill>
                  <a:srgbClr val="CDE4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kumimoji="0" lang="ko" altLang="en-US" sz="800" b="1" i="0" u="none" strike="noStrike" kern="0" cap="none" spc="0" normalizeH="0" baseline="0" noProof="0">
                <a:ln>
                  <a:noFill/>
                </a:ln>
                <a:solidFill>
                  <a:srgbClr val="CDE4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문제 제기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63"/>
          <p:cNvCxnSpPr/>
          <p:nvPr/>
        </p:nvCxnSpPr>
        <p:spPr>
          <a:xfrm>
            <a:off x="5623560" y="1700784"/>
            <a:ext cx="0" cy="233172"/>
          </a:xfrm>
          <a:prstGeom prst="straightConnector1">
            <a:avLst/>
          </a:prstGeom>
          <a:noFill/>
          <a:ln w="12700" cap="flat" cmpd="sng">
            <a:solidFill>
              <a:srgbClr val="2245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4" name="Google Shape;444;p63"/>
          <p:cNvSpPr/>
          <p:nvPr/>
        </p:nvSpPr>
        <p:spPr>
          <a:xfrm>
            <a:off x="514350" y="2119122"/>
            <a:ext cx="8161020" cy="452628"/>
          </a:xfrm>
          <a:prstGeom prst="roundRect">
            <a:avLst>
              <a:gd name="adj" fmla="val 7576"/>
            </a:avLst>
          </a:prstGeom>
          <a:solidFill>
            <a:srgbClr val="185FA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5" name="Google Shape;445;p63"/>
          <p:cNvSpPr/>
          <p:nvPr/>
        </p:nvSpPr>
        <p:spPr>
          <a:xfrm>
            <a:off x="514350" y="2119122"/>
            <a:ext cx="651510" cy="452628"/>
          </a:xfrm>
          <a:prstGeom prst="roundRect">
            <a:avLst>
              <a:gd name="adj" fmla="val 7576"/>
            </a:avLst>
          </a:prstGeom>
          <a:solidFill>
            <a:srgbClr val="2E7DA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6" name="Google Shape;446;p63"/>
          <p:cNvSpPr/>
          <p:nvPr/>
        </p:nvSpPr>
        <p:spPr>
          <a:xfrm>
            <a:off x="4457700" y="2215134"/>
            <a:ext cx="1028700" cy="260604"/>
          </a:xfrm>
          <a:prstGeom prst="roundRect">
            <a:avLst>
              <a:gd name="adj" fmla="val 50000"/>
            </a:avLst>
          </a:prstGeom>
          <a:noFill/>
          <a:ln w="15875" cap="flat" cmpd="sng">
            <a:solidFill>
              <a:srgbClr val="2E7D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7" name="Google Shape;447;p63"/>
          <p:cNvSpPr/>
          <p:nvPr/>
        </p:nvSpPr>
        <p:spPr>
          <a:xfrm>
            <a:off x="4457700" y="2215134"/>
            <a:ext cx="10287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800"/>
              <a:buFont typeface="Calibri"/>
              <a:buNone/>
              <a:tabLst/>
              <a:defRPr/>
            </a:pPr>
            <a:r>
              <a:rPr kumimoji="0" lang="ko" altLang="en-US" sz="800" b="1" i="0" u="none" strike="noStrike" kern="0" cap="none" spc="0" normalizeH="0" baseline="0" noProof="0">
                <a:ln>
                  <a:noFill/>
                </a:ln>
                <a:solidFill>
                  <a:srgbClr val="CDE4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규명 대상 정의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" name="Google Shape;448;p63"/>
          <p:cNvCxnSpPr/>
          <p:nvPr/>
        </p:nvCxnSpPr>
        <p:spPr>
          <a:xfrm>
            <a:off x="5623560" y="2228850"/>
            <a:ext cx="0" cy="233172"/>
          </a:xfrm>
          <a:prstGeom prst="straightConnector1">
            <a:avLst/>
          </a:prstGeom>
          <a:noFill/>
          <a:ln w="12700" cap="flat" cmpd="sng">
            <a:solidFill>
              <a:srgbClr val="2245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9" name="Google Shape;449;p63"/>
          <p:cNvSpPr/>
          <p:nvPr/>
        </p:nvSpPr>
        <p:spPr>
          <a:xfrm>
            <a:off x="514350" y="2647188"/>
            <a:ext cx="8161020" cy="452628"/>
          </a:xfrm>
          <a:prstGeom prst="roundRect">
            <a:avLst>
              <a:gd name="adj" fmla="val 7576"/>
            </a:avLst>
          </a:prstGeom>
          <a:solidFill>
            <a:srgbClr val="185FA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0" name="Google Shape;450;p63"/>
          <p:cNvSpPr/>
          <p:nvPr/>
        </p:nvSpPr>
        <p:spPr>
          <a:xfrm>
            <a:off x="514350" y="2647188"/>
            <a:ext cx="651510" cy="452628"/>
          </a:xfrm>
          <a:prstGeom prst="roundRect">
            <a:avLst>
              <a:gd name="adj" fmla="val 7576"/>
            </a:avLst>
          </a:prstGeom>
          <a:solidFill>
            <a:srgbClr val="2E7DA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4457700" y="2743200"/>
            <a:ext cx="1028700" cy="260604"/>
          </a:xfrm>
          <a:prstGeom prst="roundRect">
            <a:avLst>
              <a:gd name="adj" fmla="val 50000"/>
            </a:avLst>
          </a:prstGeom>
          <a:noFill/>
          <a:ln w="15875" cap="flat" cmpd="sng">
            <a:solidFill>
              <a:srgbClr val="D149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4457700" y="2743200"/>
            <a:ext cx="10287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800"/>
              <a:buFont typeface="Calibri"/>
              <a:buNone/>
              <a:tabLst/>
              <a:defRPr/>
            </a:pPr>
            <a:r>
              <a:rPr kumimoji="0" lang="ko" altLang="en-US" sz="800" b="1" i="0" u="none" strike="noStrike" kern="0" cap="none" spc="0" normalizeH="0" baseline="0" noProof="0">
                <a:ln>
                  <a:noFill/>
                </a:ln>
                <a:solidFill>
                  <a:srgbClr val="CDE4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원인 규명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63"/>
          <p:cNvCxnSpPr/>
          <p:nvPr/>
        </p:nvCxnSpPr>
        <p:spPr>
          <a:xfrm>
            <a:off x="5623560" y="2756916"/>
            <a:ext cx="0" cy="233172"/>
          </a:xfrm>
          <a:prstGeom prst="straightConnector1">
            <a:avLst/>
          </a:prstGeom>
          <a:noFill/>
          <a:ln w="12700" cap="flat" cmpd="sng">
            <a:solidFill>
              <a:srgbClr val="2245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4" name="Google Shape;454;p63"/>
          <p:cNvSpPr/>
          <p:nvPr/>
        </p:nvSpPr>
        <p:spPr>
          <a:xfrm>
            <a:off x="514350" y="3175254"/>
            <a:ext cx="8161020" cy="452628"/>
          </a:xfrm>
          <a:prstGeom prst="roundRect">
            <a:avLst>
              <a:gd name="adj" fmla="val 7576"/>
            </a:avLst>
          </a:prstGeom>
          <a:solidFill>
            <a:srgbClr val="185FA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5" name="Google Shape;455;p63"/>
          <p:cNvSpPr/>
          <p:nvPr/>
        </p:nvSpPr>
        <p:spPr>
          <a:xfrm>
            <a:off x="514350" y="3175254"/>
            <a:ext cx="651510" cy="452628"/>
          </a:xfrm>
          <a:prstGeom prst="roundRect">
            <a:avLst>
              <a:gd name="adj" fmla="val 7576"/>
            </a:avLst>
          </a:prstGeom>
          <a:solidFill>
            <a:srgbClr val="2E7DA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6" name="Google Shape;456;p63"/>
          <p:cNvSpPr/>
          <p:nvPr/>
        </p:nvSpPr>
        <p:spPr>
          <a:xfrm>
            <a:off x="4457700" y="3271266"/>
            <a:ext cx="1028700" cy="260604"/>
          </a:xfrm>
          <a:prstGeom prst="roundRect">
            <a:avLst>
              <a:gd name="adj" fmla="val 50000"/>
            </a:avLst>
          </a:prstGeom>
          <a:noFill/>
          <a:ln w="15875" cap="flat" cmpd="sng">
            <a:solidFill>
              <a:srgbClr val="3A8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7" name="Google Shape;457;p63"/>
          <p:cNvSpPr/>
          <p:nvPr/>
        </p:nvSpPr>
        <p:spPr>
          <a:xfrm>
            <a:off x="4457700" y="3271266"/>
            <a:ext cx="10287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800"/>
              <a:buFont typeface="Calibri"/>
              <a:buNone/>
              <a:tabLst/>
              <a:defRPr/>
            </a:pPr>
            <a:r>
              <a:rPr kumimoji="0" lang="ko" altLang="en-US" sz="800" b="1" i="0" u="none" strike="noStrike" kern="0" cap="none" spc="0" normalizeH="0" baseline="0" noProof="0">
                <a:ln>
                  <a:noFill/>
                </a:ln>
                <a:solidFill>
                  <a:srgbClr val="CDE4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개선 근거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8" name="Google Shape;458;p63"/>
          <p:cNvCxnSpPr/>
          <p:nvPr/>
        </p:nvCxnSpPr>
        <p:spPr>
          <a:xfrm>
            <a:off x="5623560" y="3284982"/>
            <a:ext cx="0" cy="233172"/>
          </a:xfrm>
          <a:prstGeom prst="straightConnector1">
            <a:avLst/>
          </a:prstGeom>
          <a:noFill/>
          <a:ln w="12700" cap="flat" cmpd="sng">
            <a:solidFill>
              <a:srgbClr val="2245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9" name="Google Shape;459;p63"/>
          <p:cNvSpPr/>
          <p:nvPr/>
        </p:nvSpPr>
        <p:spPr>
          <a:xfrm>
            <a:off x="514350" y="3703320"/>
            <a:ext cx="8161020" cy="452628"/>
          </a:xfrm>
          <a:prstGeom prst="roundRect">
            <a:avLst>
              <a:gd name="adj" fmla="val 7576"/>
            </a:avLst>
          </a:prstGeom>
          <a:solidFill>
            <a:srgbClr val="185FA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0" name="Google Shape;460;p63"/>
          <p:cNvSpPr/>
          <p:nvPr/>
        </p:nvSpPr>
        <p:spPr>
          <a:xfrm>
            <a:off x="514350" y="3703320"/>
            <a:ext cx="651510" cy="452628"/>
          </a:xfrm>
          <a:prstGeom prst="roundRect">
            <a:avLst>
              <a:gd name="adj" fmla="val 7576"/>
            </a:avLst>
          </a:prstGeom>
          <a:solidFill>
            <a:srgbClr val="2E7DA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1" name="Google Shape;461;p63"/>
          <p:cNvSpPr/>
          <p:nvPr/>
        </p:nvSpPr>
        <p:spPr>
          <a:xfrm>
            <a:off x="4457700" y="3799332"/>
            <a:ext cx="1028700" cy="260604"/>
          </a:xfrm>
          <a:prstGeom prst="roundRect">
            <a:avLst>
              <a:gd name="adj" fmla="val 50000"/>
            </a:avLst>
          </a:prstGeom>
          <a:noFill/>
          <a:ln w="15875" cap="flat" cmpd="sng">
            <a:solidFill>
              <a:srgbClr val="E9A2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2" name="Google Shape;462;p63"/>
          <p:cNvSpPr/>
          <p:nvPr/>
        </p:nvSpPr>
        <p:spPr>
          <a:xfrm>
            <a:off x="4457700" y="3799332"/>
            <a:ext cx="10287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A23B"/>
              </a:buClr>
              <a:buSzPts val="800"/>
              <a:buFont typeface="Calibri"/>
              <a:buNone/>
              <a:tabLst/>
              <a:defRPr/>
            </a:pPr>
            <a:r>
              <a:rPr kumimoji="0" lang="ko" altLang="en-US" sz="800" b="1" i="0" u="none" strike="noStrike" kern="0" cap="none" spc="0" normalizeH="0" baseline="0" noProof="0">
                <a:ln>
                  <a:noFill/>
                </a:ln>
                <a:solidFill>
                  <a:srgbClr val="E9A23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가설 종합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63"/>
          <p:cNvCxnSpPr/>
          <p:nvPr/>
        </p:nvCxnSpPr>
        <p:spPr>
          <a:xfrm>
            <a:off x="5623560" y="3813048"/>
            <a:ext cx="0" cy="233172"/>
          </a:xfrm>
          <a:prstGeom prst="straightConnector1">
            <a:avLst/>
          </a:prstGeom>
          <a:noFill/>
          <a:ln w="12700" cap="flat" cmpd="sng">
            <a:solidFill>
              <a:srgbClr val="2245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4" name="Google Shape;464;p63"/>
          <p:cNvSpPr/>
          <p:nvPr/>
        </p:nvSpPr>
        <p:spPr>
          <a:xfrm>
            <a:off x="514350" y="4231386"/>
            <a:ext cx="8161020" cy="452628"/>
          </a:xfrm>
          <a:prstGeom prst="roundRect">
            <a:avLst>
              <a:gd name="adj" fmla="val 7576"/>
            </a:avLst>
          </a:prstGeom>
          <a:solidFill>
            <a:srgbClr val="185FA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5" name="Google Shape;465;p63"/>
          <p:cNvSpPr/>
          <p:nvPr/>
        </p:nvSpPr>
        <p:spPr>
          <a:xfrm>
            <a:off x="514350" y="4231386"/>
            <a:ext cx="651510" cy="452628"/>
          </a:xfrm>
          <a:prstGeom prst="roundRect">
            <a:avLst>
              <a:gd name="adj" fmla="val 7576"/>
            </a:avLst>
          </a:prstGeom>
          <a:solidFill>
            <a:srgbClr val="2E7DA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6" name="Google Shape;466;p63"/>
          <p:cNvSpPr/>
          <p:nvPr/>
        </p:nvSpPr>
        <p:spPr>
          <a:xfrm>
            <a:off x="4457700" y="4327398"/>
            <a:ext cx="1028700" cy="260604"/>
          </a:xfrm>
          <a:prstGeom prst="roundRect">
            <a:avLst>
              <a:gd name="adj" fmla="val 50000"/>
            </a:avLst>
          </a:prstGeom>
          <a:noFill/>
          <a:ln w="15875" cap="flat" cmpd="sng">
            <a:solidFill>
              <a:srgbClr val="2E7DA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7" name="Google Shape;467;p63"/>
          <p:cNvSpPr/>
          <p:nvPr/>
        </p:nvSpPr>
        <p:spPr>
          <a:xfrm>
            <a:off x="4457700" y="4327398"/>
            <a:ext cx="10287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800"/>
              <a:buFont typeface="Calibri"/>
              <a:buNone/>
              <a:tabLst/>
              <a:defRPr/>
            </a:pPr>
            <a:r>
              <a:rPr kumimoji="0" lang="ko" altLang="en-US" sz="800" b="1" i="0" u="none" strike="noStrike" kern="0" cap="none" spc="0" normalizeH="0" baseline="0" noProof="0">
                <a:ln>
                  <a:noFill/>
                </a:ln>
                <a:solidFill>
                  <a:srgbClr val="CDE4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실행안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8" name="Google Shape;468;p63"/>
          <p:cNvCxnSpPr/>
          <p:nvPr/>
        </p:nvCxnSpPr>
        <p:spPr>
          <a:xfrm>
            <a:off x="5623560" y="4341114"/>
            <a:ext cx="0" cy="233172"/>
          </a:xfrm>
          <a:prstGeom prst="straightConnector1">
            <a:avLst/>
          </a:prstGeom>
          <a:noFill/>
          <a:ln w="12700" cap="flat" cmpd="sng">
            <a:solidFill>
              <a:srgbClr val="2245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3"/>
          <p:cNvSpPr/>
          <p:nvPr/>
        </p:nvSpPr>
        <p:spPr>
          <a:xfrm>
            <a:off x="514350" y="1591056"/>
            <a:ext cx="6516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  <a:tabLst/>
              <a:defRPr/>
            </a:pPr>
            <a:r>
              <a:rPr kumimoji="0" lang="en-US" altLang="ko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01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63"/>
          <p:cNvSpPr/>
          <p:nvPr/>
        </p:nvSpPr>
        <p:spPr>
          <a:xfrm>
            <a:off x="514350" y="2119122"/>
            <a:ext cx="6516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  <a:tabLst/>
              <a:defRPr/>
            </a:pPr>
            <a:r>
              <a:rPr kumimoji="0" lang="en-US" altLang="ko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02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63"/>
          <p:cNvSpPr/>
          <p:nvPr/>
        </p:nvSpPr>
        <p:spPr>
          <a:xfrm>
            <a:off x="514350" y="2647188"/>
            <a:ext cx="6516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  <a:tabLst/>
              <a:defRPr/>
            </a:pPr>
            <a:r>
              <a:rPr kumimoji="0" lang="en-US" altLang="ko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03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63"/>
          <p:cNvSpPr/>
          <p:nvPr/>
        </p:nvSpPr>
        <p:spPr>
          <a:xfrm>
            <a:off x="514350" y="3175254"/>
            <a:ext cx="6516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  <a:tabLst/>
              <a:defRPr/>
            </a:pPr>
            <a:r>
              <a:rPr kumimoji="0" lang="en-US" altLang="ko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04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63"/>
          <p:cNvSpPr/>
          <p:nvPr/>
        </p:nvSpPr>
        <p:spPr>
          <a:xfrm>
            <a:off x="514350" y="3703320"/>
            <a:ext cx="6516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800"/>
              <a:buFont typeface="Cambria"/>
              <a:buNone/>
              <a:tabLst/>
              <a:defRPr/>
            </a:pPr>
            <a:r>
              <a:rPr kumimoji="0" lang="en-US" altLang="ko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05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63"/>
          <p:cNvSpPr/>
          <p:nvPr/>
        </p:nvSpPr>
        <p:spPr>
          <a:xfrm>
            <a:off x="514350" y="4231386"/>
            <a:ext cx="6516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  <a:tabLst/>
              <a:defRPr/>
            </a:pPr>
            <a:r>
              <a:rPr kumimoji="0" lang="en-US" altLang="ko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06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3"/>
          <p:cNvSpPr/>
          <p:nvPr/>
        </p:nvSpPr>
        <p:spPr>
          <a:xfrm>
            <a:off x="1337310" y="1591056"/>
            <a:ext cx="31203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  <a:tabLst/>
              <a:defRPr/>
            </a:pPr>
            <a:r>
              <a:rPr kumimoji="0" lang="ko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문제 상황 및 배경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63"/>
          <p:cNvSpPr/>
          <p:nvPr/>
        </p:nvSpPr>
        <p:spPr>
          <a:xfrm>
            <a:off x="5760720" y="1591056"/>
            <a:ext cx="27774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800"/>
              <a:buFont typeface="Calibri"/>
              <a:buNone/>
              <a:tabLst/>
              <a:defRPr/>
            </a:pP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전체 </a:t>
            </a: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Fail 83.6% / SAW OOC 6.8% · </a:t>
            </a: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분석 목표 </a:t>
            </a: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가지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63"/>
          <p:cNvSpPr/>
          <p:nvPr/>
        </p:nvSpPr>
        <p:spPr>
          <a:xfrm>
            <a:off x="1337310" y="2119122"/>
            <a:ext cx="31203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  <a:tabLst/>
              <a:defRPr/>
            </a:pPr>
            <a:r>
              <a:rPr kumimoji="0" lang="en-US" altLang="ko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Sawing SPC Out Of Control </a:t>
            </a:r>
            <a:r>
              <a:rPr kumimoji="0" lang="ko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관리의 목적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3"/>
          <p:cNvSpPr/>
          <p:nvPr/>
        </p:nvSpPr>
        <p:spPr>
          <a:xfrm>
            <a:off x="5760720" y="2119122"/>
            <a:ext cx="27774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800"/>
              <a:buFont typeface="Calibri"/>
              <a:buNone/>
              <a:tabLst/>
              <a:defRPr/>
            </a:pP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최종 </a:t>
            </a: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Fail </a:t>
            </a: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연관성 약함 → 설비 조기경보 지표로 관리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63"/>
          <p:cNvSpPr/>
          <p:nvPr/>
        </p:nvSpPr>
        <p:spPr>
          <a:xfrm>
            <a:off x="1337310" y="2647188"/>
            <a:ext cx="31203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  <a:tabLst/>
              <a:defRPr/>
            </a:pPr>
            <a:r>
              <a:rPr kumimoji="0" lang="ko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데이터 분석 </a:t>
            </a:r>
            <a:r>
              <a:rPr kumimoji="0" lang="en-US" altLang="ko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- OOC</a:t>
            </a:r>
            <a:r>
              <a:rPr kumimoji="0" lang="ko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 원인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63"/>
          <p:cNvSpPr/>
          <p:nvPr/>
        </p:nvSpPr>
        <p:spPr>
          <a:xfrm>
            <a:off x="5760720" y="2647188"/>
            <a:ext cx="27774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800"/>
              <a:buFont typeface="Calibri"/>
              <a:buNone/>
              <a:tabLst/>
              <a:defRPr/>
            </a:pP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Range </a:t>
            </a: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증가 </a:t>
            </a: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· Unknown Rule 82.6% · </a:t>
            </a: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전 변수 무관 </a:t>
            </a: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· AUC≈0.5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63"/>
          <p:cNvSpPr/>
          <p:nvPr/>
        </p:nvSpPr>
        <p:spPr>
          <a:xfrm>
            <a:off x="1337310" y="3175254"/>
            <a:ext cx="31203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  <a:tabLst/>
              <a:defRPr/>
            </a:pPr>
            <a:r>
              <a:rPr kumimoji="0" lang="ko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데이터 분석 </a:t>
            </a:r>
            <a:r>
              <a:rPr kumimoji="0" lang="en-US" altLang="ko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- </a:t>
            </a:r>
            <a:r>
              <a:rPr kumimoji="0" lang="ko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개선 위한 파라미터 분석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3"/>
          <p:cNvSpPr/>
          <p:nvPr/>
        </p:nvSpPr>
        <p:spPr>
          <a:xfrm>
            <a:off x="5760720" y="3175254"/>
            <a:ext cx="27774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800"/>
              <a:buFont typeface="Calibri"/>
              <a:buNone/>
              <a:tabLst/>
              <a:defRPr/>
            </a:pP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Blade↔Speed r=0.863 · Cpk 0.6 → </a:t>
            </a: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산포 관리 부재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63"/>
          <p:cNvSpPr/>
          <p:nvPr/>
        </p:nvSpPr>
        <p:spPr>
          <a:xfrm>
            <a:off x="1337310" y="3703320"/>
            <a:ext cx="31203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  <a:tabLst/>
              <a:defRPr/>
            </a:pPr>
            <a:r>
              <a:rPr kumimoji="0" lang="en-US" altLang="ko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OOC </a:t>
            </a:r>
            <a:r>
              <a:rPr kumimoji="0" lang="ko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잠재 원인 추적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63"/>
          <p:cNvSpPr/>
          <p:nvPr/>
        </p:nvSpPr>
        <p:spPr>
          <a:xfrm>
            <a:off x="5760720" y="3703320"/>
            <a:ext cx="27774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800"/>
              <a:buFont typeface="Calibri"/>
              <a:buNone/>
              <a:tabLst/>
              <a:defRPr/>
            </a:pP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4M1E Fishbone — Spindle Run-out · </a:t>
            </a: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표준화 부재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63"/>
          <p:cNvSpPr/>
          <p:nvPr/>
        </p:nvSpPr>
        <p:spPr>
          <a:xfrm>
            <a:off x="5760720" y="4231386"/>
            <a:ext cx="27774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6DC"/>
              </a:buClr>
              <a:buSzPts val="800"/>
              <a:buFont typeface="Calibri"/>
              <a:buNone/>
              <a:tabLst/>
              <a:defRPr/>
            </a:pP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Blade 90% </a:t>
            </a: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표준화 </a:t>
            </a: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· Run-out PM · </a:t>
            </a:r>
            <a:r>
              <a:rPr kumimoji="0" lang="ko" altLang="en-US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마모구간별 </a:t>
            </a:r>
            <a:r>
              <a:rPr kumimoji="0" lang="en-US" altLang="ko" sz="800" b="0" i="0" u="none" strike="noStrike" kern="0" cap="none" spc="0" normalizeH="0" baseline="0" noProof="0">
                <a:ln>
                  <a:noFill/>
                </a:ln>
                <a:solidFill>
                  <a:srgbClr val="AEC6D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Speed SOP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63"/>
          <p:cNvSpPr/>
          <p:nvPr/>
        </p:nvSpPr>
        <p:spPr>
          <a:xfrm>
            <a:off x="1337310" y="4231386"/>
            <a:ext cx="31203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  <a:tabLst/>
              <a:defRPr/>
            </a:pPr>
            <a:r>
              <a:rPr kumimoji="0" lang="ko" altLang="en-US" sz="13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핵심 개선 권고안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502;p64">
            <a:extLst>
              <a:ext uri="{FF2B5EF4-FFF2-40B4-BE49-F238E27FC236}">
                <a16:creationId xmlns:a16="http://schemas.microsoft.com/office/drawing/2014/main" id="{31B86038-C98F-4D2A-A06A-C810169EDC40}"/>
              </a:ext>
            </a:extLst>
          </p:cNvPr>
          <p:cNvSpPr/>
          <p:nvPr/>
        </p:nvSpPr>
        <p:spPr>
          <a:xfrm>
            <a:off x="2208276" y="2160270"/>
            <a:ext cx="1405890" cy="92583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498;p64">
            <a:extLst>
              <a:ext uri="{FF2B5EF4-FFF2-40B4-BE49-F238E27FC236}">
                <a16:creationId xmlns:a16="http://schemas.microsoft.com/office/drawing/2014/main" id="{86EC5277-0195-473D-8E29-98B0B056B9D2}"/>
              </a:ext>
            </a:extLst>
          </p:cNvPr>
          <p:cNvSpPr/>
          <p:nvPr/>
        </p:nvSpPr>
        <p:spPr>
          <a:xfrm>
            <a:off x="514350" y="2160270"/>
            <a:ext cx="1405890" cy="925830"/>
          </a:xfrm>
          <a:prstGeom prst="roundRect">
            <a:avLst>
              <a:gd name="adj" fmla="val 5926"/>
            </a:avLst>
          </a:prstGeom>
          <a:solidFill>
            <a:srgbClr val="D1495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64"/>
          <p:cNvSpPr/>
          <p:nvPr/>
        </p:nvSpPr>
        <p:spPr>
          <a:xfrm>
            <a:off x="411480" y="1110996"/>
            <a:ext cx="8298180" cy="58293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64"/>
          <p:cNvSpPr/>
          <p:nvPr/>
        </p:nvSpPr>
        <p:spPr>
          <a:xfrm>
            <a:off x="617220" y="1110996"/>
            <a:ext cx="788670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A3540"/>
              </a:buClr>
              <a:buSzPts val="1100"/>
              <a:buFont typeface="Calibri"/>
              <a:buNone/>
            </a:pPr>
            <a:r>
              <a:rPr lang="ko" sz="1100" b="1" dirty="0">
                <a:solidFill>
                  <a:srgbClr val="D94D65"/>
                </a:solidFill>
                <a:latin typeface="Calibri"/>
                <a:ea typeface="Calibri"/>
                <a:cs typeface="Calibri"/>
                <a:sym typeface="Calibri"/>
              </a:rPr>
              <a:t>문제 상황</a:t>
            </a:r>
            <a:r>
              <a:rPr lang="ko" sz="1100" b="1" dirty="0">
                <a:solidFill>
                  <a:srgbClr val="2A354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ko" sz="1100" dirty="0">
                <a:solidFill>
                  <a:srgbClr val="2A3540"/>
                </a:solidFill>
                <a:latin typeface="Calibri"/>
                <a:ea typeface="Calibri"/>
                <a:cs typeface="Calibri"/>
                <a:sym typeface="Calibri"/>
              </a:rPr>
              <a:t>최종 불합격률은 83.6%로 높게 발생. </a:t>
            </a:r>
            <a:r>
              <a:rPr lang="en-US" altLang="ko" sz="1100" dirty="0" err="1">
                <a:solidFill>
                  <a:srgbClr val="2A3540"/>
                </a:solidFill>
                <a:latin typeface="Calibri"/>
                <a:ea typeface="Calibri"/>
                <a:cs typeface="Calibri"/>
                <a:sym typeface="Calibri"/>
              </a:rPr>
              <a:t>Backgrinding</a:t>
            </a:r>
            <a:r>
              <a:rPr lang="ko" sz="1100" dirty="0">
                <a:solidFill>
                  <a:srgbClr val="2A3540"/>
                </a:solidFill>
                <a:latin typeface="Calibri"/>
                <a:ea typeface="Calibri"/>
                <a:cs typeface="Calibri"/>
                <a:sym typeface="Calibri"/>
              </a:rPr>
              <a:t> 공정에서의 </a:t>
            </a:r>
            <a:r>
              <a:rPr lang="ko-KR" altLang="en-US" sz="1100" dirty="0">
                <a:solidFill>
                  <a:srgbClr val="2A3540"/>
                </a:solidFill>
                <a:latin typeface="Calibri"/>
                <a:ea typeface="Calibri"/>
                <a:cs typeface="Calibri"/>
                <a:sym typeface="Calibri"/>
              </a:rPr>
              <a:t>불량률</a:t>
            </a:r>
            <a:r>
              <a:rPr lang="ko" sz="1100" dirty="0">
                <a:solidFill>
                  <a:srgbClr val="2A3540"/>
                </a:solidFill>
                <a:latin typeface="Calibri"/>
                <a:ea typeface="Calibri"/>
                <a:cs typeface="Calibri"/>
                <a:sym typeface="Calibri"/>
              </a:rPr>
              <a:t>은 </a:t>
            </a:r>
            <a:r>
              <a:rPr lang="en-US" altLang="ko" sz="1100" dirty="0">
                <a:solidFill>
                  <a:srgbClr val="2A354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ko" sz="1100" dirty="0">
                <a:solidFill>
                  <a:srgbClr val="2A35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altLang="ko" sz="1100" dirty="0">
                <a:solidFill>
                  <a:srgbClr val="2A3540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r>
              <a:rPr lang="ko" sz="1100" dirty="0">
                <a:solidFill>
                  <a:srgbClr val="2A3540"/>
                </a:solidFill>
                <a:latin typeface="Calibri"/>
                <a:ea typeface="Calibri"/>
                <a:cs typeface="Calibri"/>
                <a:sym typeface="Calibri"/>
              </a:rPr>
              <a:t>% 수준으로 확인.</a:t>
            </a:r>
            <a:endParaRPr sz="1100" dirty="0">
              <a:solidFill>
                <a:srgbClr val="2A3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64"/>
          <p:cNvSpPr/>
          <p:nvPr/>
        </p:nvSpPr>
        <p:spPr>
          <a:xfrm rot="5400000">
            <a:off x="1961388" y="2520315"/>
            <a:ext cx="205740" cy="205740"/>
          </a:xfrm>
          <a:prstGeom prst="triangle">
            <a:avLst>
              <a:gd name="adj" fmla="val 50000"/>
            </a:avLst>
          </a:prstGeom>
          <a:solidFill>
            <a:srgbClr val="2E7DA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64"/>
          <p:cNvSpPr/>
          <p:nvPr/>
        </p:nvSpPr>
        <p:spPr>
          <a:xfrm>
            <a:off x="2208276" y="2283714"/>
            <a:ext cx="140589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ko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SAW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64"/>
          <p:cNvSpPr/>
          <p:nvPr/>
        </p:nvSpPr>
        <p:spPr>
          <a:xfrm>
            <a:off x="2208276" y="2695194"/>
            <a:ext cx="14058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900"/>
              <a:buFont typeface="Calibri"/>
              <a:buNone/>
            </a:pPr>
            <a:r>
              <a:rPr lang="ko" sz="900" b="0" i="0" u="none" strike="noStrike" cap="none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Sawing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64"/>
          <p:cNvSpPr/>
          <p:nvPr/>
        </p:nvSpPr>
        <p:spPr>
          <a:xfrm rot="5400000">
            <a:off x="3655314" y="2520315"/>
            <a:ext cx="205740" cy="205740"/>
          </a:xfrm>
          <a:prstGeom prst="triangle">
            <a:avLst>
              <a:gd name="adj" fmla="val 50000"/>
            </a:avLst>
          </a:prstGeom>
          <a:solidFill>
            <a:srgbClr val="2E7DA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64"/>
          <p:cNvSpPr/>
          <p:nvPr/>
        </p:nvSpPr>
        <p:spPr>
          <a:xfrm>
            <a:off x="3902202" y="2160270"/>
            <a:ext cx="1405890" cy="92583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64"/>
          <p:cNvSpPr/>
          <p:nvPr/>
        </p:nvSpPr>
        <p:spPr>
          <a:xfrm>
            <a:off x="3902202" y="2283714"/>
            <a:ext cx="140589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ko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64"/>
          <p:cNvSpPr/>
          <p:nvPr/>
        </p:nvSpPr>
        <p:spPr>
          <a:xfrm>
            <a:off x="3902202" y="2695194"/>
            <a:ext cx="14058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900"/>
              <a:buFont typeface="Calibri"/>
              <a:buNone/>
            </a:pPr>
            <a:r>
              <a:rPr lang="ko" sz="900" b="0" i="0" u="none" strike="noStrike" cap="none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Die Attach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64"/>
          <p:cNvSpPr/>
          <p:nvPr/>
        </p:nvSpPr>
        <p:spPr>
          <a:xfrm rot="5400000">
            <a:off x="5349240" y="2520315"/>
            <a:ext cx="205740" cy="205740"/>
          </a:xfrm>
          <a:prstGeom prst="triangle">
            <a:avLst>
              <a:gd name="adj" fmla="val 50000"/>
            </a:avLst>
          </a:prstGeom>
          <a:solidFill>
            <a:srgbClr val="2E7DA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64"/>
          <p:cNvSpPr/>
          <p:nvPr/>
        </p:nvSpPr>
        <p:spPr>
          <a:xfrm>
            <a:off x="5596128" y="2160270"/>
            <a:ext cx="1405890" cy="92583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64"/>
          <p:cNvSpPr/>
          <p:nvPr/>
        </p:nvSpPr>
        <p:spPr>
          <a:xfrm>
            <a:off x="5596128" y="2283714"/>
            <a:ext cx="140589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ko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MOLD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64"/>
          <p:cNvSpPr/>
          <p:nvPr/>
        </p:nvSpPr>
        <p:spPr>
          <a:xfrm>
            <a:off x="5596128" y="2695194"/>
            <a:ext cx="14058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900"/>
              <a:buFont typeface="Calibri"/>
              <a:buNone/>
            </a:pPr>
            <a:r>
              <a:rPr lang="ko" sz="900" b="0" i="0" u="none" strike="noStrike" cap="none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Molding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64"/>
          <p:cNvSpPr/>
          <p:nvPr/>
        </p:nvSpPr>
        <p:spPr>
          <a:xfrm rot="5400000">
            <a:off x="7043166" y="2520315"/>
            <a:ext cx="205740" cy="205740"/>
          </a:xfrm>
          <a:prstGeom prst="triangle">
            <a:avLst>
              <a:gd name="adj" fmla="val 50000"/>
            </a:avLst>
          </a:prstGeom>
          <a:solidFill>
            <a:srgbClr val="2E7DA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64"/>
          <p:cNvSpPr/>
          <p:nvPr/>
        </p:nvSpPr>
        <p:spPr>
          <a:xfrm>
            <a:off x="7290054" y="2160270"/>
            <a:ext cx="1405890" cy="92583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64"/>
          <p:cNvSpPr/>
          <p:nvPr/>
        </p:nvSpPr>
        <p:spPr>
          <a:xfrm>
            <a:off x="7290054" y="2283714"/>
            <a:ext cx="140589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ko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64"/>
          <p:cNvSpPr/>
          <p:nvPr/>
        </p:nvSpPr>
        <p:spPr>
          <a:xfrm>
            <a:off x="7290054" y="2695194"/>
            <a:ext cx="14058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900"/>
              <a:buFont typeface="Calibri"/>
              <a:buNone/>
            </a:pPr>
            <a:r>
              <a:rPr lang="ko" sz="900" b="0" i="0" u="none" strike="noStrike" cap="none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Final Test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64"/>
          <p:cNvSpPr/>
          <p:nvPr/>
        </p:nvSpPr>
        <p:spPr>
          <a:xfrm flipH="1">
            <a:off x="289800" y="3374150"/>
            <a:ext cx="3566100" cy="1316700"/>
          </a:xfrm>
          <a:prstGeom prst="wedgeRoundRectCallout">
            <a:avLst>
              <a:gd name="adj1" fmla="val 24591"/>
              <a:gd name="adj2" fmla="val -67310"/>
              <a:gd name="adj3" fmla="val 0"/>
            </a:avLst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" sz="1200" b="1" dirty="0" err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Backgrinding</a:t>
            </a:r>
            <a:r>
              <a:rPr lang="ko" sz="12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공정</a:t>
            </a:r>
            <a:r>
              <a:rPr lang="en-US" altLang="ko" sz="12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ko-KR" altLang="en-US" sz="12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불량률</a:t>
            </a:r>
            <a:endParaRPr sz="4700" b="1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" sz="47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r>
              <a:rPr lang="ko" sz="47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lang="en-US" altLang="ko" sz="47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57</a:t>
            </a:r>
            <a:r>
              <a:rPr lang="ko" sz="4700" b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%</a:t>
            </a:r>
            <a:endParaRPr sz="47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64"/>
          <p:cNvSpPr/>
          <p:nvPr/>
        </p:nvSpPr>
        <p:spPr>
          <a:xfrm>
            <a:off x="5314825" y="3374150"/>
            <a:ext cx="3497700" cy="1316700"/>
          </a:xfrm>
          <a:prstGeom prst="wedgeRoundRectCallout">
            <a:avLst>
              <a:gd name="adj1" fmla="val 27479"/>
              <a:gd name="adj2" fmla="val -67310"/>
              <a:gd name="adj3" fmla="val 0"/>
            </a:avLst>
          </a:prstGeom>
          <a:solidFill>
            <a:srgbClr val="351C7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최종 Test 불합격률</a:t>
            </a:r>
            <a:endParaRPr sz="4700" b="1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7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83.66%</a:t>
            </a:r>
            <a:endParaRPr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64"/>
          <p:cNvSpPr/>
          <p:nvPr/>
        </p:nvSpPr>
        <p:spPr>
          <a:xfrm>
            <a:off x="315422" y="4752595"/>
            <a:ext cx="3497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00"/>
              <a:buFont typeface="Calibri"/>
              <a:buNone/>
            </a:pPr>
            <a:r>
              <a:rPr lang="ko" sz="9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1,365건 / 20,000건 — SAW 공정에서 관리이탈(OOC)로 판정된 비율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4"/>
          <p:cNvSpPr/>
          <p:nvPr/>
        </p:nvSpPr>
        <p:spPr>
          <a:xfrm>
            <a:off x="411480" y="493776"/>
            <a:ext cx="78180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 b="1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문제 상황 및 배경</a:t>
            </a:r>
            <a:endParaRPr sz="2000" b="1">
              <a:solidFill>
                <a:srgbClr val="0B254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9" name="Google Shape;519;p64"/>
          <p:cNvSpPr/>
          <p:nvPr/>
        </p:nvSpPr>
        <p:spPr>
          <a:xfrm>
            <a:off x="411480" y="288036"/>
            <a:ext cx="6515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A1"/>
              </a:buClr>
              <a:buSzPts val="900"/>
              <a:buFont typeface="Calibri"/>
              <a:buNone/>
            </a:pPr>
            <a:r>
              <a:rPr lang="ko" sz="900" b="1" i="0" u="none" strike="noStrike" cap="none">
                <a:solidFill>
                  <a:srgbClr val="2E7DA1"/>
                </a:solidFill>
                <a:latin typeface="Calibri"/>
                <a:ea typeface="Calibri"/>
                <a:cs typeface="Calibri"/>
                <a:sym typeface="Calibri"/>
              </a:rPr>
              <a:t>CH.1  INTRODUCTION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4"/>
          <p:cNvSpPr/>
          <p:nvPr/>
        </p:nvSpPr>
        <p:spPr>
          <a:xfrm>
            <a:off x="514350" y="2283714"/>
            <a:ext cx="140589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ko" sz="18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64"/>
          <p:cNvSpPr/>
          <p:nvPr/>
        </p:nvSpPr>
        <p:spPr>
          <a:xfrm>
            <a:off x="514350" y="2695194"/>
            <a:ext cx="140589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DE4F0"/>
              </a:buClr>
              <a:buSzPts val="900"/>
              <a:buFont typeface="Calibri"/>
              <a:buNone/>
            </a:pPr>
            <a:r>
              <a:rPr lang="ko" sz="900" b="0" i="0" u="none" strike="noStrike" cap="none" dirty="0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Backgrind</a:t>
            </a:r>
            <a:r>
              <a:rPr lang="en-US" altLang="ko" sz="900" b="0" i="0" u="none" strike="noStrike" cap="none" dirty="0" err="1">
                <a:solidFill>
                  <a:srgbClr val="CDE4F0"/>
                </a:solidFill>
                <a:latin typeface="Calibri"/>
                <a:ea typeface="Calibri"/>
                <a:cs typeface="Calibri"/>
                <a:sym typeface="Calibri"/>
              </a:rPr>
              <a:t>ing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82CE748-455A-4361-9AB7-29AE64383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21" y="1255194"/>
            <a:ext cx="3519903" cy="2811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43795D3-079E-4DC6-8D9E-353D48336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198" y="1254033"/>
            <a:ext cx="3808302" cy="2812761"/>
          </a:xfrm>
          <a:prstGeom prst="rect">
            <a:avLst/>
          </a:prstGeom>
        </p:spPr>
      </p:pic>
      <p:sp>
        <p:nvSpPr>
          <p:cNvPr id="5" name="Google Shape;558;p66">
            <a:extLst>
              <a:ext uri="{FF2B5EF4-FFF2-40B4-BE49-F238E27FC236}">
                <a16:creationId xmlns:a16="http://schemas.microsoft.com/office/drawing/2014/main" id="{A562F821-B8C2-4B0A-A25D-24B21BA73F5A}"/>
              </a:ext>
            </a:extLst>
          </p:cNvPr>
          <p:cNvSpPr/>
          <p:nvPr/>
        </p:nvSpPr>
        <p:spPr>
          <a:xfrm>
            <a:off x="411480" y="493776"/>
            <a:ext cx="781812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000"/>
              <a:buFont typeface="Cambria"/>
              <a:buNone/>
            </a:pPr>
            <a:r>
              <a:rPr lang="en-US" altLang="ko" sz="2000" b="1" dirty="0" err="1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Backgrinding</a:t>
            </a:r>
            <a:r>
              <a:rPr lang="en-US" altLang="ko" sz="2000" b="1" dirty="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ko-KR" altLang="en-US" sz="2000" b="1" dirty="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공정</a:t>
            </a:r>
            <a:r>
              <a:rPr lang="ko" sz="2000" b="1" dirty="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 관리의 목적</a:t>
            </a:r>
            <a:endParaRPr sz="2000" b="1" dirty="0">
              <a:solidFill>
                <a:srgbClr val="0B254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570;p66">
            <a:extLst>
              <a:ext uri="{FF2B5EF4-FFF2-40B4-BE49-F238E27FC236}">
                <a16:creationId xmlns:a16="http://schemas.microsoft.com/office/drawing/2014/main" id="{B8539BC3-C06F-4FA2-90FD-E226E1CCAA4A}"/>
              </a:ext>
            </a:extLst>
          </p:cNvPr>
          <p:cNvSpPr/>
          <p:nvPr/>
        </p:nvSpPr>
        <p:spPr>
          <a:xfrm>
            <a:off x="411480" y="288036"/>
            <a:ext cx="6515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A1"/>
              </a:buClr>
              <a:buSzPts val="900"/>
              <a:buFont typeface="Calibri"/>
              <a:buNone/>
            </a:pPr>
            <a:r>
              <a:rPr lang="ko" sz="900" b="1" i="0" u="none" strike="noStrike" cap="none">
                <a:solidFill>
                  <a:srgbClr val="2E7DA1"/>
                </a:solidFill>
                <a:latin typeface="Calibri"/>
                <a:ea typeface="Calibri"/>
                <a:cs typeface="Calibri"/>
                <a:sym typeface="Calibri"/>
              </a:rPr>
              <a:t>CH.</a:t>
            </a:r>
            <a:r>
              <a:rPr lang="ko" sz="900" b="1">
                <a:solidFill>
                  <a:srgbClr val="2E7DA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" sz="900" b="1" i="0" u="none" strike="noStrike" cap="none">
                <a:solidFill>
                  <a:srgbClr val="2E7DA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ko" sz="900" b="1">
                <a:solidFill>
                  <a:srgbClr val="2E7DA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60;p66">
            <a:extLst>
              <a:ext uri="{FF2B5EF4-FFF2-40B4-BE49-F238E27FC236}">
                <a16:creationId xmlns:a16="http://schemas.microsoft.com/office/drawing/2014/main" id="{B8E6164F-7024-4D5C-9FD7-46221923F680}"/>
              </a:ext>
            </a:extLst>
          </p:cNvPr>
          <p:cNvSpPr/>
          <p:nvPr/>
        </p:nvSpPr>
        <p:spPr>
          <a:xfrm>
            <a:off x="617220" y="4066794"/>
            <a:ext cx="788670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100"/>
              <a:buFont typeface="Calibri"/>
              <a:buNone/>
            </a:pPr>
            <a:r>
              <a:rPr lang="ko-KR" altLang="en-US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현재 </a:t>
            </a:r>
            <a:r>
              <a:rPr lang="en-US" altLang="ko-KR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BG </a:t>
            </a:r>
            <a:r>
              <a:rPr lang="ko-KR" altLang="en-US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공정에서 불량 원인은 다음과 같고 특히 </a:t>
            </a:r>
            <a:r>
              <a:rPr lang="en-US" altLang="ko-KR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TTV</a:t>
            </a:r>
            <a:r>
              <a:rPr lang="ko-KR" altLang="en-US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의 경우 </a:t>
            </a:r>
            <a:r>
              <a:rPr lang="en-US" altLang="ko-KR" sz="1100" b="1" dirty="0" err="1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Cpk</a:t>
            </a:r>
            <a:r>
              <a:rPr lang="ko-KR" altLang="en-US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가 </a:t>
            </a:r>
            <a:r>
              <a:rPr lang="en-US" altLang="ko-KR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0.15</a:t>
            </a:r>
            <a:r>
              <a:rPr lang="ko-KR" altLang="en-US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로 매우 낮은 상황이다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1614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6"/>
          <p:cNvSpPr/>
          <p:nvPr/>
        </p:nvSpPr>
        <p:spPr>
          <a:xfrm>
            <a:off x="411480" y="493776"/>
            <a:ext cx="781812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000"/>
              <a:buFont typeface="Cambria"/>
              <a:buNone/>
            </a:pPr>
            <a:r>
              <a:rPr lang="en-US" altLang="ko" sz="2000" b="1" dirty="0" err="1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Backgrinding</a:t>
            </a:r>
            <a:r>
              <a:rPr lang="en-US" altLang="ko" sz="2000" b="1" dirty="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ko-KR" altLang="en-US" sz="2000" b="1" dirty="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공정</a:t>
            </a:r>
            <a:r>
              <a:rPr lang="ko" sz="2000" b="1" dirty="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 관리의 목적</a:t>
            </a:r>
            <a:endParaRPr sz="2000" b="1" dirty="0">
              <a:solidFill>
                <a:srgbClr val="0B254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0" name="Google Shape;570;p66"/>
          <p:cNvSpPr/>
          <p:nvPr/>
        </p:nvSpPr>
        <p:spPr>
          <a:xfrm>
            <a:off x="411480" y="288036"/>
            <a:ext cx="6515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A1"/>
              </a:buClr>
              <a:buSzPts val="900"/>
              <a:buFont typeface="Calibri"/>
              <a:buNone/>
            </a:pPr>
            <a:r>
              <a:rPr lang="ko" sz="900" b="1" i="0" u="none" strike="noStrike" cap="none">
                <a:solidFill>
                  <a:srgbClr val="2E7DA1"/>
                </a:solidFill>
                <a:latin typeface="Calibri"/>
                <a:ea typeface="Calibri"/>
                <a:cs typeface="Calibri"/>
                <a:sym typeface="Calibri"/>
              </a:rPr>
              <a:t>CH.</a:t>
            </a:r>
            <a:r>
              <a:rPr lang="ko" sz="900" b="1">
                <a:solidFill>
                  <a:srgbClr val="2E7DA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" sz="900" b="1" i="0" u="none" strike="noStrike" cap="none">
                <a:solidFill>
                  <a:srgbClr val="2E7DA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ko" sz="900" b="1">
                <a:solidFill>
                  <a:srgbClr val="2E7DA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2CC07D4-3309-4BA9-A429-25DFD349EFAA}"/>
              </a:ext>
            </a:extLst>
          </p:cNvPr>
          <p:cNvGrpSpPr/>
          <p:nvPr/>
        </p:nvGrpSpPr>
        <p:grpSpPr>
          <a:xfrm>
            <a:off x="870855" y="1213866"/>
            <a:ext cx="7402291" cy="1954800"/>
            <a:chOff x="704851" y="1213866"/>
            <a:chExt cx="7402291" cy="195480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19E0E3E-2C43-43CC-A8E9-0907C1618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851" y="1213866"/>
              <a:ext cx="4947931" cy="195480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0FD19D9-21B5-4A63-A4EB-8C050B4EE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52782" y="1213866"/>
              <a:ext cx="2454360" cy="1954800"/>
            </a:xfrm>
            <a:prstGeom prst="rect">
              <a:avLst/>
            </a:prstGeom>
          </p:spPr>
        </p:pic>
      </p:grpSp>
      <p:sp>
        <p:nvSpPr>
          <p:cNvPr id="29" name="Google Shape;560;p66">
            <a:extLst>
              <a:ext uri="{FF2B5EF4-FFF2-40B4-BE49-F238E27FC236}">
                <a16:creationId xmlns:a16="http://schemas.microsoft.com/office/drawing/2014/main" id="{8475F351-A0EE-4580-93C2-51FC92236270}"/>
              </a:ext>
            </a:extLst>
          </p:cNvPr>
          <p:cNvSpPr/>
          <p:nvPr/>
        </p:nvSpPr>
        <p:spPr>
          <a:xfrm>
            <a:off x="617220" y="3255010"/>
            <a:ext cx="788670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495B"/>
              </a:buClr>
              <a:buSzPts val="1100"/>
              <a:buFont typeface="Calibri"/>
              <a:buNone/>
            </a:pPr>
            <a:r>
              <a:rPr lang="en-US" altLang="ko" sz="1100" b="1" i="0" u="none" strike="noStrike" cap="none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BG </a:t>
            </a:r>
            <a:r>
              <a:rPr lang="ko-KR" altLang="en-US" sz="1100" b="1" i="0" u="none" strike="noStrike" cap="none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공정 이후 분포를 살펴봤을 때 </a:t>
            </a:r>
            <a:r>
              <a:rPr lang="en-US" altLang="ko-KR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Scratch</a:t>
            </a:r>
            <a:r>
              <a:rPr lang="ko-KR" altLang="en-US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는 감소하지만 </a:t>
            </a:r>
            <a:r>
              <a:rPr lang="en-US" altLang="ko-KR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Crack</a:t>
            </a:r>
            <a:r>
              <a:rPr lang="ko-KR" altLang="en-US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은 증가하고 </a:t>
            </a:r>
            <a:r>
              <a:rPr lang="en-US" altLang="ko-KR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TTV</a:t>
            </a:r>
            <a:r>
              <a:rPr lang="ko-KR" altLang="en-US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는 규격 초과한 웨이퍼가 있는 것을 볼 수 있다</a:t>
            </a:r>
            <a:r>
              <a:rPr lang="en-US" altLang="ko-KR" sz="1100" b="1" dirty="0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D88D30F-9AE9-45D0-9867-F1F2BE68D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983" y="802153"/>
            <a:ext cx="3474217" cy="257722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8854202-78CA-47F7-B463-D2848C41C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78" y="565150"/>
            <a:ext cx="3889368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9218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1BAF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460</Words>
  <Application>Microsoft Office PowerPoint</Application>
  <PresentationFormat>화면 슬라이드 쇼(16:9)</PresentationFormat>
  <Paragraphs>76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Simple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Grinding 공정 불량 분석</dc:title>
  <cp:lastModifiedBy>정회찬</cp:lastModifiedBy>
  <cp:revision>14</cp:revision>
  <dcterms:modified xsi:type="dcterms:W3CDTF">2026-08-19T14:19:48Z</dcterms:modified>
</cp:coreProperties>
</file>