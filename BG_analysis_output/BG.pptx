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  <p:sldMasterId id="2147483674" r:id="rId3"/>
    <p:sldMasterId id="2147483675" r:id="rId4"/>
  </p:sldMasterIdLst>
  <p:notesMasterIdLst>
    <p:notesMasterId r:id="rId31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14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073BFF-6206-4ADD-8F78-D1DC4713D43E}">
  <a:tblStyle styleId="{0B073BFF-6206-4ADD-8F78-D1DC4713D4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80D04-48D9-45AF-B97A-FEFABB05570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>
        <p:guide orient="horz" pos="181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b408692a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ab408692a_3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SAW(다이싱) 공정의 SPC Out-of-Control 현상을 분석해 물리적 원인을 추적하고 공정 능력(Cpk) 개선안을 도출한 발표입니다.</a:t>
            </a:r>
            <a:endParaRPr/>
          </a:p>
        </p:txBody>
      </p:sp>
      <p:sp>
        <p:nvSpPr>
          <p:cNvPr id="153" name="Google Shape;153;g3fab408692a_3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76d9b0e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676d9b0e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목차는 다음과 같습니다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8b78f04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8b78f04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이번 발표는 A 라인에서 발생한 BG 공정 불량을 다룹니다. 먼저 무엇이 발생했는지 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Before 와 After Data를 확인했을 때, 크랙 평균이 2.02에서 2.29로 늘었고, 반대로 스크래치는 2.93에서 1.24로 줄어든 것을 확인 할 수 있었습니다.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결과 BG_Crack_Scratch 불량이 1,115건, TTV NG가 4,964건 발생했습니다.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공정에서 유의미하게 지켜볼 수 있는 데이터는 다음과 같은데, 이는 이후에 상세히 살펴보도록 하겠습니다.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 상황이 중요한 이유는, 불량이 그대로 유출될 경우 최종 수율 하락과 납기 지연, 손실 비용 증가로 이어지기 때문입니다.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8b78f04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98b78f04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전체 불량 현황을 요약해 보겠습니다.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BG, Sawing, Die Attach, Molding, Cleaning 공정을 모두 거친 웨이퍼 2만 장 가운데, 최종 검사에서 Fail이 난 건 83%였습니다.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 Fail들을 Primary Failure 기준으로 쪼개 보면, 오른쪽 파레토도를 확인할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그중 BG_Crack_Scratch는 1,115건, 전체의 6%입니다. 단, 이 6%는 BG 단독으로 집계된 수치이고, 실제로는 BG 결함이 뒷공정 불량으로 번지는 경우까지 고려하면 영향은 더 클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이 연관성까지 함께 분석했고, 백그라인딩에서 어떠한 점을 개선할 수 있을지 살펴보겠습니다.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앞으로 지켜볼 데이터는, 백그라인딩의 불량이 Final 테스트에 영향을 미칠수도 있다는 것을 염두에 두고 데이터를 바라보고 백그라인딩에서 어떤 점을 개선할 수 있을지 살펴보겠습니다.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8b78f044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98b78f044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저희가 수집한 불량 데이터를 확인해보겠습니다.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우선 왼쪽 그래프를 확인하면, 백그라인딩 공정 이후 스크래치는 57.7% 줄어든 반면 크랙은 오히려 13.5% 늘었습니다. 즉 개선 포인트가 스크래치보다 크랙 쪽에 있다는 신호입니다.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오른쪽 표를 확인해보겠습니다. 백그라인딩 Fail 웨이퍼들 중, Crack이 3보다 큰 경우가 79%로 높은 비율을 차지하고 있음을 확인할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정리하면, BG 공정 이후 크랙이 증가하는 경향이 확인됐고, BG 단독 불량의 약 80%가 크랙 3 초과에서 나왔다는 겁니다. 그래서 크랙을 이 불량의 핵심 인자로 판단했습니다.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3eda6c738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3f3eda6c738_2_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2. 데이터 수집 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Sawing 공정과 OOC 현황 및 수율 영향도 분석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핵심요약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발생과 최종 Fail 연관성이 매우 약하다.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아래에는 그래프 및 표로 표시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와 Final Test Pass/Fail 연관성은 전혀 없지만, 설비의 상태를 알리는 조기 경보 지표로서 관리해야 한다.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이와 관련해서는 다음 슬라이드부터 설명하겠습니다 ~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327" name="Google Shape;327;g3f3eda6c738_2_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3eda6c73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f3eda6c73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68d7ead14_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68d7ead14_4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표는 전체 20,000 웨이퍼 데이터 기준 크랙과 스크래치가 각각 3 초과인 경우의 웨이퍼들을 조사한 데이터입니다. 보시다시피 크랙이 3이상이거나, 스크래치가 3이상인 경우, 전부 Final Test 결과 Fail인 것을 확인할 수 있었습니다.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표에서는, 반대로 스크래치와 크랙이 3 이하인 경우, 백그라인딩 단독 불량 케이스가 전혀 없는 것을 확인할 수 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따라서, 수율관리를 위해 크랙·스크래치의 스크리닝 임계값을 3으로 설정할 필요가 있다는 결론을 내렸습니다.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b189dc26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6b189dc26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다음은, 추가적인 백그라인딩 불량 요소인 TTV 데이터 현황을 살펴보겠습니다.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2만 장 기준으로 TTV가 NG인 비율이 24.8%입니다.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또한 TTV NG, 즉 3마이크로미터를 초과한 웨이퍼 4,964장을 보면 무려 99.8%가 Final Test Fail로 이어졌습니다.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막대그래프를 확인하면 Pass 웨이퍼는 평균 TTV가 1.53인 반면, Fail 웨이퍼는 TTV가 2.47로 확인됐습니다.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TTV 편차 자체를 줄이는 동시에, 스크리닝 기준을 2μm 이하로 설정해 관리한다면 수율을 크게 끌어올릴 수 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676d9b0e5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676d9b0e5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 산점도와 피어슨 상관계수를 살펴봤을 때 공정 이후 crack과 TTV간에 0.69로 강한 양의 상관관계를 보이며 실제로 TTV가 클 때 crack의 수가 증가하는 것을 산점도에서 볼 수 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이건 크랙이 TTV를 일으킨다는 인과관계가 아니라, 두 지표가 척 평탄도, 휠 마모, 테이프 상태 같은 동일한 근본 원인을 공유하기 때문에 함께 나빠지는 걸로 해석해야 합니다.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6b35659d9_14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6b35659d9_14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저희는 앞선 데이터들을 종합해서, 크랙과 TTV를 줄이고 관리하는 방향으로 공정을 개선해야 한다는 결론을 내렸습니다.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그럼 Rough와 Fine 중 어디부터 손대야 하느냐. 저희는 Rough Grinding을 우선순위로 봤습니다.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먼저, 스크래치는 백그라인딩 이후 평균이 2.93에서 1.24로 이미 개선된 것을 확인했습니다. 저희는 이걸 Fine Grinding 쪽 상태가 상대적으로 안정적이라는 신호로 봤습니다.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Fine의 개선 우선순위는 뒤로 두고, 크랙 저감을 위해 Rough Grinding 단계를 개선하기로 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Rough Grinding 중에 웨이퍼 표면에 잔류응력과 속상처를 남기고, 이 잔류응력이 크랙의 기점이 되는 동시에, 웨이퍼를 국부적으로 휘게 만들어 두께 편차, 즉 TTV를 키웁니다.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Rough Grinding 조건을 최적화해서 이 응력을 낮추면, 크랙의 원인을 없애는 동시에 TTV까지 함께 개선 효과를 기대하고 있습니다.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98b78f044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78920" y="859400"/>
            <a:ext cx="5500159" cy="23203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f98b78f044_3_2:notes"/>
          <p:cNvSpPr txBox="1">
            <a:spLocks noGrp="1"/>
          </p:cNvSpPr>
          <p:nvPr>
            <p:ph type="body" idx="1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Rough Grinding에서 크랙과 TTV가 왜 생기는지, 그 원인의 특성요인을 4M1E 관점에서 피쉬본 다이어그램으로 정리해봤습니다.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클릭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중, 저희가 개선해야할 주요 원인으로 다음 네 가지를 설정했습니다.</a:t>
            </a:r>
            <a:endParaRPr/>
          </a:p>
        </p:txBody>
      </p:sp>
      <p:sp>
        <p:nvSpPr>
          <p:cNvPr id="494" name="Google Shape;494;g3f98b78f044_3_2:notes"/>
          <p:cNvSpPr txBox="1">
            <a:spLocks noGrp="1"/>
          </p:cNvSpPr>
          <p:nvPr>
            <p:ph type="sldNum" idx="12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676d9b0e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f676d9b0e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Fishbone에서 도출한 여러 잠재 원인 중에서 데이터와 공정 메커니즘, 그리고 실제 검증 가능성을 고려해 네 가지를 주요 개선 대상으로 선정했습니다.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 번째는 Rough Grinding의 과도한 Feed Rate와 압력 등 </a:t>
            </a:r>
            <a:r>
              <a:rPr lang="ko" b="1">
                <a:solidFill>
                  <a:schemeClr val="dk1"/>
                </a:solidFill>
              </a:rPr>
              <a:t>연삭조건</a:t>
            </a:r>
            <a:r>
              <a:rPr lang="ko">
                <a:solidFill>
                  <a:schemeClr val="dk1"/>
                </a:solidFill>
              </a:rPr>
              <a:t>, 두 번째는 </a:t>
            </a:r>
            <a:r>
              <a:rPr lang="ko" b="1">
                <a:solidFill>
                  <a:schemeClr val="dk1"/>
                </a:solidFill>
              </a:rPr>
              <a:t>Wafer Chuck의 이물과 평탄도</a:t>
            </a:r>
            <a:r>
              <a:rPr lang="ko">
                <a:solidFill>
                  <a:schemeClr val="dk1"/>
                </a:solidFill>
              </a:rPr>
              <a:t>, 세 번째는 </a:t>
            </a:r>
            <a:r>
              <a:rPr lang="ko" b="1">
                <a:solidFill>
                  <a:schemeClr val="dk1"/>
                </a:solidFill>
              </a:rPr>
              <a:t>Recipe Set값과 장비 Actual값의 편차</a:t>
            </a:r>
            <a:r>
              <a:rPr lang="ko">
                <a:solidFill>
                  <a:schemeClr val="dk1"/>
                </a:solidFill>
              </a:rPr>
              <a:t>, 마지막으로 </a:t>
            </a:r>
            <a:r>
              <a:rPr lang="ko" b="1">
                <a:solidFill>
                  <a:schemeClr val="dk1"/>
                </a:solidFill>
              </a:rPr>
              <a:t>Sensor Calibration 이상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다만 이 네 가지가 현재 확정된 근본원인이라는 의미는 아닙니다.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현재 데이터로 가능성이 높은 원인을 선정한 것이고, 이후 실행계획을 통해 실제 품질 영향 여부를 검증하도록 구성했습니다.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6b189dc26_4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6b189dc26_4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네 가지 원인에 대해서는 단기·중기·장기로 개선안을 구분했습니다.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단기적으로는 Recipe Set-Actual 교차검증, Sensor Calibration, Chuck 세정 및 점검, Rough Grinding 주요 Parameter 이상 여부 확인처럼 즉시 실행 가능한 조치를 선정했습니다.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중기적으로는 일회성 점검을 넘어 허용편차와 관리기준을 설정하고, Rough Grinding 조건별 Crack·TTV 영향을 검증하여 최적조건을 도출하도록 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장기적으로는 Recipe와 Parameter 자동 모니터링, SPC 기반 이상감지, Predictive Maintenance 등 사전 예방관리 체계를 구축하는 방향으로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이 가운데 초록색으로 표시한 항목은 현재 실행 가능성과 효율을 고려하여 최적의 개선안으로 선정한 것입니다.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6b189dc2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f6b189dc2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개선안은 효과뿐 아니라 리스크, 적용 난이도, 비용 측면에서 비교했습니다.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Recipe는 허용편차 기준 재설정으로 공정조건을 안정화할 수 있으며 기존데이터를 활용하여 추가 비용이 낮고 적용이 용이합니다. 하지만 관리 조건의 강화로 공정 유연성이 저하된다는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Sensor는 측정 신뢰성을 확보할 수 있으며 Calibration 절차를 활용함으로 적용이 용이합니다. 하지만 점검과 Calibration 중 설비 사용이 제한되며 그에 따른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세정과 점검을 통해 국부적으로 작용하던 응력을 줄여줄 수 있습니다. 하지만 Chuck의 평탄도와 Vacuum 점검 및 관리 기준을 설정해야 하며 점검과 세정 중에는 설비 가동이 제한되고 부품 교체 등을 통해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Rough Grinding 조건 최적화는 Crack을 직접적으로 저감할 가능성이 가장 크지만, 조건 변경에 따라 TTV나 생산성이 영향을 받을 수 있고 DOE와 Wafer 투입이 필요하다는 부담이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</a:t>
            </a:r>
            <a:r>
              <a:rPr lang="ko" b="1">
                <a:solidFill>
                  <a:schemeClr val="dk1"/>
                </a:solidFill>
              </a:rPr>
              <a:t>Sensor와 Chuck은 우선 점검하고, Recipe는 관리기준을 설정하며, Rough Grinding은 DOE를 통해 검증 후 최적화하는 방식</a:t>
            </a:r>
            <a:r>
              <a:rPr lang="ko">
                <a:solidFill>
                  <a:schemeClr val="dk1"/>
                </a:solidFill>
              </a:rPr>
              <a:t>으로 실행 순서를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98b78f044_1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f98b78f044_1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이를 바탕으로 각 개선안을 러프하게 실제 Action Plan으로 구체화했습니다.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Recipe는 Set-Actual 허용편차를 설정하여 공정조건의 변동을 관리하고, Sensor는 Calibration과 교차검증을 통해 TTV 측정 신뢰성을 확보하도록 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Wafer Chuck은 이물, 평탄도, Vacuum 상태를 점검하여 Wafer 지지 불균일 가능성을 확인합니다.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Rough Grinding은 Feed Rate, RPM, 가공압력별 품질 영향을 검증하여 TTV를 안정화하고 Crack을 감소시키는 것을 목표로 설정했습니다.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 항목별로 담당자와 완료 예정일도 지정하여 단순 개선 아이디어가 아니라 실제 실행 가능한 계획으로 구성했습니다.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3eda6c738_8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g3f3eda6c738_8_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99" name="Google Shape;599;g3f3eda6c738_8_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6b189dc2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f6b189dc26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lang="ko" b="1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lang="ko" b="1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lang="ko" b="1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lang="ko" b="1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lang="ko" b="1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6b189dc26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f6b189dc26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“앞서 네 가지 개선안을 도출한 이후, </a:t>
            </a:r>
            <a:r>
              <a:rPr lang="ko" b="1">
                <a:solidFill>
                  <a:schemeClr val="dk1"/>
                </a:solidFill>
              </a:rPr>
              <a:t>각 개선안이 실제로 어느 정도의 개선효과를 가질 수 있는지를 정량적으로 비교하기 위해 별도의 BG 공정 시뮬레이터를 제작했습니다.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이번 프로젝트는 교육 프로그램에서 제공된 Excel 데이터를 기반으로 진행했기 때문에 실제 BG 장비를 사용하거나 공정조건을 직접 변경해 검증할 수 있는 환경은 아니었습니다.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그렇다고 원인 분석 후 개선안을 제안하는 것에서 끝내면, </a:t>
            </a:r>
            <a:r>
              <a:rPr lang="ko" b="1">
                <a:solidFill>
                  <a:schemeClr val="dk1"/>
                </a:solidFill>
              </a:rPr>
              <a:t>어떤 개선안을 우선적으로 적용해야 하는지, 그리고 개선안들을 함께 적용했을 때 어느 정도의 추가적인 효과가 있는지를 비교하기 어렵다고 판단했습니다.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제공된 </a:t>
            </a:r>
            <a:r>
              <a:rPr lang="ko" b="1">
                <a:solidFill>
                  <a:schemeClr val="dk1"/>
                </a:solidFill>
              </a:rPr>
              <a:t>2만 건의 데이터 중 BG 공정 데이터만 활용하여</a:t>
            </a:r>
            <a:r>
              <a:rPr lang="ko">
                <a:solidFill>
                  <a:schemeClr val="dk1"/>
                </a:solidFill>
              </a:rPr>
              <a:t>, 개선조건을 가상으로 적용하고 Crack과 TTV의 변화를 비교할 수 있는 시뮬레이터를 제작했습니다.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개선안을 적용하지 않은 0% 상태에서는 임의의 결과가 나오지 않도록 </a:t>
            </a:r>
            <a:r>
              <a:rPr lang="ko" b="1">
                <a:solidFill>
                  <a:schemeClr val="dk1"/>
                </a:solidFill>
              </a:rPr>
              <a:t>원본 Excel의 BG 데이터를 그대로 기준값으로 설정했습니다.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단순히 평균값이 낮아지는지만 보는 것이 아니라, 실제 품질 기준을 반영하기 위해 </a:t>
            </a:r>
            <a:r>
              <a:rPr lang="ko" b="1">
                <a:solidFill>
                  <a:schemeClr val="dk1"/>
                </a:solidFill>
              </a:rPr>
              <a:t>Crack은 3 이하, TTV는 2마이크로미터 이하를 정상 기준으로 설정</a:t>
            </a:r>
            <a:r>
              <a:rPr lang="ko">
                <a:solidFill>
                  <a:schemeClr val="dk1"/>
                </a:solidFill>
              </a:rPr>
              <a:t>하고 각 조건에서 NG율이 어떻게 변화하는지를 비교했습니다.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첫 번째로 </a:t>
            </a:r>
            <a:r>
              <a:rPr lang="ko" b="1">
                <a:solidFill>
                  <a:schemeClr val="dk1"/>
                </a:solidFill>
              </a:rPr>
              <a:t>Rough Grinding 조건만 최적화한 경우</a:t>
            </a:r>
            <a:r>
              <a:rPr lang="ko">
                <a:solidFill>
                  <a:schemeClr val="dk1"/>
                </a:solidFill>
              </a:rPr>
              <a:t>를 확인했습니다.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실행계획에서 설정한 Feed Rate, RPM, 가공압력을 각각 3수준으로 설정했고, 이를 조합하여 </a:t>
            </a:r>
            <a:r>
              <a:rPr lang="ko" b="1">
                <a:solidFill>
                  <a:schemeClr val="dk1"/>
                </a:solidFill>
              </a:rPr>
              <a:t>총 27개의 가상 조건을 비교했습니다.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오른쪽 표가 27개 조건의 결과입니다.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중 </a:t>
            </a:r>
            <a:r>
              <a:rPr lang="ko" b="1">
                <a:solidFill>
                  <a:schemeClr val="dk1"/>
                </a:solidFill>
              </a:rPr>
              <a:t>Feed Rate 90%, RPM 110%, 가공압력 90% 조합이 가장 우수한 후보 조건</a:t>
            </a:r>
            <a:r>
              <a:rPr lang="ko">
                <a:solidFill>
                  <a:schemeClr val="dk1"/>
                </a:solidFill>
              </a:rPr>
              <a:t>으로 나타났습니다.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해당 조건을 적용했을 때 Crack NG율은 </a:t>
            </a:r>
            <a:r>
              <a:rPr lang="ko" b="1">
                <a:solidFill>
                  <a:schemeClr val="dk1"/>
                </a:solidFill>
              </a:rPr>
              <a:t>6.4%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lang="ko" b="1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이 개선효과를 단순 불량률뿐만 아니라 생산성과 비용 측면에서도 확인하기 위해 </a:t>
            </a:r>
            <a:r>
              <a:rPr lang="ko" b="1">
                <a:solidFill>
                  <a:schemeClr val="dk1"/>
                </a:solidFill>
              </a:rPr>
              <a:t>KPI로 추가 환산했습니다.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“KPI를 보면, 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비용 효과의 경우 실데이터가 제공되지 않았기 때문에, 비교를 위해 연간 BG 처리량을 100만 장, NG 및 재작업 Wafer 한 장당 비용을 5만 원으로 동일하게 가정했습니다.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조건을 적용하면 연 83.03억 원을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Rough Grinding 조건만 최적화해도 상당한 개선효과를 볼 수 있음을 알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다음으로 Rough Grinding 조건을 제외하고, 나머지 세 가지 개선안을 적용했을 때의 효과를 확인했습니다.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b189dc26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6b189dc26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“두 번째는 Rough Grinding 조건은 기존 상태로 유지하고, </a:t>
            </a:r>
            <a:r>
              <a:rPr lang="ko" b="1">
                <a:solidFill>
                  <a:schemeClr val="dk1"/>
                </a:solidFill>
              </a:rPr>
              <a:t>② Recipe Set-Actual 관리, ③ Wafer Chuck 점검, ④ Sensor Calibration을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세 가지 개선안을 적용했을 때 Crack NG율은 약 </a:t>
            </a:r>
            <a:r>
              <a:rPr lang="ko" b="1">
                <a:solidFill>
                  <a:schemeClr val="dk1"/>
                </a:solidFill>
              </a:rPr>
              <a:t>13.2%</a:t>
            </a:r>
            <a:r>
              <a:rPr lang="ko">
                <a:solidFill>
                  <a:schemeClr val="dk1"/>
                </a:solidFill>
              </a:rPr>
              <a:t>, TTV NG율은 약 </a:t>
            </a:r>
            <a:r>
              <a:rPr lang="ko" b="1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앞선 Rough Grinding 단독 개선에서는 Crack 감소효과가 상대적으로 크게 나타났다면, 이번 시나리오에서는 </a:t>
            </a:r>
            <a:r>
              <a:rPr lang="ko" b="1">
                <a:solidFill>
                  <a:schemeClr val="dk1"/>
                </a:solidFill>
              </a:rPr>
              <a:t>TTV NG율이 더 낮아지는 결과</a:t>
            </a:r>
            <a:r>
              <a:rPr lang="ko">
                <a:solidFill>
                  <a:schemeClr val="dk1"/>
                </a:solidFill>
              </a:rPr>
              <a:t>를 확인할 수 있었습니다.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즉 공정조건 자체를 조정하는 것뿐만 아니라 Recipe 편차, Chuck 상태, 계측 신뢰성과 같은 관리항목 역시 BG 품질 안정화에 함께 고려할 필요가 있다고 판단했습니다.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결과 역시 동일한 기준으로 KPI를 환산했습니다.”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연간 47.6억을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하지만, Rough Grinding 조건과 비교한다면 증감의 비율이 비교적 작음을 알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마지막으로 모든 개선안을 적용했을 때의 결과를 확인했습니다.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6b189dc2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f6b189dc2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“마지막은 </a:t>
            </a:r>
            <a:r>
              <a:rPr lang="ko" b="1">
                <a:solidFill>
                  <a:schemeClr val="dk1"/>
                </a:solidFill>
              </a:rPr>
              <a:t>네 가지 개선안을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Rough Grinding에는 앞서 27개 조건 중 가장 우수한 후보로 나타난 </a:t>
            </a:r>
            <a:r>
              <a:rPr lang="ko" b="1">
                <a:solidFill>
                  <a:schemeClr val="dk1"/>
                </a:solidFill>
              </a:rPr>
              <a:t>Feed Rate 90%, RPM 110%, 가공압력 90% 조건</a:t>
            </a:r>
            <a:r>
              <a:rPr lang="ko">
                <a:solidFill>
                  <a:schemeClr val="dk1"/>
                </a:solidFill>
              </a:rPr>
              <a:t>을 적용했고, 여기에 Recipe Set-Actual 관리, Wafer Chuck 점검, Sensor Calibration을 모두 적용했습니다.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 결과 Crack NG율은 </a:t>
            </a:r>
            <a:r>
              <a:rPr lang="ko" b="1">
                <a:solidFill>
                  <a:schemeClr val="dk1"/>
                </a:solidFill>
              </a:rPr>
              <a:t>2.9%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lang="ko" b="1">
                <a:solidFill>
                  <a:schemeClr val="dk1"/>
                </a:solidFill>
              </a:rPr>
              <a:t>9.6%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즉 ①만 적용하거나 ②부터 ④까지만 적용했을 때보다, </a:t>
            </a:r>
            <a:r>
              <a:rPr lang="ko" b="1">
                <a:solidFill>
                  <a:schemeClr val="dk1"/>
                </a:solidFill>
              </a:rPr>
              <a:t>공정조건 최적화와 설비·계측 관리를 함께 적용했을 때 Crack과 TTV 모두에서 가장 큰 개선효과</a:t>
            </a:r>
            <a:r>
              <a:rPr lang="ko">
                <a:solidFill>
                  <a:schemeClr val="dk1"/>
                </a:solidFill>
              </a:rPr>
              <a:t>가 나타났습니다.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마지막으로 동일한 기준으로 전체 개선안의 KPI를 확인했습니다.”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불량률과 재작업량은 마찬가지로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연간 143.9억을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시뮬레이션 결과를 종합하면, 하나의 개선안만 적용하는 것보다 4개의 주 개선안을 </a:t>
            </a:r>
            <a:r>
              <a:rPr lang="ko" b="1">
                <a:solidFill>
                  <a:schemeClr val="dk1"/>
                </a:solidFill>
              </a:rPr>
              <a:t>함께 적용하는 통합적인 관리방안이 가장 높은 개선효과를 보였습니다.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다만 이번 결과는 실제 장비에서 검증한 결과가 아니라 </a:t>
            </a:r>
            <a:r>
              <a:rPr lang="ko" b="1">
                <a:solidFill>
                  <a:schemeClr val="dk1"/>
                </a:solidFill>
              </a:rPr>
              <a:t>제공된 Excel 데이터를 기반으로 개선안을 가상 적용한 시뮬레이션 결과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구체적인 수치를 실제 양산 개선효과로 단정하기보다는, </a:t>
            </a:r>
            <a:r>
              <a:rPr lang="ko" b="1">
                <a:solidFill>
                  <a:schemeClr val="dk1"/>
                </a:solidFill>
              </a:rPr>
              <a:t>각 개선안의 상대적인 효과를 비교하고 개선 우선순위를 제안하기 위한 결과</a:t>
            </a:r>
            <a:r>
              <a:rPr lang="ko">
                <a:solidFill>
                  <a:schemeClr val="dk1"/>
                </a:solidFill>
              </a:rPr>
              <a:t>로 해석했습니다.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6c6aff6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f6c6aff6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결론은, 저희는 백그라인딩 공정의 크랙과 TTV 문제의 핵심 원인을 Rough Grinding 공정 개선을 통해 개선을 진행할 예정입니다.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이를 통해 불량률을 38.3%에서 9.6%로 감소시키는 효과를 기대하고 있습니다.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3eda6c738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g3f3eda6c738_8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08" name="Google Shape;708;g3f3eda6c738_8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f3eda6c738_8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g3f3eda6c738_8_10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64" name="Google Shape;764;g3f3eda6c738_8_10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f3eda6c738_8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7" name="Google Shape;827;g3f3eda6c738_8_1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28" name="Google Shape;828;g3f3eda6c738_8_1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f676d9b0e5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f676d9b0e5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 발표를 맡은 1조였습니다! 감사합니다.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7" name="Google Shape;87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5692140" y="2331720"/>
            <a:ext cx="2194500" cy="2194500"/>
          </a:xfrm>
          <a:prstGeom prst="ellipse">
            <a:avLst/>
          </a:prstGeom>
          <a:noFill/>
          <a:ln w="31750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5932170" y="2571750"/>
            <a:ext cx="1714500" cy="171450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6172200" y="2811780"/>
            <a:ext cx="1234440" cy="1234440"/>
          </a:xfrm>
          <a:prstGeom prst="ellipse">
            <a:avLst/>
          </a:prstGeom>
          <a:noFill/>
          <a:ln w="15875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6412230" y="3051810"/>
            <a:ext cx="754380" cy="75438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6686550" y="3326130"/>
            <a:ext cx="205740" cy="20574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514350" y="2297420"/>
            <a:ext cx="589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lang="ko" sz="1100" b="0" i="1" u="none" strike="noStrike" cap="non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1조</a:t>
            </a:r>
            <a:endParaRPr sz="1100" b="0" i="1" u="none" strike="noStrike" cap="non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lang="ko" sz="1100" b="0" i="1" u="none" strike="noStrike" cap="non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김화영 성웅제 이동호 정회찬 한건희</a:t>
            </a:r>
            <a:endParaRPr sz="1100" b="0" i="1" u="none" strike="noStrike" cap="non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514350" y="3909060"/>
            <a:ext cx="1988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 = 20,000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514350" y="4251960"/>
            <a:ext cx="198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800"/>
              <a:buFont typeface="Calibri"/>
              <a:buNone/>
            </a:pPr>
            <a:r>
              <a:rPr lang="ko" sz="800" b="0" i="0" u="none" strike="noStrike" cap="non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분석 샘플 (합성 데이터)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514350" y="4766310"/>
            <a:ext cx="8092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93AA"/>
              </a:buClr>
              <a:buSzPts val="800"/>
              <a:buFont typeface="Calibri"/>
              <a:buNone/>
            </a:pPr>
            <a:r>
              <a:rPr lang="ko" sz="800" b="0" i="0" u="none" strike="noStrike" cap="none">
                <a:solidFill>
                  <a:srgbClr val="7C93AA"/>
                </a:solidFill>
                <a:latin typeface="Calibri"/>
                <a:ea typeface="Calibri"/>
                <a:cs typeface="Calibri"/>
                <a:sym typeface="Calibri"/>
              </a:rPr>
              <a:t>반도체 패키징 Backgrinding 공정 SPC 종합 분석 리포트  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480046" y="1063000"/>
            <a:ext cx="85877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lang="ko" sz="3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Backgrinding 공정 불량 데이터 분석</a:t>
            </a:r>
            <a:endParaRPr sz="3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493776" y="1748790"/>
            <a:ext cx="61722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2000"/>
              <a:buFont typeface="Cambria"/>
              <a:buNone/>
            </a:pPr>
            <a:r>
              <a:rPr lang="ko" sz="2000" b="1" i="0" u="none" strike="noStrike" cap="none">
                <a:solidFill>
                  <a:srgbClr val="CDE4F0"/>
                </a:solidFill>
                <a:latin typeface="Cambria"/>
                <a:ea typeface="Cambria"/>
                <a:cs typeface="Cambria"/>
                <a:sym typeface="Cambria"/>
              </a:rPr>
              <a:t>불량 원인 분석 및 개선 방안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sz="23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3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31"/>
          <p:cNvSpPr/>
          <p:nvPr/>
        </p:nvSpPr>
        <p:spPr>
          <a:xfrm>
            <a:off x="210900" y="1671438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93A8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8C93A8"/>
                </a:solidFill>
                <a:latin typeface="Calibri"/>
                <a:ea typeface="Calibri"/>
                <a:cs typeface="Calibri"/>
                <a:sym typeface="Calibri"/>
              </a:rPr>
              <a:t>배경 및 현황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210900" y="1948804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210900" y="1948804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646760" y="1909180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BG 공정 문제 정의 및 추진 배경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210900" y="2384665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1"/>
          <p:cNvSpPr/>
          <p:nvPr/>
        </p:nvSpPr>
        <p:spPr>
          <a:xfrm>
            <a:off x="210900" y="238466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646760" y="2345041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불량 현황 요약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210900" y="3018645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데이터 분석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210900" y="3296011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1"/>
          <p:cNvSpPr/>
          <p:nvPr/>
        </p:nvSpPr>
        <p:spPr>
          <a:xfrm>
            <a:off x="210900" y="329601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646760" y="325638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데이터 수집 및 분석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210900" y="3731872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210900" y="3731872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1"/>
          <p:cNvSpPr/>
          <p:nvPr/>
        </p:nvSpPr>
        <p:spPr>
          <a:xfrm>
            <a:off x="646760" y="3692248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원인 분석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4825912" y="1453513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개선 방안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4825912" y="1730879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4825912" y="1730879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5261772" y="1691255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도출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4825912" y="2166740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4825912" y="216674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5261772" y="2127116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비교 및 최적안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4825912" y="2602601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4825912" y="260260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5261772" y="256297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실행 계획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/>
          <p:nvPr/>
        </p:nvSpPr>
        <p:spPr>
          <a:xfrm>
            <a:off x="4825912" y="3236581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53"/>
              <a:buFont typeface="Calibri"/>
              <a:buNone/>
            </a:pPr>
            <a:r>
              <a:rPr lang="ko" sz="1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결과 및 결론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/>
          <p:nvPr/>
        </p:nvSpPr>
        <p:spPr>
          <a:xfrm>
            <a:off x="4825912" y="3513947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4825912" y="3513947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5261772" y="3474323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4825912" y="3949808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4825912" y="394980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lang="ko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5261772" y="3910184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ko" sz="15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/>
          <p:nvPr/>
        </p:nvSpPr>
        <p:spPr>
          <a:xfrm>
            <a:off x="411475" y="3568592"/>
            <a:ext cx="8401200" cy="1412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공정 문제 정의 및 추진 배경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9" name="Google Shape;209;p3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32"/>
          <p:cNvSpPr/>
          <p:nvPr/>
        </p:nvSpPr>
        <p:spPr>
          <a:xfrm>
            <a:off x="411480" y="1687679"/>
            <a:ext cx="41490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2"/>
          <p:cNvSpPr/>
          <p:nvPr/>
        </p:nvSpPr>
        <p:spPr>
          <a:xfrm>
            <a:off x="617220" y="1879703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2"/>
          <p:cNvSpPr/>
          <p:nvPr/>
        </p:nvSpPr>
        <p:spPr>
          <a:xfrm>
            <a:off x="61722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102870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무엇이 발생했나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651510" y="2250035"/>
            <a:ext cx="3771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크랙 평균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2.02 → 2.29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(증가 ↑)</a:t>
            </a:r>
            <a:b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스크래치 평균 </a:t>
            </a:r>
            <a:r>
              <a:rPr lang="ko" sz="1100" b="1" i="0" u="none" strike="noStrike" cap="none">
                <a:solidFill>
                  <a:srgbClr val="2A78D6"/>
                </a:solidFill>
                <a:latin typeface="Calibri"/>
                <a:ea typeface="Calibri"/>
                <a:cs typeface="Calibri"/>
                <a:sym typeface="Calibri"/>
              </a:rPr>
              <a:t>2.93 → 1.24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(감소 ↓)</a:t>
            </a:r>
            <a:b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BG_Crack_Scratch 불량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1,115건</a:t>
            </a: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sz="1100" b="0" i="0" u="none" strike="noStrike" cap="none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NG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4,964건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4697730" y="1687679"/>
            <a:ext cx="4080600" cy="171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2"/>
          <p:cNvSpPr/>
          <p:nvPr/>
        </p:nvSpPr>
        <p:spPr>
          <a:xfrm>
            <a:off x="4903470" y="1879703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2"/>
          <p:cNvSpPr/>
          <p:nvPr/>
        </p:nvSpPr>
        <p:spPr>
          <a:xfrm>
            <a:off x="490347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531495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왜 중요한가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4937760" y="2270609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크랙·스크래치 </a:t>
            </a:r>
            <a:r>
              <a:rPr lang="ko" sz="1100" b="1" i="0" u="none" strike="noStrike" cap="non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3 초과 = 100% Fail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NG (3.0 um 초과) = 99.8% Fail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925329" y="3630593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사업적 영향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508900" y="3957125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E6F6EF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741207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수율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1537689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AF7A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1BAF7A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741207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불량 유출로 최종 수율 하락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3263399" y="3976568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2"/>
          <p:cNvSpPr/>
          <p:nvPr/>
        </p:nvSpPr>
        <p:spPr>
          <a:xfrm>
            <a:off x="34957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납기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4292188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34957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재작업·폐기로 납기 지연 위험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6017899" y="3976568"/>
            <a:ext cx="2621700" cy="945000"/>
          </a:xfrm>
          <a:prstGeom prst="roundRect">
            <a:avLst>
              <a:gd name="adj" fmla="val 6452"/>
            </a:avLst>
          </a:prstGeom>
          <a:solidFill>
            <a:srgbClr val="FCEBE3"/>
          </a:solidFill>
          <a:ln>
            <a:noFill/>
          </a:ln>
        </p:spPr>
        <p:txBody>
          <a:bodyPr spcFirstLastPara="1" wrap="square" lIns="66375" tIns="66375" rIns="66375" bIns="66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62502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355"/>
              <a:buFont typeface="Calibri"/>
              <a:buNone/>
            </a:pPr>
            <a:r>
              <a:rPr lang="ko" sz="1355" b="1" i="0" u="none" strike="noStrike" cap="non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endParaRPr sz="1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7046687" y="4049730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355"/>
              <a:buFont typeface="Cambria"/>
              <a:buNone/>
            </a:pPr>
            <a:r>
              <a:rPr lang="ko" sz="4355" b="1" i="0" u="none" strike="noStrike" cap="non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↑</a:t>
            </a:r>
            <a:endParaRPr sz="43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62502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871"/>
              <a:buFont typeface="Calibri"/>
              <a:buNone/>
            </a:pPr>
            <a:r>
              <a:rPr lang="ko" sz="871" b="0" i="0" u="none" strike="noStrike" cap="non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불량·재검사·손실 비용 증가</a:t>
            </a:r>
            <a:endParaRPr sz="8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950" y="2130070"/>
            <a:ext cx="708975" cy="70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825" y="2130071"/>
            <a:ext cx="708975" cy="67765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/>
        </p:nvSpPr>
        <p:spPr>
          <a:xfrm>
            <a:off x="2814424" y="3056919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Crack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3631381" y="3079540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Scratch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549371" y="3620354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549371" y="362035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411475" y="662637"/>
            <a:ext cx="8401200" cy="822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Calibri"/>
                <a:ea typeface="Calibri"/>
                <a:cs typeface="Calibri"/>
                <a:sym typeface="Calibri"/>
              </a:rPr>
              <a:t>발생 시점과 라인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	202X년 XX 월 XX일	 A Line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549371" y="725444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549371" y="72544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현황 요약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7" name="Google Shape;247;p3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33"/>
          <p:cNvSpPr/>
          <p:nvPr/>
        </p:nvSpPr>
        <p:spPr>
          <a:xfrm>
            <a:off x="411475" y="676050"/>
            <a:ext cx="4149000" cy="430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3"/>
          <p:cNvSpPr/>
          <p:nvPr/>
        </p:nvSpPr>
        <p:spPr>
          <a:xfrm>
            <a:off x="617220" y="868082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3"/>
          <p:cNvSpPr/>
          <p:nvPr/>
        </p:nvSpPr>
        <p:spPr>
          <a:xfrm>
            <a:off x="1028700" y="868082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전체 Pass/ Fail 현황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4697725" y="676050"/>
            <a:ext cx="4080600" cy="430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5314950" y="843016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현황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0015" y="3192699"/>
            <a:ext cx="1849500" cy="1671600"/>
          </a:xfrm>
          <a:prstGeom prst="rect">
            <a:avLst/>
          </a:prstGeom>
          <a:noFill/>
          <a:ln>
            <a:noFill/>
          </a:ln>
          <a:effectLst>
            <a:outerShdw blurRad="29636" dist="9879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4" name="Google Shape;254;p33"/>
          <p:cNvSpPr/>
          <p:nvPr/>
        </p:nvSpPr>
        <p:spPr>
          <a:xfrm>
            <a:off x="5205684" y="3815061"/>
            <a:ext cx="818400" cy="462600"/>
          </a:xfrm>
          <a:prstGeom prst="rect">
            <a:avLst/>
          </a:prstGeom>
          <a:noFill/>
          <a:ln>
            <a:noFill/>
          </a:ln>
          <a:effectLst>
            <a:outerShdw blurRad="29636" dist="9879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67"/>
              <a:buFont typeface="Calibri"/>
              <a:buNone/>
            </a:pPr>
            <a:r>
              <a:rPr lang="ko" sz="985" b="1" i="0" u="none" strike="noStrike" cap="non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불량</a:t>
            </a:r>
            <a:br>
              <a:rPr lang="ko" sz="778" b="1" i="0" u="none" strike="noStrike" cap="non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348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sz="778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67"/>
              <a:buFont typeface="Calibri"/>
              <a:buNone/>
            </a:pPr>
            <a:r>
              <a:rPr lang="ko" sz="778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778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6592149" y="3192725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6669069" y="3302388"/>
            <a:ext cx="73800" cy="90900"/>
          </a:xfrm>
          <a:prstGeom prst="ellipse">
            <a:avLst/>
          </a:prstGeom>
          <a:solidFill>
            <a:srgbClr val="EDA100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6792140" y="3207851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Mold_Offset_Void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7865396" y="3207851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7,360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8310750" y="3207840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37%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6592149" y="3533060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6669069" y="3642723"/>
            <a:ext cx="73800" cy="90900"/>
          </a:xfrm>
          <a:prstGeom prst="ellipse">
            <a:avLst/>
          </a:prstGeom>
          <a:solidFill>
            <a:srgbClr val="1BAF7A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6792140" y="3548186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DieAttach_Crack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7865396" y="3548186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6,771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8310750" y="3548175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34%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6592149" y="3873394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6669069" y="3983058"/>
            <a:ext cx="73800" cy="9090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6792140" y="388852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884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7865396" y="388852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8310750" y="388850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6592149" y="4213729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6669069" y="4323393"/>
            <a:ext cx="73800" cy="90900"/>
          </a:xfrm>
          <a:prstGeom prst="ellipse">
            <a:avLst/>
          </a:prstGeom>
          <a:solidFill>
            <a:srgbClr val="9085E9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6792140" y="4228855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lang="ko" sz="884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Clean_BinFail_Residue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7865396" y="4228855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1,295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8310750" y="4228844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6592149" y="4554064"/>
            <a:ext cx="2030700" cy="310200"/>
          </a:xfrm>
          <a:prstGeom prst="roundRect">
            <a:avLst>
              <a:gd name="adj" fmla="val 8537"/>
            </a:avLst>
          </a:prstGeom>
          <a:solidFill>
            <a:srgbClr val="FCEBE3"/>
          </a:solidFill>
          <a:ln>
            <a:noFill/>
          </a:ln>
          <a:effectLst>
            <a:outerShdw blurRad="49019" dist="14005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3"/>
          <p:cNvSpPr/>
          <p:nvPr/>
        </p:nvSpPr>
        <p:spPr>
          <a:xfrm>
            <a:off x="6669069" y="4663727"/>
            <a:ext cx="73800" cy="90900"/>
          </a:xfrm>
          <a:prstGeom prst="ellipse">
            <a:avLst/>
          </a:prstGeom>
          <a:solidFill>
            <a:srgbClr val="EB6834"/>
          </a:solidFill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37800" tIns="37800" rIns="37800" bIns="3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3"/>
          <p:cNvSpPr/>
          <p:nvPr/>
        </p:nvSpPr>
        <p:spPr>
          <a:xfrm>
            <a:off x="6792140" y="456919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607"/>
              <a:buFont typeface="Calibri"/>
              <a:buNone/>
            </a:pPr>
            <a:r>
              <a:rPr lang="ko" sz="884" b="1" i="0" u="none" strike="noStrike" cap="none">
                <a:solidFill>
                  <a:srgbClr val="993C1D"/>
                </a:solidFill>
                <a:latin typeface="Malgun Gothic"/>
                <a:ea typeface="Malgun Gothic"/>
                <a:cs typeface="Malgun Gothic"/>
                <a:sym typeface="Malgun Gothic"/>
              </a:rPr>
              <a:t>BG_Crack_Scratch</a:t>
            </a:r>
            <a:endParaRPr sz="884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7865396" y="456919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lang="ko" sz="995" b="1" i="0" u="none" strike="noStrike" cap="non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sz="995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8310750" y="456917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dist="10504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lang="ko" sz="829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sz="829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617220" y="86808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4903470" y="868082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4903470" y="86808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4886425" y="1289577"/>
            <a:ext cx="3703200" cy="6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Fail 16,541 건 중, Primary Failure이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“BG_Crack_Scratch“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 건 (6%)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634385" y="1361013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BG, Sawing, Die Attach, Molding, Cleaning 공정을 거친 20,000 Wafer 전체 중,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Final Test 결과가 </a:t>
            </a:r>
            <a:r>
              <a:rPr lang="ko" sz="1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“Fail“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lang="ko" sz="1100" b="1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16,541 건 (83%)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550" y="1758801"/>
            <a:ext cx="2546374" cy="13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/>
          <p:nvPr/>
        </p:nvSpPr>
        <p:spPr>
          <a:xfrm>
            <a:off x="2539092" y="3133450"/>
            <a:ext cx="1896600" cy="3213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87" name="Google Shape;287;p33"/>
          <p:cNvSpPr/>
          <p:nvPr/>
        </p:nvSpPr>
        <p:spPr>
          <a:xfrm>
            <a:off x="2662021" y="3252365"/>
            <a:ext cx="91200" cy="834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88" name="Google Shape;288;p33"/>
          <p:cNvSpPr/>
          <p:nvPr/>
        </p:nvSpPr>
        <p:spPr>
          <a:xfrm>
            <a:off x="2820074" y="3133450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3"/>
          <p:cNvSpPr/>
          <p:nvPr/>
        </p:nvSpPr>
        <p:spPr>
          <a:xfrm>
            <a:off x="3557653" y="3178445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3557653" y="3319212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lang="ko" sz="950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2539092" y="3567328"/>
            <a:ext cx="1896600" cy="321300"/>
          </a:xfrm>
          <a:prstGeom prst="roundRect">
            <a:avLst>
              <a:gd name="adj" fmla="val 9000"/>
            </a:avLst>
          </a:prstGeom>
          <a:solidFill>
            <a:srgbClr val="FCEAE3"/>
          </a:solidFill>
          <a:ln w="7500" cap="flat" cmpd="sng">
            <a:solidFill>
              <a:srgbClr val="F0C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92" name="Google Shape;292;p33"/>
          <p:cNvSpPr/>
          <p:nvPr/>
        </p:nvSpPr>
        <p:spPr>
          <a:xfrm>
            <a:off x="2662021" y="3686242"/>
            <a:ext cx="91200" cy="834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spcFirstLastPara="1" wrap="square" lIns="40575" tIns="40575" rIns="40575" bIns="4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/>
          </a:p>
        </p:txBody>
      </p:sp>
      <p:sp>
        <p:nvSpPr>
          <p:cNvPr id="293" name="Google Shape;293;p33"/>
          <p:cNvSpPr/>
          <p:nvPr/>
        </p:nvSpPr>
        <p:spPr>
          <a:xfrm>
            <a:off x="2820074" y="3567328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3557653" y="3612322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6"/>
              <a:buFont typeface="Malgun Gothic"/>
              <a:buNone/>
            </a:pPr>
            <a:r>
              <a:rPr lang="ko" sz="95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3557653" y="3753089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lang="ko" sz="950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587" y="2785912"/>
            <a:ext cx="1483674" cy="148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3"/>
          <p:cNvSpPr/>
          <p:nvPr/>
        </p:nvSpPr>
        <p:spPr>
          <a:xfrm>
            <a:off x="979699" y="3280470"/>
            <a:ext cx="7269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050" tIns="16475" rIns="33050" bIns="16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29"/>
              <a:buFont typeface="Malgun Gothic"/>
              <a:buNone/>
            </a:pPr>
            <a:r>
              <a:rPr lang="ko" sz="529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br>
              <a:rPr lang="ko" sz="529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442" b="1" i="0" u="none" strike="noStrike" cap="non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br>
              <a:rPr lang="ko" sz="1442" b="1" i="0" u="none" strike="noStrike" cap="non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481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sz="52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6592160" y="4546263"/>
            <a:ext cx="2030700" cy="310200"/>
          </a:xfrm>
          <a:prstGeom prst="rect">
            <a:avLst/>
          </a:prstGeom>
          <a:noFill/>
          <a:ln w="352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50" tIns="84650" rIns="84650" bIns="84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96"/>
          </a:p>
        </p:txBody>
      </p:sp>
      <p:sp>
        <p:nvSpPr>
          <p:cNvPr id="299" name="Google Shape;299;p33"/>
          <p:cNvSpPr/>
          <p:nvPr/>
        </p:nvSpPr>
        <p:spPr>
          <a:xfrm>
            <a:off x="2539090" y="3560400"/>
            <a:ext cx="1937400" cy="294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5" name="Google Shape;305;p3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" name="Google Shape;306;p34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34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{0B073BFF-6206-4ADD-8F78-D1DC4713D43E}</a:tableStyleId>
              </a:tblPr>
              <a:tblGrid>
                <a:gridCol w="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5" name="Google Shape;315;p34"/>
          <p:cNvSpPr/>
          <p:nvPr/>
        </p:nvSpPr>
        <p:spPr>
          <a:xfrm>
            <a:off x="4748475" y="2225066"/>
            <a:ext cx="3937800" cy="442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050" y="1670671"/>
            <a:ext cx="3527875" cy="197560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4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BG 공정 이후 Crack 이 증가하는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 단독 불량 데이터의 79%가 Crack &gt; 3 일 때임을 확인할 수 있었다.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Before, After 평균 데이터 분석 (20,000장)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 분석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 &gt; 3 인 경우 가 79% 로 불량에 크게 기인한다.</a:t>
            </a:r>
            <a:endParaRPr sz="1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BD_Crack_Scratch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0" name="Google Shape;330;p3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1" name="Google Shape;331;p35"/>
          <p:cNvSpPr/>
          <p:nvPr/>
        </p:nvSpPr>
        <p:spPr>
          <a:xfrm>
            <a:off x="204900" y="723325"/>
            <a:ext cx="8734200" cy="2709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35"/>
          <p:cNvGrpSpPr/>
          <p:nvPr/>
        </p:nvGrpSpPr>
        <p:grpSpPr>
          <a:xfrm>
            <a:off x="309390" y="1090823"/>
            <a:ext cx="8525220" cy="2251344"/>
            <a:chOff x="704851" y="1213866"/>
            <a:chExt cx="7402292" cy="1954801"/>
          </a:xfrm>
        </p:grpSpPr>
        <p:pic>
          <p:nvPicPr>
            <p:cNvPr id="333" name="Google Shape;333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4851" y="1213866"/>
              <a:ext cx="4947929" cy="195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2782" y="1213866"/>
              <a:ext cx="2454361" cy="1954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5" name="Google Shape;335;p35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5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구체적으로, BG 공정 이후 Crack의 분포가 큰 변화가 없는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역시 spec out 웨이퍼들이 여전히 존재하는 것을 볼 수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7" name="Google Shape;347;p3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36"/>
          <p:cNvSpPr/>
          <p:nvPr/>
        </p:nvSpPr>
        <p:spPr>
          <a:xfrm>
            <a:off x="204900" y="723325"/>
            <a:ext cx="8734200" cy="3002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425" y="1091899"/>
            <a:ext cx="3254872" cy="259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9616" y="1090826"/>
            <a:ext cx="3521554" cy="260097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6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6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또한,  Crack이 3 초과한 웨이퍼가 4015장으로 20%에 달하며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TTV의 Cpk 역시 0.15로 즉시 공정 수정이 필요한 수준으로 확인함.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6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이후 공정 평가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Crack &amp; Scratch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63" name="Google Shape;363;p3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37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7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7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7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37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{0B073BFF-6206-4ADD-8F78-D1DC4713D43E}</a:tableStyleId>
              </a:tblPr>
              <a:tblGrid>
                <a:gridCol w="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strike="noStrike" cap="non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sz="10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1E4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3" name="Google Shape;373;p37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Crack &amp; Scratch 스크리닝 임계값을 “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Data를 분석해보면,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Crack &amp; Scatch </a:t>
            </a:r>
            <a:r>
              <a:rPr lang="ko" sz="1000" b="1">
                <a:solidFill>
                  <a:srgbClr val="E0654A"/>
                </a:solidFill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lang="ko" sz="1100" b="1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3 인 경우, 비율이 0%이다.</a:t>
            </a:r>
            <a:r>
              <a:rPr lang="ko" sz="1100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6618250" y="2691425"/>
            <a:ext cx="1031100" cy="466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7"/>
          <p:cNvSpPr/>
          <p:nvPr/>
        </p:nvSpPr>
        <p:spPr>
          <a:xfrm>
            <a:off x="619624" y="2714185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7"/>
          <p:cNvSpPr/>
          <p:nvPr/>
        </p:nvSpPr>
        <p:spPr>
          <a:xfrm>
            <a:off x="806722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7"/>
          <p:cNvSpPr/>
          <p:nvPr/>
        </p:nvSpPr>
        <p:spPr>
          <a:xfrm>
            <a:off x="1336833" y="2714185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7"/>
          <p:cNvSpPr/>
          <p:nvPr/>
        </p:nvSpPr>
        <p:spPr>
          <a:xfrm>
            <a:off x="1523931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7"/>
          <p:cNvSpPr/>
          <p:nvPr/>
        </p:nvSpPr>
        <p:spPr>
          <a:xfrm>
            <a:off x="545599" y="2911953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lang="ko" sz="1270" b="1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</a:t>
            </a:r>
            <a: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&gt; 3</a:t>
            </a:r>
            <a:b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(6%)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1791545" y="2911958"/>
            <a:ext cx="2593500" cy="415800"/>
          </a:xfrm>
          <a:prstGeom prst="roundRect">
            <a:avLst>
              <a:gd name="adj" fmla="val 5217"/>
            </a:avLst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7"/>
          <p:cNvSpPr/>
          <p:nvPr/>
        </p:nvSpPr>
        <p:spPr>
          <a:xfrm>
            <a:off x="1895830" y="2911958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lang="ko" sz="163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1921427" y="2911958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lang="ko" sz="998" b="1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" sz="998" b="1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 ·  Pass 0장</a:t>
            </a:r>
            <a:endParaRPr sz="99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619624" y="1996652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806722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1336833" y="1996652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1523931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lang="ko" sz="907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sz="9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545599" y="2194421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 &gt; 3</a:t>
            </a:r>
            <a:br>
              <a:rPr lang="ko" sz="127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7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4,015장 (20%)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1791545" y="2194426"/>
            <a:ext cx="2593500" cy="415800"/>
          </a:xfrm>
          <a:prstGeom prst="roundRect">
            <a:avLst>
              <a:gd name="adj" fmla="val 5217"/>
            </a:avLst>
          </a:prstGeom>
          <a:solidFill>
            <a:srgbClr val="D64533"/>
          </a:solidFill>
          <a:ln>
            <a:noFill/>
          </a:ln>
        </p:spPr>
        <p:txBody>
          <a:bodyPr spcFirstLastPara="1" wrap="square" lIns="62300" tIns="62300" rIns="62300" bIns="6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9"/>
          </a:p>
        </p:txBody>
      </p:sp>
      <p:sp>
        <p:nvSpPr>
          <p:cNvPr id="394" name="Google Shape;394;p37"/>
          <p:cNvSpPr/>
          <p:nvPr/>
        </p:nvSpPr>
        <p:spPr>
          <a:xfrm>
            <a:off x="1895830" y="2194426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lang="ko" sz="163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1921427" y="2194426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300" tIns="31150" rIns="62300" bIns="3115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lang="ko" sz="998" b="1" i="0" u="none" strike="noStrike" cap="non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4,015장  ·  Pass 0장</a:t>
            </a:r>
            <a:endParaRPr sz="99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After Crack, Scratch 데이터 분석 (20,000장)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TTV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2" name="Google Shape;402;p38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38"/>
          <p:cNvSpPr/>
          <p:nvPr/>
        </p:nvSpPr>
        <p:spPr>
          <a:xfrm>
            <a:off x="390825" y="723325"/>
            <a:ext cx="55383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8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6048750" y="723325"/>
            <a:ext cx="2709000" cy="3030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8"/>
          <p:cNvSpPr/>
          <p:nvPr/>
        </p:nvSpPr>
        <p:spPr>
          <a:xfrm>
            <a:off x="6511660" y="807522"/>
            <a:ext cx="21852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lang="ko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8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8"/>
          <p:cNvSpPr/>
          <p:nvPr/>
        </p:nvSpPr>
        <p:spPr>
          <a:xfrm>
            <a:off x="6141892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8"/>
          <p:cNvSpPr/>
          <p:nvPr/>
        </p:nvSpPr>
        <p:spPr>
          <a:xfrm>
            <a:off x="6141892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8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TTV 스크리닝 임계값을 “&lt; 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2μm”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6137" y="113292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전체 데이터 분석 (20,000장)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390825" y="4570321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000" i="1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sz="1000" i="1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2564009" y="1159497"/>
            <a:ext cx="3365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TTV NG 데이터 분석 (4,972장)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000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(TTV &gt; 3</a:t>
            </a:r>
            <a:r>
              <a:rPr lang="ko" sz="1150" i="1">
                <a:solidFill>
                  <a:srgbClr val="424242"/>
                </a:solidFill>
                <a:highlight>
                  <a:srgbClr val="FFFFFF"/>
                </a:highlight>
              </a:rPr>
              <a:t>μ</a:t>
            </a:r>
            <a:r>
              <a:rPr lang="ko" sz="1150" i="1">
                <a:solidFill>
                  <a:srgbClr val="42424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ko" sz="1000" i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이면 NG)</a:t>
            </a:r>
            <a:endParaRPr sz="1000" i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TTV_After가 3μm 초과(NG)이면 </a:t>
            </a:r>
            <a:r>
              <a:rPr lang="ko" sz="11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99.8%가 Fail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사실상 전수 불량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3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111" y="2256588"/>
            <a:ext cx="1362555" cy="118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8"/>
          <p:cNvSpPr/>
          <p:nvPr/>
        </p:nvSpPr>
        <p:spPr>
          <a:xfrm>
            <a:off x="3888667" y="2414325"/>
            <a:ext cx="1887600" cy="373200"/>
          </a:xfrm>
          <a:prstGeom prst="roundRect">
            <a:avLst>
              <a:gd name="adj" fmla="val 8571"/>
            </a:avLst>
          </a:prstGeom>
          <a:solidFill>
            <a:srgbClr val="FCEAE3"/>
          </a:solidFill>
          <a:ln w="6575" cap="flat" cmpd="sng">
            <a:solidFill>
              <a:srgbClr val="F0C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8"/>
          <p:cNvSpPr/>
          <p:nvPr/>
        </p:nvSpPr>
        <p:spPr>
          <a:xfrm>
            <a:off x="4013327" y="2554660"/>
            <a:ext cx="92700" cy="92400"/>
          </a:xfrm>
          <a:prstGeom prst="ellipse">
            <a:avLst/>
          </a:prstGeom>
          <a:solidFill>
            <a:srgbClr val="D64533"/>
          </a:solidFill>
          <a:ln>
            <a:noFill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8"/>
          <p:cNvSpPr/>
          <p:nvPr/>
        </p:nvSpPr>
        <p:spPr>
          <a:xfrm>
            <a:off x="4173603" y="2414325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lang="ko" sz="881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4,964장</a:t>
            </a:r>
            <a:endParaRPr sz="88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4957176" y="2414325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36"/>
              <a:buFont typeface="Malgun Gothic"/>
              <a:buNone/>
            </a:pPr>
            <a:r>
              <a:rPr lang="ko" sz="1036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99.8%</a:t>
            </a:r>
            <a:endParaRPr sz="10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3888667" y="2911716"/>
            <a:ext cx="1887600" cy="373200"/>
          </a:xfrm>
          <a:prstGeom prst="roundRect">
            <a:avLst>
              <a:gd name="adj" fmla="val 8571"/>
            </a:avLst>
          </a:prstGeom>
          <a:solidFill>
            <a:srgbClr val="F0F7F2"/>
          </a:solidFill>
          <a:ln w="6575" cap="flat" cmpd="sng">
            <a:solidFill>
              <a:srgbClr val="CDE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8"/>
          <p:cNvSpPr/>
          <p:nvPr/>
        </p:nvSpPr>
        <p:spPr>
          <a:xfrm>
            <a:off x="4013327" y="3052051"/>
            <a:ext cx="92700" cy="92400"/>
          </a:xfrm>
          <a:prstGeom prst="ellipse">
            <a:avLst/>
          </a:prstGeom>
          <a:solidFill>
            <a:srgbClr val="27AE73"/>
          </a:solidFill>
          <a:ln>
            <a:noFill/>
          </a:ln>
        </p:spPr>
        <p:txBody>
          <a:bodyPr spcFirstLastPara="1" wrap="square" lIns="35575" tIns="35575" rIns="35575" bIns="3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4173603" y="2911716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lang="ko" sz="881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8장</a:t>
            </a:r>
            <a:endParaRPr sz="88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4957176" y="2911716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1036"/>
              <a:buFont typeface="Malgun Gothic"/>
              <a:buNone/>
            </a:pPr>
            <a:r>
              <a:rPr lang="ko" sz="1036" b="1" i="0" u="none" strike="noStrike" cap="none">
                <a:solidFill>
                  <a:srgbClr val="1E8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0.2%</a:t>
            </a:r>
            <a:endParaRPr sz="10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3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104" y="1693288"/>
            <a:ext cx="1261443" cy="1261443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8"/>
          <p:cNvSpPr/>
          <p:nvPr/>
        </p:nvSpPr>
        <p:spPr>
          <a:xfrm>
            <a:off x="1046281" y="2113771"/>
            <a:ext cx="6183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075" tIns="14050" rIns="28075" bIns="14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50"/>
              <a:buFont typeface="Malgun Gothic"/>
              <a:buNone/>
            </a:pPr>
            <a:r>
              <a:rPr lang="ko" sz="450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br>
              <a:rPr lang="ko" sz="450" b="1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226" b="1" i="0" u="none" strike="noStrike" cap="non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br>
              <a:rPr lang="ko" sz="1226" b="1" i="0" u="none" strike="noStrike" cap="non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sz="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596576" y="3026985"/>
            <a:ext cx="1517700" cy="2805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8"/>
          <p:cNvSpPr/>
          <p:nvPr/>
        </p:nvSpPr>
        <p:spPr>
          <a:xfrm>
            <a:off x="694934" y="3130704"/>
            <a:ext cx="73200" cy="7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8"/>
          <p:cNvSpPr/>
          <p:nvPr/>
        </p:nvSpPr>
        <p:spPr>
          <a:xfrm>
            <a:off x="821394" y="3026985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OK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1411543" y="3066230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15,036장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1411543" y="3167146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75.2%</a:t>
            </a:r>
            <a:endParaRPr sz="4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596576" y="3405419"/>
            <a:ext cx="1517700" cy="280500"/>
          </a:xfrm>
          <a:prstGeom prst="roundRect">
            <a:avLst>
              <a:gd name="adj" fmla="val 9000"/>
            </a:avLst>
          </a:prstGeom>
          <a:solidFill>
            <a:srgbClr val="FCEAE3"/>
          </a:solidFill>
          <a:ln w="13000" cap="flat" cmpd="sng">
            <a:solidFill>
              <a:srgbClr val="E065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8"/>
          <p:cNvSpPr/>
          <p:nvPr/>
        </p:nvSpPr>
        <p:spPr>
          <a:xfrm>
            <a:off x="694934" y="3509138"/>
            <a:ext cx="73200" cy="729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spcFirstLastPara="1" wrap="square" lIns="28075" tIns="28075" rIns="28075" bIns="28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8"/>
          <p:cNvSpPr/>
          <p:nvPr/>
        </p:nvSpPr>
        <p:spPr>
          <a:xfrm>
            <a:off x="821394" y="3405419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1411543" y="3444664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613"/>
              <a:buFont typeface="Malgun Gothic"/>
              <a:buNone/>
            </a:pPr>
            <a:r>
              <a:rPr lang="ko" sz="613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sz="61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1411543" y="3545580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lang="ko" sz="409" b="0" i="0" u="none" strike="noStrike" cap="non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endParaRPr sz="40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38"/>
          <p:cNvCxnSpPr/>
          <p:nvPr/>
        </p:nvCxnSpPr>
        <p:spPr>
          <a:xfrm>
            <a:off x="6690463" y="1949100"/>
            <a:ext cx="0" cy="1139400"/>
          </a:xfrm>
          <a:prstGeom prst="straightConnector1">
            <a:avLst/>
          </a:prstGeom>
          <a:noFill/>
          <a:ln w="8550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p38"/>
          <p:cNvSpPr/>
          <p:nvPr/>
        </p:nvSpPr>
        <p:spPr>
          <a:xfrm>
            <a:off x="6134800" y="2056871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lang="ko" sz="1039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웨이퍼</a:t>
            </a:r>
            <a:endParaRPr sz="1039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6690463" y="2056871"/>
            <a:ext cx="1188900" cy="292500"/>
          </a:xfrm>
          <a:prstGeom prst="roundRect">
            <a:avLst>
              <a:gd name="adj" fmla="val 5263"/>
            </a:avLst>
          </a:prstGeom>
          <a:solidFill>
            <a:srgbClr val="4A90D9"/>
          </a:solidFill>
          <a:ln>
            <a:noFill/>
          </a:ln>
        </p:spPr>
        <p:txBody>
          <a:bodyPr spcFirstLastPara="1" wrap="square" lIns="30850" tIns="30850" rIns="30850" bIns="3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8"/>
          <p:cNvSpPr/>
          <p:nvPr/>
        </p:nvSpPr>
        <p:spPr>
          <a:xfrm>
            <a:off x="7499833" y="2056871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1.53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6134800" y="2549536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lang="ko" sz="1039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웨이퍼</a:t>
            </a:r>
            <a:endParaRPr sz="1039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6690463" y="2549536"/>
            <a:ext cx="1919100" cy="292500"/>
          </a:xfrm>
          <a:prstGeom prst="roundRect">
            <a:avLst>
              <a:gd name="adj" fmla="val 5263"/>
            </a:avLst>
          </a:prstGeom>
          <a:solidFill>
            <a:srgbClr val="E0654A"/>
          </a:solidFill>
          <a:ln>
            <a:noFill/>
          </a:ln>
        </p:spPr>
        <p:txBody>
          <a:bodyPr spcFirstLastPara="1" wrap="square" lIns="30850" tIns="30850" rIns="30850" bIns="3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8"/>
          <p:cNvSpPr/>
          <p:nvPr/>
        </p:nvSpPr>
        <p:spPr>
          <a:xfrm>
            <a:off x="8230236" y="2549536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2.47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6094650" y="1208150"/>
            <a:ext cx="26172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Pass/Fail 별 TTV After 평균값 비교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7" name="Google Shape;447;p38"/>
          <p:cNvCxnSpPr/>
          <p:nvPr/>
        </p:nvCxnSpPr>
        <p:spPr>
          <a:xfrm>
            <a:off x="8110358" y="1759621"/>
            <a:ext cx="6900" cy="131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8" name="Google Shape;448;p38"/>
          <p:cNvSpPr/>
          <p:nvPr/>
        </p:nvSpPr>
        <p:spPr>
          <a:xfrm>
            <a:off x="8058275" y="1668600"/>
            <a:ext cx="3387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lang="ko" sz="126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26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After_Crack, TTV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4" name="Google Shape;454;p3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5" name="Google Shape;455;p39"/>
          <p:cNvSpPr txBox="1"/>
          <p:nvPr/>
        </p:nvSpPr>
        <p:spPr>
          <a:xfrm>
            <a:off x="9931675" y="3391700"/>
            <a:ext cx="183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456" name="Google Shape;45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3350" y="683187"/>
            <a:ext cx="4228249" cy="31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625" y="735550"/>
            <a:ext cx="3474226" cy="304597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/ Crack After Scatter 간 상관계수: </a:t>
            </a:r>
            <a:r>
              <a:rPr lang="ko" sz="1200" b="1">
                <a:solidFill>
                  <a:srgbClr val="D64533"/>
                </a:solidFill>
                <a:latin typeface="Calibri"/>
                <a:ea typeface="Calibri"/>
                <a:cs typeface="Calibri"/>
                <a:sym typeface="Calibri"/>
              </a:rPr>
              <a:t>0.694</a:t>
            </a:r>
            <a:endParaRPr sz="1200" b="1">
              <a:solidFill>
                <a:srgbClr val="D645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크랙이 TTV를 일으킨다는 인과관계가 아니라, 동일 근본원인 공유 (척 평탄·휠 마모·테이프)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6"/>
              </a:highlight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/>
          <p:nvPr/>
        </p:nvSpPr>
        <p:spPr>
          <a:xfrm>
            <a:off x="198400" y="3624950"/>
            <a:ext cx="8826900" cy="1301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0"/>
          <p:cNvSpPr/>
          <p:nvPr/>
        </p:nvSpPr>
        <p:spPr>
          <a:xfrm>
            <a:off x="118650" y="864325"/>
            <a:ext cx="8906700" cy="2472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0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- Rough Grinding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40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40"/>
          <p:cNvSpPr/>
          <p:nvPr/>
        </p:nvSpPr>
        <p:spPr>
          <a:xfrm>
            <a:off x="495689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/>
          <p:cNvSpPr/>
          <p:nvPr/>
        </p:nvSpPr>
        <p:spPr>
          <a:xfrm>
            <a:off x="715695" y="1351009"/>
            <a:ext cx="453900" cy="4527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"/>
          <p:cNvSpPr/>
          <p:nvPr/>
        </p:nvSpPr>
        <p:spPr>
          <a:xfrm>
            <a:off x="715695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1286337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1E8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1286337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스크래치는 이미 개선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729446" y="2023093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후 스크래치 평균 2.93 → 1.24 감소.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Grinding 상태가 상대적으로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안정적이라는 신호.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3362647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3582653" y="1351009"/>
            <a:ext cx="453900" cy="4527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3582653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4153295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6FB5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2F6FB5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4153295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우선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3596404" y="2023093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개선 우선순위는 뒤로.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남은 과제인 크랙 저감을 위해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 b="0" i="0" u="none" strike="noStrike" cap="non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단계를 우선 개선.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6229605" y="1131553"/>
            <a:ext cx="2578200" cy="1851600"/>
          </a:xfrm>
          <a:prstGeom prst="roundRect">
            <a:avLst>
              <a:gd name="adj" fmla="val 3704"/>
            </a:avLst>
          </a:prstGeom>
          <a:solidFill>
            <a:srgbClr val="F6F8FA"/>
          </a:solidFill>
          <a:ln w="12700" cap="flat" cmpd="sng">
            <a:solidFill>
              <a:srgbClr val="E2E6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0"/>
          <p:cNvSpPr/>
          <p:nvPr/>
        </p:nvSpPr>
        <p:spPr>
          <a:xfrm>
            <a:off x="6449612" y="1351009"/>
            <a:ext cx="453900" cy="4527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6449612" y="1351009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＝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7020253" y="1364725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Malgun Gothic"/>
              <a:buNone/>
            </a:pPr>
            <a:r>
              <a:rPr lang="ko" sz="8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0"/>
          <p:cNvSpPr/>
          <p:nvPr/>
        </p:nvSpPr>
        <p:spPr>
          <a:xfrm>
            <a:off x="7020253" y="1515600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Crack, </a:t>
            </a:r>
            <a:r>
              <a:rPr lang="ko" sz="110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TTV</a:t>
            </a:r>
            <a:endParaRPr sz="1100" b="1">
              <a:solidFill>
                <a:srgbClr val="1F3A5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동반 개선 기대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0"/>
          <p:cNvSpPr/>
          <p:nvPr/>
        </p:nvSpPr>
        <p:spPr>
          <a:xfrm>
            <a:off x="6346449" y="2023100"/>
            <a:ext cx="234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Rough의 잔류응력이 크랙·TTV 공통 기점.</a:t>
            </a:r>
            <a:endParaRPr sz="900">
              <a:solidFill>
                <a:srgbClr val="3A424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lang="ko" sz="900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응력 저감 → 크랙·TTV 동시 개선.</a:t>
            </a:r>
            <a:endParaRPr sz="900">
              <a:solidFill>
                <a:srgbClr val="3A424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495700" y="3739250"/>
            <a:ext cx="83733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6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</a:t>
            </a:r>
            <a:r>
              <a:rPr lang="ko" sz="16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론</a:t>
            </a:r>
            <a:endParaRPr sz="1600" b="1">
              <a:solidFill>
                <a:srgbClr val="C0392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300" b="0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크랙·TTV를 줄이고 관리하는 방향으로 공정을 개선하되, 스크래치는 이미 개선된 만큼 Fine이 아닌 </a:t>
            </a:r>
            <a:r>
              <a:rPr lang="ko" sz="13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단계를 우선 개선</a:t>
            </a:r>
            <a:r>
              <a:rPr lang="ko" sz="1300" b="0" i="0" u="none" strike="noStrike" cap="non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3034154" y="1131553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AAB2BD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5901112" y="1131553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lang="ko" sz="1700" b="1" i="0" u="none" strike="noStrike" cap="none">
                <a:solidFill>
                  <a:srgbClr val="AAB2BD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이상 원인 분석 (Fishbone Diagram)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7728785" y="2338225"/>
            <a:ext cx="1340700" cy="1062900"/>
          </a:xfrm>
          <a:prstGeom prst="roundRect">
            <a:avLst>
              <a:gd name="adj" fmla="val 5161"/>
            </a:avLst>
          </a:prstGeom>
          <a:solidFill>
            <a:srgbClr val="1B3A5E"/>
          </a:solidFill>
          <a:ln>
            <a:noFill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7728785" y="2338225"/>
            <a:ext cx="13407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</a:t>
            </a:r>
            <a:b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발생</a:t>
            </a:r>
            <a:br>
              <a:rPr lang="ko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(Crack, Scratch)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091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4955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4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" name="Google Shape;502;p41"/>
          <p:cNvSpPr/>
          <p:nvPr/>
        </p:nvSpPr>
        <p:spPr>
          <a:xfrm>
            <a:off x="1334850" y="4464205"/>
            <a:ext cx="1684500" cy="534900"/>
          </a:xfrm>
          <a:prstGeom prst="roundRect">
            <a:avLst>
              <a:gd name="adj" fmla="val 11538"/>
            </a:avLst>
          </a:prstGeom>
          <a:solidFill>
            <a:srgbClr val="1B3A5E"/>
          </a:solidFill>
          <a:ln w="95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4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86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1"/>
          <p:cNvSpPr/>
          <p:nvPr/>
        </p:nvSpPr>
        <p:spPr>
          <a:xfrm>
            <a:off x="1712986" y="4464205"/>
            <a:ext cx="1272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Material</a:t>
            </a:r>
            <a:b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(자재)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4772450" y="4464205"/>
            <a:ext cx="1890600" cy="534900"/>
          </a:xfrm>
          <a:prstGeom prst="roundRect">
            <a:avLst>
              <a:gd name="adj" fmla="val 11538"/>
            </a:avLst>
          </a:prstGeom>
          <a:solidFill>
            <a:srgbClr val="1B3A5E"/>
          </a:solidFill>
          <a:ln w="95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675" tIns="68675" rIns="68675" bIns="68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4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62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1"/>
          <p:cNvSpPr/>
          <p:nvPr/>
        </p:nvSpPr>
        <p:spPr>
          <a:xfrm>
            <a:off x="5150585" y="4464205"/>
            <a:ext cx="1478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Environment</a:t>
            </a:r>
            <a:br>
              <a:rPr lang="ko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 b="0" i="0" u="none" strike="noStrike" cap="non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(환경)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41"/>
          <p:cNvCxnSpPr/>
          <p:nvPr/>
        </p:nvCxnSpPr>
        <p:spPr>
          <a:xfrm rot="10800000" flipH="1">
            <a:off x="5597577" y="2873005"/>
            <a:ext cx="893700" cy="1591200"/>
          </a:xfrm>
          <a:prstGeom prst="straightConnector1">
            <a:avLst/>
          </a:prstGeom>
          <a:noFill/>
          <a:ln w="349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9" name="Google Shape;509;p41"/>
          <p:cNvSpPr/>
          <p:nvPr/>
        </p:nvSpPr>
        <p:spPr>
          <a:xfrm>
            <a:off x="3927487" y="3462536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Particle 유입</a:t>
            </a:r>
            <a:endParaRPr sz="1000" b="0" i="0" u="none" strike="noStrike" cap="non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41"/>
          <p:cNvCxnSpPr/>
          <p:nvPr/>
        </p:nvCxnSpPr>
        <p:spPr>
          <a:xfrm>
            <a:off x="5680663" y="3651086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1" name="Google Shape;511;p41"/>
          <p:cNvSpPr/>
          <p:nvPr/>
        </p:nvSpPr>
        <p:spPr>
          <a:xfrm>
            <a:off x="4198752" y="2956542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진동 유입</a:t>
            </a:r>
            <a:endParaRPr sz="1000" b="0" i="0" u="none" strike="noStrike" cap="non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41"/>
          <p:cNvCxnSpPr/>
          <p:nvPr/>
        </p:nvCxnSpPr>
        <p:spPr>
          <a:xfrm>
            <a:off x="5951928" y="3145092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3" name="Google Shape;513;p41"/>
          <p:cNvCxnSpPr/>
          <p:nvPr/>
        </p:nvCxnSpPr>
        <p:spPr>
          <a:xfrm rot="10800000" flipH="1">
            <a:off x="1953826" y="2873005"/>
            <a:ext cx="893700" cy="1591200"/>
          </a:xfrm>
          <a:prstGeom prst="straightConnector1">
            <a:avLst/>
          </a:prstGeom>
          <a:noFill/>
          <a:ln w="34925" cap="flat" cmpd="sng">
            <a:solidFill>
              <a:srgbClr val="1B3A5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4" name="Google Shape;514;p41"/>
          <p:cNvGrpSpPr/>
          <p:nvPr/>
        </p:nvGrpSpPr>
        <p:grpSpPr>
          <a:xfrm>
            <a:off x="-10275" y="2956542"/>
            <a:ext cx="2662251" cy="1389089"/>
            <a:chOff x="-73212" y="2847167"/>
            <a:chExt cx="2662251" cy="1389089"/>
          </a:xfrm>
        </p:grpSpPr>
        <p:sp>
          <p:nvSpPr>
            <p:cNvPr id="515" name="Google Shape;515;p41"/>
            <p:cNvSpPr/>
            <p:nvPr/>
          </p:nvSpPr>
          <p:spPr>
            <a:xfrm>
              <a:off x="-73212" y="3859156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냉각수 품질 저하</a:t>
              </a:r>
              <a:endParaRPr sz="1000" b="0" i="0" u="none" strike="noStrike" cap="none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6" name="Google Shape;516;p41"/>
            <p:cNvCxnSpPr/>
            <p:nvPr/>
          </p:nvCxnSpPr>
          <p:spPr>
            <a:xfrm>
              <a:off x="1679964" y="4047706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17" name="Google Shape;517;p41"/>
            <p:cNvSpPr/>
            <p:nvPr/>
          </p:nvSpPr>
          <p:spPr>
            <a:xfrm>
              <a:off x="220798" y="3353161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자체 결함</a:t>
              </a:r>
              <a:endParaRPr sz="1000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8" name="Google Shape;518;p41"/>
            <p:cNvCxnSpPr/>
            <p:nvPr/>
          </p:nvCxnSpPr>
          <p:spPr>
            <a:xfrm>
              <a:off x="1973974" y="3541711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19" name="Google Shape;519;p41"/>
            <p:cNvSpPr/>
            <p:nvPr/>
          </p:nvSpPr>
          <p:spPr>
            <a:xfrm>
              <a:off x="492063" y="284716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BG Tape 이상</a:t>
              </a:r>
              <a:endParaRPr sz="1100">
                <a:solidFill>
                  <a:schemeClr val="dk1"/>
                </a:solidFill>
              </a:endParaRPr>
            </a:p>
          </p:txBody>
        </p:sp>
        <p:cxnSp>
          <p:nvCxnSpPr>
            <p:cNvPr id="520" name="Google Shape;520;p41"/>
            <p:cNvCxnSpPr/>
            <p:nvPr/>
          </p:nvCxnSpPr>
          <p:spPr>
            <a:xfrm>
              <a:off x="2245239" y="303571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21" name="Google Shape;521;p41"/>
          <p:cNvGrpSpPr/>
          <p:nvPr/>
        </p:nvGrpSpPr>
        <p:grpSpPr>
          <a:xfrm>
            <a:off x="-79235" y="760885"/>
            <a:ext cx="7773708" cy="2126124"/>
            <a:chOff x="-142172" y="651510"/>
            <a:chExt cx="7773708" cy="2126124"/>
          </a:xfrm>
        </p:grpSpPr>
        <p:cxnSp>
          <p:nvCxnSpPr>
            <p:cNvPr id="522" name="Google Shape;522;p41"/>
            <p:cNvCxnSpPr/>
            <p:nvPr/>
          </p:nvCxnSpPr>
          <p:spPr>
            <a:xfrm>
              <a:off x="378136" y="2777490"/>
              <a:ext cx="7253400" cy="0"/>
            </a:xfrm>
            <a:prstGeom prst="straightConnector1">
              <a:avLst/>
            </a:prstGeom>
            <a:noFill/>
            <a:ln w="889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23" name="Google Shape;523;p41"/>
            <p:cNvSpPr/>
            <p:nvPr/>
          </p:nvSpPr>
          <p:spPr>
            <a:xfrm>
              <a:off x="859400" y="651510"/>
              <a:ext cx="1890600" cy="534900"/>
            </a:xfrm>
            <a:prstGeom prst="roundRect">
              <a:avLst>
                <a:gd name="adj" fmla="val 11538"/>
              </a:avLst>
            </a:prstGeom>
            <a:solidFill>
              <a:srgbClr val="1B3A5E"/>
            </a:solidFill>
            <a:ln>
              <a:noFill/>
            </a:ln>
          </p:spPr>
          <p:txBody>
            <a:bodyPr spcFirstLastPara="1" wrap="square" lIns="68675" tIns="68675" rIns="68675" bIns="68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4" name="Google Shape;524;p41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3153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41"/>
            <p:cNvSpPr/>
            <p:nvPr/>
          </p:nvSpPr>
          <p:spPr>
            <a:xfrm>
              <a:off x="1237536" y="651510"/>
              <a:ext cx="147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675" tIns="34325" rIns="68675" bIns="34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Man / Method</a:t>
              </a:r>
              <a:b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(작업·공정)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4778263" y="651510"/>
              <a:ext cx="1753200" cy="534900"/>
            </a:xfrm>
            <a:prstGeom prst="roundRect">
              <a:avLst>
                <a:gd name="adj" fmla="val 11538"/>
              </a:avLst>
            </a:prstGeom>
            <a:solidFill>
              <a:srgbClr val="1B3A5E"/>
            </a:solidFill>
            <a:ln>
              <a:noFill/>
            </a:ln>
          </p:spPr>
          <p:txBody>
            <a:bodyPr spcFirstLastPara="1" wrap="square" lIns="68675" tIns="68675" rIns="68675" bIns="68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7" name="Google Shape;527;p41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02017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41"/>
            <p:cNvSpPr/>
            <p:nvPr/>
          </p:nvSpPr>
          <p:spPr>
            <a:xfrm>
              <a:off x="5156399" y="651510"/>
              <a:ext cx="1340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675" tIns="34325" rIns="68675" bIns="34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</a:t>
              </a:r>
              <a:br>
                <a:rPr lang="ko" sz="12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(장비)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9" name="Google Shape;529;p41"/>
            <p:cNvCxnSpPr/>
            <p:nvPr/>
          </p:nvCxnSpPr>
          <p:spPr>
            <a:xfrm>
              <a:off x="1821928" y="1186434"/>
              <a:ext cx="893700" cy="1591200"/>
            </a:xfrm>
            <a:prstGeom prst="straightConnector1">
              <a:avLst/>
            </a:prstGeom>
            <a:noFill/>
            <a:ln w="34925" cap="flat" cmpd="sng">
              <a:solidFill>
                <a:srgbClr val="1B3A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0" name="Google Shape;530;p41"/>
            <p:cNvCxnSpPr/>
            <p:nvPr/>
          </p:nvCxnSpPr>
          <p:spPr>
            <a:xfrm>
              <a:off x="5672039" y="1186434"/>
              <a:ext cx="893700" cy="1591200"/>
            </a:xfrm>
            <a:prstGeom prst="straightConnector1">
              <a:avLst/>
            </a:prstGeom>
            <a:noFill/>
            <a:ln w="34925" cap="flat" cmpd="sng">
              <a:solidFill>
                <a:srgbClr val="1B3A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1" name="Google Shape;531;p41"/>
            <p:cNvSpPr/>
            <p:nvPr/>
          </p:nvSpPr>
          <p:spPr>
            <a:xfrm>
              <a:off x="-14217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연삭 조건 과다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(Feed Rate, 연삭량, 압력 과다)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2" name="Google Shape;532;p41"/>
            <p:cNvCxnSpPr/>
            <p:nvPr/>
          </p:nvCxnSpPr>
          <p:spPr>
            <a:xfrm>
              <a:off x="1611004" y="1493558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3" name="Google Shape;533;p41"/>
            <p:cNvSpPr/>
            <p:nvPr/>
          </p:nvSpPr>
          <p:spPr>
            <a:xfrm>
              <a:off x="151838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Recipe </a:t>
              </a:r>
              <a:r>
                <a:rPr lang="ko" sz="1000" b="1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 </a:t>
              </a: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미흡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(Grinding, 냉각, 세정,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압력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4" name="Google Shape;534;p41"/>
            <p:cNvCxnSpPr/>
            <p:nvPr/>
          </p:nvCxnSpPr>
          <p:spPr>
            <a:xfrm>
              <a:off x="1905014" y="1999552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5" name="Google Shape;535;p41"/>
            <p:cNvSpPr/>
            <p:nvPr/>
          </p:nvSpPr>
          <p:spPr>
            <a:xfrm>
              <a:off x="423103" y="231699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작업 관리 미흡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6" name="Google Shape;536;p41"/>
            <p:cNvCxnSpPr/>
            <p:nvPr/>
          </p:nvCxnSpPr>
          <p:spPr>
            <a:xfrm>
              <a:off x="2176279" y="250554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7" name="Google Shape;537;p41"/>
            <p:cNvSpPr/>
            <p:nvPr/>
          </p:nvSpPr>
          <p:spPr>
            <a:xfrm>
              <a:off x="371973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Grinding Wheel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(Wheel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메쉬 크기,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마모, 오염)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8" name="Google Shape;538;p41"/>
            <p:cNvCxnSpPr/>
            <p:nvPr/>
          </p:nvCxnSpPr>
          <p:spPr>
            <a:xfrm>
              <a:off x="5472908" y="1493558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9" name="Google Shape;539;p41"/>
            <p:cNvSpPr/>
            <p:nvPr/>
          </p:nvSpPr>
          <p:spPr>
            <a:xfrm>
              <a:off x="4002344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Chuck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회전 속도 이상, 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평탄도 불량)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0" name="Google Shape;540;p41"/>
            <p:cNvCxnSpPr/>
            <p:nvPr/>
          </p:nvCxnSpPr>
          <p:spPr>
            <a:xfrm>
              <a:off x="5755519" y="1999552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41" name="Google Shape;541;p41"/>
            <p:cNvSpPr/>
            <p:nvPr/>
          </p:nvSpPr>
          <p:spPr>
            <a:xfrm>
              <a:off x="4104149" y="2316997"/>
              <a:ext cx="18906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센서 정밀도 · Calibration 이상</a:t>
              </a:r>
              <a:br>
                <a:rPr lang="ko" sz="1000" b="1" i="0" u="none" strike="noStrike" cap="non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(인라인 게이지, 냉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각</a:t>
              </a:r>
              <a:r>
                <a:rPr lang="ko" sz="800" b="0" i="0" u="none" strike="noStrike" cap="non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계)</a:t>
              </a:r>
              <a:endParaRPr sz="1000" b="1" i="0" u="none" strike="noStrike" cap="non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42" name="Google Shape;542;p41"/>
            <p:cNvCxnSpPr/>
            <p:nvPr/>
          </p:nvCxnSpPr>
          <p:spPr>
            <a:xfrm>
              <a:off x="6029333" y="2505547"/>
              <a:ext cx="343800" cy="0"/>
            </a:xfrm>
            <a:prstGeom prst="straightConnector1">
              <a:avLst/>
            </a:prstGeom>
            <a:noFill/>
            <a:ln w="25400" cap="flat" cmpd="sng">
              <a:solidFill>
                <a:srgbClr val="1B3A5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43" name="Google Shape;543;p41"/>
          <p:cNvSpPr/>
          <p:nvPr/>
        </p:nvSpPr>
        <p:spPr>
          <a:xfrm>
            <a:off x="3653347" y="3963374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중 열 변형</a:t>
            </a:r>
            <a:endParaRPr sz="10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44" name="Google Shape;544;p41"/>
          <p:cNvCxnSpPr/>
          <p:nvPr/>
        </p:nvCxnSpPr>
        <p:spPr>
          <a:xfrm>
            <a:off x="5406523" y="4151924"/>
            <a:ext cx="343800" cy="0"/>
          </a:xfrm>
          <a:prstGeom prst="straightConnector1">
            <a:avLst/>
          </a:prstGeom>
          <a:noFill/>
          <a:ln w="25400" cap="flat" cmpd="sng">
            <a:solidFill>
              <a:srgbClr val="1B3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5" name="Google Shape;545;p41"/>
          <p:cNvSpPr/>
          <p:nvPr/>
        </p:nvSpPr>
        <p:spPr>
          <a:xfrm>
            <a:off x="4198763" y="1848475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62938" y="1361375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272363" y="1848463"/>
            <a:ext cx="20970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1"/>
          <p:cNvSpPr/>
          <p:nvPr/>
        </p:nvSpPr>
        <p:spPr>
          <a:xfrm>
            <a:off x="4274963" y="2332610"/>
            <a:ext cx="2249400" cy="4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"/>
          <p:cNvSpPr/>
          <p:nvPr/>
        </p:nvSpPr>
        <p:spPr>
          <a:xfrm>
            <a:off x="118650" y="646792"/>
            <a:ext cx="8906700" cy="44673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분석 - Rough Grinding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4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56" name="Google Shape;556;p42"/>
          <p:cNvGraphicFramePr/>
          <p:nvPr/>
        </p:nvGraphicFramePr>
        <p:xfrm>
          <a:off x="370725" y="699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840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Rough Grinding 시 연삭 조건 과다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과도한 Feed Rate와 압력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Wafer Chuck 이상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이물질 점검, Chuck 평탄도 점검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Recipe 적용 미흡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 설정값 대비 장비 Actual 값 편차 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457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(Grinding, 냉각, 세정, 압력)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센서 정밀도 · Calibration 이상</a:t>
                      </a:r>
                      <a:endParaRPr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400"/>
                        <a:buFont typeface="Calibri"/>
                        <a:buChar char="-"/>
                      </a:pPr>
                      <a:r>
                        <a:rPr lang="ko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냉각계 온도 센서, 압력 센서, In-line 두께 계측기</a:t>
                      </a: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도출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p4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3" name="Google Shape;563;p43"/>
          <p:cNvSpPr/>
          <p:nvPr/>
        </p:nvSpPr>
        <p:spPr>
          <a:xfrm>
            <a:off x="225900" y="733350"/>
            <a:ext cx="8692200" cy="429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64" name="Google Shape;564;p43"/>
          <p:cNvGraphicFramePr/>
          <p:nvPr/>
        </p:nvGraphicFramePr>
        <p:xfrm>
          <a:off x="363963" y="83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1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센서 정밀도 Calibration 이상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3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Chuck 이상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시 연삭조건 과다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5" name="Google Shape;565;p43"/>
          <p:cNvGraphicFramePr/>
          <p:nvPr/>
        </p:nvGraphicFramePr>
        <p:xfrm>
          <a:off x="1638038" y="83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 set - 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교차 검증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센서 Calibration 실시 및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여부 점검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이물, 평탄도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 및 세정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주요 Parameter 점검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Feed Rate/RPM/가공압력 이상 여부 확인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6" name="Google Shape;566;p43"/>
          <p:cNvGraphicFramePr/>
          <p:nvPr/>
        </p:nvGraphicFramePr>
        <p:xfrm>
          <a:off x="4060363" y="836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- 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허용 편차 기준 설정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주기 및 허용오차 기준 설정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평탄도 및 Vacuum 관리 기준 설정 및 PM 주기 최적화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조건별 TTV-Crack 영향 검증 및 최적화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7" name="Google Shape;567;p43"/>
          <p:cNvGraphicFramePr/>
          <p:nvPr/>
        </p:nvGraphicFramePr>
        <p:xfrm>
          <a:off x="6482688" y="83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22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장기 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Recipe-Actual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 모니터링 체계 구축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SPC 기반 이상 감지 체계 구축 - Parameter Trend/관리한계 관리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설비 Predictive Maintenance 구축 - Chuck 평탄도/ Vacuum 이상 사전 감지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SPC 기반 이상 감지 체계 구축 - Parameter Trend/관리한계 관리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8" name="Google Shape;568;p43"/>
          <p:cNvSpPr/>
          <p:nvPr/>
        </p:nvSpPr>
        <p:spPr>
          <a:xfrm>
            <a:off x="1638013" y="2137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센서 Calibration 실시 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이상 여부 점검</a:t>
            </a:r>
            <a:endParaRPr/>
          </a:p>
        </p:txBody>
      </p:sp>
      <p:sp>
        <p:nvSpPr>
          <p:cNvPr id="569" name="Google Shape;569;p43"/>
          <p:cNvSpPr/>
          <p:nvPr/>
        </p:nvSpPr>
        <p:spPr>
          <a:xfrm>
            <a:off x="4060338" y="1232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- Actual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허용 편차 기준 설정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1638013" y="3042938"/>
            <a:ext cx="2297400" cy="8916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Chuck 이물, 평탄도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점검 및 세정</a:t>
            </a:r>
            <a:endParaRPr/>
          </a:p>
        </p:txBody>
      </p:sp>
      <p:sp>
        <p:nvSpPr>
          <p:cNvPr id="571" name="Google Shape;571;p43"/>
          <p:cNvSpPr/>
          <p:nvPr/>
        </p:nvSpPr>
        <p:spPr>
          <a:xfrm>
            <a:off x="4060338" y="3947938"/>
            <a:ext cx="2297400" cy="9753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Rough Grinding 조건별 TTV-Crack 영향 검증 및 최적화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비교 및 최적안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4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8" name="Google Shape;578;p44"/>
          <p:cNvSpPr/>
          <p:nvPr/>
        </p:nvSpPr>
        <p:spPr>
          <a:xfrm>
            <a:off x="142625" y="780875"/>
            <a:ext cx="8860800" cy="420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79" name="Google Shape;579;p44"/>
          <p:cNvGraphicFramePr/>
          <p:nvPr/>
        </p:nvGraphicFramePr>
        <p:xfrm>
          <a:off x="230238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87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효과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리스크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적용 난이도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비용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0" name="Google Shape;580;p44"/>
          <p:cNvGraphicFramePr/>
          <p:nvPr/>
        </p:nvGraphicFramePr>
        <p:xfrm>
          <a:off x="1203549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Recipe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기준 재정립으로 인한 공정 조건 안정화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관리 강화에 따른 공정 유연성 저하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Parameter 비교로 적용 용이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데이터 활용으로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추가 비용 낮음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1" name="Google Shape;581;p44"/>
          <p:cNvGraphicFramePr/>
          <p:nvPr/>
        </p:nvGraphicFramePr>
        <p:xfrm>
          <a:off x="3156632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신뢰성 확보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중 측정/설비 사용 제한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절차 활용으로 적용 용이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및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정기 점검 비용 발생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2" name="Google Shape;582;p44"/>
          <p:cNvGraphicFramePr/>
          <p:nvPr/>
        </p:nvGraphicFramePr>
        <p:xfrm>
          <a:off x="5109694" y="874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국부 응력 저감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점검/정비 중 설비 가동 제한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평탄도/Vacuum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 및 관리기준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설정 필요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세정/점검/부품 교체 비용 발생 가능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3" name="Google Shape;583;p44"/>
          <p:cNvGraphicFramePr/>
          <p:nvPr/>
        </p:nvGraphicFramePr>
        <p:xfrm>
          <a:off x="7062764" y="88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8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발생 저감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 변경 시 TTV/생산성/품질 변동 가능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조건별 영향 검증 및 DOE 필요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 및 공정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검증에 따른 시간과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비용 발생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계획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4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45"/>
          <p:cNvSpPr/>
          <p:nvPr/>
        </p:nvSpPr>
        <p:spPr>
          <a:xfrm>
            <a:off x="228150" y="705925"/>
            <a:ext cx="8692200" cy="43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91" name="Google Shape;591;p45"/>
          <p:cNvGraphicFramePr/>
          <p:nvPr/>
        </p:nvGraphicFramePr>
        <p:xfrm>
          <a:off x="356425" y="81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{3C580D04-48D9-45AF-B97A-FEFABB055706}</a:tableStyleId>
              </a:tblPr>
              <a:tblGrid>
                <a:gridCol w="12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3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 문제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원인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개선안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기대효과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담당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완료 예정일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rgbClr val="1B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- Actual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허용 편차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기준 설정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증가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불량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Recipe Set-Actual 편차 가능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</a:rPr>
                        <a:t>공정조건 안정화 →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Crack 및 TTV 불량 감소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2026.08.31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(3주)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실시 및</a:t>
                      </a:r>
                      <a:endParaRPr sz="1200"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여부 점검</a:t>
                      </a:r>
                      <a:endParaRPr sz="1200" b="1">
                        <a:solidFill>
                          <a:srgbClr val="1A1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측정 이상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Calibration 이상/Drift 가능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신뢰성 확보 </a:t>
                      </a:r>
                      <a:r>
                        <a:rPr lang="ko" sz="1200">
                          <a:solidFill>
                            <a:schemeClr val="dk1"/>
                          </a:solidFill>
                        </a:rPr>
                        <a:t>→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TTV 오판 방지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성OO프로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Chuck 이상 점검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불량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증가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이물, 평탄도, Vacuum 이상 가능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Wafer 지지 안정화 및 이물 제거 </a:t>
                      </a:r>
                      <a:r>
                        <a:rPr lang="ko" sz="1200">
                          <a:solidFill>
                            <a:schemeClr val="dk1"/>
                          </a:solidFill>
                        </a:rPr>
                        <a:t>→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TTV/Scratch 개선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200" b="1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Rough Grinding 연삭조건 최적화 및 관리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증가 TTV 불량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연삭 조건에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따른 불균일/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과도 하중 가능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안정화 및 Crack 감소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2026.09.10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(30일)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2" name="Google Shape;592;p45"/>
          <p:cNvSpPr/>
          <p:nvPr/>
        </p:nvSpPr>
        <p:spPr>
          <a:xfrm>
            <a:off x="3963925" y="1256750"/>
            <a:ext cx="1419300" cy="9144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</a:rPr>
              <a:t>주요 Parameter별 </a:t>
            </a:r>
            <a:endParaRPr sz="1200" b="1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</a:rPr>
              <a:t>Set-Actual  허용 편차 기준 설정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3963925" y="2172525"/>
            <a:ext cx="1419300" cy="9144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Sensor Calibration 및 측정값 교차검증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3963925" y="3086925"/>
            <a:ext cx="1419300" cy="9144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Chuck 세정 및 평탄도/Vacuum 상태 점검</a:t>
            </a:r>
            <a:endParaRPr sz="1200" b="1">
              <a:solidFill>
                <a:srgbClr val="000000"/>
              </a:solidFill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3963925" y="4004075"/>
            <a:ext cx="1419300" cy="914400"/>
          </a:xfrm>
          <a:prstGeom prst="rect">
            <a:avLst/>
          </a:prstGeom>
          <a:solidFill>
            <a:srgbClr val="E4F5F1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Feed Rate/</a:t>
            </a:r>
            <a:endParaRPr sz="12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RPM/가공 압력별 영향 검증 및 최적화</a:t>
            </a:r>
            <a:endParaRPr sz="12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6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실행계획</a:t>
            </a:r>
            <a:endParaRPr sz="1100"/>
          </a:p>
        </p:txBody>
      </p:sp>
      <p:sp>
        <p:nvSpPr>
          <p:cNvPr id="602" name="Google Shape;602;p46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실행계획은 문제-원인-개선안-효과의 연결을 유지한다</a:t>
            </a:r>
            <a:endParaRPr sz="1100"/>
          </a:p>
        </p:txBody>
      </p:sp>
      <p:sp>
        <p:nvSpPr>
          <p:cNvPr id="603" name="Google Shape;603;p46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원본 표의 핵심 내용은 유지하되, 담당과 일정은 보조 정보로 낮춰 발표자가 흐름을 설명하기 쉽게 정리한다.</a:t>
            </a:r>
            <a:endParaRPr sz="1100"/>
          </a:p>
        </p:txBody>
      </p:sp>
      <p:sp>
        <p:nvSpPr>
          <p:cNvPr id="604" name="Google Shape;604;p46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23R</a:t>
            </a:r>
            <a:endParaRPr sz="1100"/>
          </a:p>
        </p:txBody>
      </p:sp>
      <p:sp>
        <p:nvSpPr>
          <p:cNvPr id="605" name="Google Shape;605;p46"/>
          <p:cNvSpPr/>
          <p:nvPr/>
        </p:nvSpPr>
        <p:spPr>
          <a:xfrm>
            <a:off x="342900" y="1400175"/>
            <a:ext cx="8086725" cy="2828925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6"/>
          <p:cNvSpPr/>
          <p:nvPr/>
        </p:nvSpPr>
        <p:spPr>
          <a:xfrm>
            <a:off x="342900" y="1400175"/>
            <a:ext cx="8086725" cy="314325"/>
          </a:xfrm>
          <a:prstGeom prst="rect">
            <a:avLst/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6"/>
          <p:cNvSpPr/>
          <p:nvPr/>
        </p:nvSpPr>
        <p:spPr>
          <a:xfrm>
            <a:off x="400050" y="1485900"/>
            <a:ext cx="9858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항목</a:t>
            </a:r>
            <a:endParaRPr sz="1100"/>
          </a:p>
        </p:txBody>
      </p:sp>
      <p:sp>
        <p:nvSpPr>
          <p:cNvPr id="608" name="Google Shape;608;p46"/>
          <p:cNvSpPr/>
          <p:nvPr/>
        </p:nvSpPr>
        <p:spPr>
          <a:xfrm>
            <a:off x="1500188" y="1485900"/>
            <a:ext cx="9715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현재 문제</a:t>
            </a:r>
            <a:endParaRPr sz="1100"/>
          </a:p>
        </p:txBody>
      </p:sp>
      <p:sp>
        <p:nvSpPr>
          <p:cNvPr id="609" name="Google Shape;609;p46"/>
          <p:cNvSpPr/>
          <p:nvPr/>
        </p:nvSpPr>
        <p:spPr>
          <a:xfrm>
            <a:off x="2586038" y="1485900"/>
            <a:ext cx="124301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원인</a:t>
            </a:r>
            <a:endParaRPr sz="1100"/>
          </a:p>
        </p:txBody>
      </p:sp>
      <p:sp>
        <p:nvSpPr>
          <p:cNvPr id="610" name="Google Shape;610;p46"/>
          <p:cNvSpPr/>
          <p:nvPr/>
        </p:nvSpPr>
        <p:spPr>
          <a:xfrm>
            <a:off x="3943350" y="1485900"/>
            <a:ext cx="164306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개선안</a:t>
            </a:r>
            <a:endParaRPr sz="1100"/>
          </a:p>
        </p:txBody>
      </p:sp>
      <p:sp>
        <p:nvSpPr>
          <p:cNvPr id="611" name="Google Shape;611;p46"/>
          <p:cNvSpPr/>
          <p:nvPr/>
        </p:nvSpPr>
        <p:spPr>
          <a:xfrm>
            <a:off x="5700713" y="1485900"/>
            <a:ext cx="152876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기대효과</a:t>
            </a:r>
            <a:endParaRPr sz="1100"/>
          </a:p>
        </p:txBody>
      </p:sp>
      <p:sp>
        <p:nvSpPr>
          <p:cNvPr id="612" name="Google Shape;612;p46"/>
          <p:cNvSpPr/>
          <p:nvPr/>
        </p:nvSpPr>
        <p:spPr>
          <a:xfrm>
            <a:off x="7343775" y="1485900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</a:rPr>
              <a:t>담당/일정</a:t>
            </a:r>
            <a:endParaRPr sz="1100"/>
          </a:p>
        </p:txBody>
      </p:sp>
      <p:sp>
        <p:nvSpPr>
          <p:cNvPr id="613" name="Google Shape;613;p46"/>
          <p:cNvSpPr/>
          <p:nvPr/>
        </p:nvSpPr>
        <p:spPr>
          <a:xfrm>
            <a:off x="342900" y="1714500"/>
            <a:ext cx="8086725" cy="628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6"/>
          <p:cNvSpPr/>
          <p:nvPr/>
        </p:nvSpPr>
        <p:spPr>
          <a:xfrm>
            <a:off x="400050" y="1857375"/>
            <a:ext cx="98583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Set-Actual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허용 편차</a:t>
            </a:r>
            <a:endParaRPr sz="1100"/>
          </a:p>
        </p:txBody>
      </p:sp>
      <p:sp>
        <p:nvSpPr>
          <p:cNvPr id="615" name="Google Shape;615;p46"/>
          <p:cNvSpPr/>
          <p:nvPr/>
        </p:nvSpPr>
        <p:spPr>
          <a:xfrm>
            <a:off x="1500188" y="1857375"/>
            <a:ext cx="971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Crack 증가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TTV 불량</a:t>
            </a:r>
            <a:endParaRPr sz="1100"/>
          </a:p>
        </p:txBody>
      </p:sp>
      <p:sp>
        <p:nvSpPr>
          <p:cNvPr id="616" name="Google Shape;616;p46"/>
          <p:cNvSpPr/>
          <p:nvPr/>
        </p:nvSpPr>
        <p:spPr>
          <a:xfrm>
            <a:off x="2586038" y="1857375"/>
            <a:ext cx="12430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Recipe Set-Actual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편차 가능</a:t>
            </a:r>
            <a:endParaRPr sz="1100"/>
          </a:p>
        </p:txBody>
      </p:sp>
      <p:sp>
        <p:nvSpPr>
          <p:cNvPr id="617" name="Google Shape;617;p46"/>
          <p:cNvSpPr/>
          <p:nvPr/>
        </p:nvSpPr>
        <p:spPr>
          <a:xfrm>
            <a:off x="3943350" y="1800225"/>
            <a:ext cx="1643063" cy="4572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6"/>
          <p:cNvSpPr/>
          <p:nvPr/>
        </p:nvSpPr>
        <p:spPr>
          <a:xfrm>
            <a:off x="4000500" y="1900238"/>
            <a:ext cx="1528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주요 Parameter별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Set-Actual 허용 편차 기준 설정</a:t>
            </a:r>
            <a:endParaRPr sz="1100"/>
          </a:p>
        </p:txBody>
      </p:sp>
      <p:sp>
        <p:nvSpPr>
          <p:cNvPr id="619" name="Google Shape;619;p46"/>
          <p:cNvSpPr/>
          <p:nvPr/>
        </p:nvSpPr>
        <p:spPr>
          <a:xfrm>
            <a:off x="5700713" y="1857375"/>
            <a:ext cx="15287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공정조건 안정화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→ Crack/TTV 감소</a:t>
            </a:r>
            <a:endParaRPr sz="1100"/>
          </a:p>
        </p:txBody>
      </p:sp>
      <p:sp>
        <p:nvSpPr>
          <p:cNvPr id="620" name="Google Shape;620;p46"/>
          <p:cNvSpPr/>
          <p:nvPr/>
        </p:nvSpPr>
        <p:spPr>
          <a:xfrm>
            <a:off x="7343775" y="1857375"/>
            <a:ext cx="10287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김OO프로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3주</a:t>
            </a:r>
            <a:endParaRPr sz="1100"/>
          </a:p>
        </p:txBody>
      </p:sp>
      <p:sp>
        <p:nvSpPr>
          <p:cNvPr id="621" name="Google Shape;621;p46"/>
          <p:cNvSpPr/>
          <p:nvPr/>
        </p:nvSpPr>
        <p:spPr>
          <a:xfrm>
            <a:off x="342900" y="2343150"/>
            <a:ext cx="8086725" cy="628650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6"/>
          <p:cNvSpPr/>
          <p:nvPr/>
        </p:nvSpPr>
        <p:spPr>
          <a:xfrm>
            <a:off x="400050" y="2486025"/>
            <a:ext cx="98583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Sensor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Calibration</a:t>
            </a:r>
            <a:endParaRPr sz="1100"/>
          </a:p>
        </p:txBody>
      </p:sp>
      <p:sp>
        <p:nvSpPr>
          <p:cNvPr id="623" name="Google Shape;623;p46"/>
          <p:cNvSpPr/>
          <p:nvPr/>
        </p:nvSpPr>
        <p:spPr>
          <a:xfrm>
            <a:off x="1500188" y="2486025"/>
            <a:ext cx="971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TTV 측정 이상</a:t>
            </a:r>
            <a:endParaRPr sz="1100"/>
          </a:p>
        </p:txBody>
      </p:sp>
      <p:sp>
        <p:nvSpPr>
          <p:cNvPr id="624" name="Google Shape;624;p46"/>
          <p:cNvSpPr/>
          <p:nvPr/>
        </p:nvSpPr>
        <p:spPr>
          <a:xfrm>
            <a:off x="2586038" y="2486025"/>
            <a:ext cx="12430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Sensor Calibration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이상/Drift 가능</a:t>
            </a:r>
            <a:endParaRPr sz="1100"/>
          </a:p>
        </p:txBody>
      </p:sp>
      <p:sp>
        <p:nvSpPr>
          <p:cNvPr id="625" name="Google Shape;625;p46"/>
          <p:cNvSpPr/>
          <p:nvPr/>
        </p:nvSpPr>
        <p:spPr>
          <a:xfrm>
            <a:off x="3943350" y="2428875"/>
            <a:ext cx="1643063" cy="4572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6"/>
          <p:cNvSpPr/>
          <p:nvPr/>
        </p:nvSpPr>
        <p:spPr>
          <a:xfrm>
            <a:off x="4000500" y="2528888"/>
            <a:ext cx="1528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Sensor Calibration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및 측정값 교차검증</a:t>
            </a:r>
            <a:endParaRPr sz="1100"/>
          </a:p>
        </p:txBody>
      </p:sp>
      <p:sp>
        <p:nvSpPr>
          <p:cNvPr id="627" name="Google Shape;627;p46"/>
          <p:cNvSpPr/>
          <p:nvPr/>
        </p:nvSpPr>
        <p:spPr>
          <a:xfrm>
            <a:off x="5700713" y="2486025"/>
            <a:ext cx="15287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측정 신뢰성 확보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→ TTV 오판 방지</a:t>
            </a:r>
            <a:endParaRPr sz="1100"/>
          </a:p>
        </p:txBody>
      </p:sp>
      <p:sp>
        <p:nvSpPr>
          <p:cNvPr id="628" name="Google Shape;628;p46"/>
          <p:cNvSpPr/>
          <p:nvPr/>
        </p:nvSpPr>
        <p:spPr>
          <a:xfrm>
            <a:off x="7343775" y="2486025"/>
            <a:ext cx="10287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성OO프로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즉시</a:t>
            </a:r>
            <a:endParaRPr sz="1100"/>
          </a:p>
        </p:txBody>
      </p:sp>
      <p:sp>
        <p:nvSpPr>
          <p:cNvPr id="629" name="Google Shape;629;p46"/>
          <p:cNvSpPr/>
          <p:nvPr/>
        </p:nvSpPr>
        <p:spPr>
          <a:xfrm>
            <a:off x="342900" y="2971800"/>
            <a:ext cx="8086725" cy="6286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6"/>
          <p:cNvSpPr/>
          <p:nvPr/>
        </p:nvSpPr>
        <p:spPr>
          <a:xfrm>
            <a:off x="400050" y="3114675"/>
            <a:ext cx="98583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Wafer Chuck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상태 점검</a:t>
            </a:r>
            <a:endParaRPr sz="1100"/>
          </a:p>
        </p:txBody>
      </p:sp>
      <p:sp>
        <p:nvSpPr>
          <p:cNvPr id="631" name="Google Shape;631;p46"/>
          <p:cNvSpPr/>
          <p:nvPr/>
        </p:nvSpPr>
        <p:spPr>
          <a:xfrm>
            <a:off x="1500188" y="3114675"/>
            <a:ext cx="971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TTV 불량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Scratch 증가</a:t>
            </a:r>
            <a:endParaRPr sz="1100"/>
          </a:p>
        </p:txBody>
      </p:sp>
      <p:sp>
        <p:nvSpPr>
          <p:cNvPr id="632" name="Google Shape;632;p46"/>
          <p:cNvSpPr/>
          <p:nvPr/>
        </p:nvSpPr>
        <p:spPr>
          <a:xfrm>
            <a:off x="2586038" y="3114675"/>
            <a:ext cx="12430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Chuck 이물·평탄도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Vacuum 이상 가능</a:t>
            </a:r>
            <a:endParaRPr sz="1100"/>
          </a:p>
        </p:txBody>
      </p:sp>
      <p:sp>
        <p:nvSpPr>
          <p:cNvPr id="633" name="Google Shape;633;p46"/>
          <p:cNvSpPr/>
          <p:nvPr/>
        </p:nvSpPr>
        <p:spPr>
          <a:xfrm>
            <a:off x="3943350" y="3057525"/>
            <a:ext cx="1643063" cy="4572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6"/>
          <p:cNvSpPr/>
          <p:nvPr/>
        </p:nvSpPr>
        <p:spPr>
          <a:xfrm>
            <a:off x="4000500" y="3157538"/>
            <a:ext cx="1528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Chuck 세정 및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평탄도/Vacuum 상태 점검</a:t>
            </a:r>
            <a:endParaRPr sz="1100"/>
          </a:p>
        </p:txBody>
      </p:sp>
      <p:sp>
        <p:nvSpPr>
          <p:cNvPr id="635" name="Google Shape;635;p46"/>
          <p:cNvSpPr/>
          <p:nvPr/>
        </p:nvSpPr>
        <p:spPr>
          <a:xfrm>
            <a:off x="5700713" y="3114675"/>
            <a:ext cx="15287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Wafer 지지 안정화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→ TTV/Scratch 개선</a:t>
            </a:r>
            <a:endParaRPr sz="1100"/>
          </a:p>
        </p:txBody>
      </p:sp>
      <p:sp>
        <p:nvSpPr>
          <p:cNvPr id="636" name="Google Shape;636;p46"/>
          <p:cNvSpPr/>
          <p:nvPr/>
        </p:nvSpPr>
        <p:spPr>
          <a:xfrm>
            <a:off x="7343775" y="3114675"/>
            <a:ext cx="10287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정OO프로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즉시</a:t>
            </a:r>
            <a:endParaRPr sz="1100"/>
          </a:p>
        </p:txBody>
      </p:sp>
      <p:sp>
        <p:nvSpPr>
          <p:cNvPr id="637" name="Google Shape;637;p46"/>
          <p:cNvSpPr/>
          <p:nvPr/>
        </p:nvSpPr>
        <p:spPr>
          <a:xfrm>
            <a:off x="342900" y="3600450"/>
            <a:ext cx="8086725" cy="628650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6"/>
          <p:cNvSpPr/>
          <p:nvPr/>
        </p:nvSpPr>
        <p:spPr>
          <a:xfrm>
            <a:off x="400050" y="3743325"/>
            <a:ext cx="98583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Rough Grinding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73657"/>
                </a:solidFill>
              </a:rPr>
              <a:t>조건 최적화</a:t>
            </a:r>
            <a:endParaRPr sz="1100"/>
          </a:p>
        </p:txBody>
      </p:sp>
      <p:sp>
        <p:nvSpPr>
          <p:cNvPr id="639" name="Google Shape;639;p46"/>
          <p:cNvSpPr/>
          <p:nvPr/>
        </p:nvSpPr>
        <p:spPr>
          <a:xfrm>
            <a:off x="1500188" y="3743325"/>
            <a:ext cx="971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Crack 증가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TTV 불량</a:t>
            </a:r>
            <a:endParaRPr sz="1100"/>
          </a:p>
        </p:txBody>
      </p:sp>
      <p:sp>
        <p:nvSpPr>
          <p:cNvPr id="640" name="Google Shape;640;p46"/>
          <p:cNvSpPr/>
          <p:nvPr/>
        </p:nvSpPr>
        <p:spPr>
          <a:xfrm>
            <a:off x="2586038" y="3743325"/>
            <a:ext cx="12430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연삭 조건에 따른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불균일/과도 하중 가능</a:t>
            </a:r>
            <a:endParaRPr sz="1100"/>
          </a:p>
        </p:txBody>
      </p:sp>
      <p:sp>
        <p:nvSpPr>
          <p:cNvPr id="641" name="Google Shape;641;p46"/>
          <p:cNvSpPr/>
          <p:nvPr/>
        </p:nvSpPr>
        <p:spPr>
          <a:xfrm>
            <a:off x="3943350" y="3686175"/>
            <a:ext cx="1643063" cy="457200"/>
          </a:xfrm>
          <a:prstGeom prst="roundRect">
            <a:avLst>
              <a:gd name="adj" fmla="val 3125"/>
            </a:avLst>
          </a:prstGeom>
          <a:solidFill>
            <a:srgbClr val="E8F7F2"/>
          </a:solidFill>
          <a:ln w="9525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6"/>
          <p:cNvSpPr/>
          <p:nvPr/>
        </p:nvSpPr>
        <p:spPr>
          <a:xfrm>
            <a:off x="4000500" y="3786188"/>
            <a:ext cx="1528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Feed Rate/RPM/압력별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73657"/>
                </a:solidFill>
              </a:rPr>
              <a:t>영향 검증 및 최적화</a:t>
            </a:r>
            <a:endParaRPr sz="1100"/>
          </a:p>
        </p:txBody>
      </p:sp>
      <p:sp>
        <p:nvSpPr>
          <p:cNvPr id="643" name="Google Shape;643;p46"/>
          <p:cNvSpPr/>
          <p:nvPr/>
        </p:nvSpPr>
        <p:spPr>
          <a:xfrm>
            <a:off x="5700713" y="3743325"/>
            <a:ext cx="15287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TTV 안정화 및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Crack 감소</a:t>
            </a:r>
            <a:endParaRPr sz="1100"/>
          </a:p>
        </p:txBody>
      </p:sp>
      <p:sp>
        <p:nvSpPr>
          <p:cNvPr id="644" name="Google Shape;644;p46"/>
          <p:cNvSpPr/>
          <p:nvPr/>
        </p:nvSpPr>
        <p:spPr>
          <a:xfrm>
            <a:off x="7343775" y="3743325"/>
            <a:ext cx="10287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한OO프로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이OO프로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1개월</a:t>
            </a:r>
            <a:endParaRPr sz="1100"/>
          </a:p>
        </p:txBody>
      </p:sp>
      <p:sp>
        <p:nvSpPr>
          <p:cNvPr id="645" name="Google Shape;645;p46"/>
          <p:cNvSpPr/>
          <p:nvPr/>
        </p:nvSpPr>
        <p:spPr>
          <a:xfrm>
            <a:off x="514350" y="4414838"/>
            <a:ext cx="7500938" cy="314325"/>
          </a:xfrm>
          <a:prstGeom prst="roundRect">
            <a:avLst>
              <a:gd name="adj" fmla="val 13636"/>
            </a:avLst>
          </a:prstGeom>
          <a:solidFill>
            <a:srgbClr val="EAF3FA"/>
          </a:solidFill>
          <a:ln w="9525" cap="flat" cmpd="sng">
            <a:solidFill>
              <a:srgbClr val="C7DF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6"/>
          <p:cNvSpPr/>
          <p:nvPr/>
        </p:nvSpPr>
        <p:spPr>
          <a:xfrm>
            <a:off x="700088" y="4507706"/>
            <a:ext cx="65722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읽는 순서</a:t>
            </a:r>
            <a:endParaRPr sz="1100"/>
          </a:p>
        </p:txBody>
      </p:sp>
      <p:sp>
        <p:nvSpPr>
          <p:cNvPr id="647" name="Google Shape;647;p46"/>
          <p:cNvSpPr/>
          <p:nvPr/>
        </p:nvSpPr>
        <p:spPr>
          <a:xfrm>
            <a:off x="1457325" y="4500563"/>
            <a:ext cx="5572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각 행은 ‘문제가 왜 생겼고 → 무엇을 조치하며 → 어떤 효과를 확인할지’ 순서로 설명한다.</a:t>
            </a:r>
            <a:endParaRPr sz="1100"/>
          </a:p>
        </p:txBody>
      </p:sp>
      <p:sp>
        <p:nvSpPr>
          <p:cNvPr id="648" name="Google Shape;648;p46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22p 실행계획 표의 항목·문제·원인·개선안·기대효과·담당·일정.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3" name="Google Shape;653;p4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4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 실행 계획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7"/>
          <p:cNvSpPr/>
          <p:nvPr/>
        </p:nvSpPr>
        <p:spPr>
          <a:xfrm>
            <a:off x="228150" y="687550"/>
            <a:ext cx="8692200" cy="439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9AA0B5">
                <a:alpha val="2784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56" name="Google Shape;656;p47"/>
          <p:cNvGraphicFramePr/>
          <p:nvPr/>
        </p:nvGraphicFramePr>
        <p:xfrm>
          <a:off x="380436" y="753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{0B073BFF-6206-4ADD-8F78-D1DC4713D43E}</a:tableStyleId>
              </a:tblPr>
              <a:tblGrid>
                <a:gridCol w="115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개선</a:t>
                      </a: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 항목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기준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Follow-up Plan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8750" marR="68750" marT="34300" marB="343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① Rough Grinding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 최적화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~09.10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(30일)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주요 Parameter별 Crack·TTV 영향 검증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Feed Rate (100%, 105%, 110%)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RPM (100%, 105%, 110%)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가공압력 (100%, 95%, 90%)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단계별 조정 → Crack·TTV 변화 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Crack·TTV Spec 동시 만족 조건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&lt; 3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&lt;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도출 조건 Recipe 반영·표준화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양산 적용 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 모니터링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② Recipe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Set-Actual 기준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~08.31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(3주)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주요 Parameter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Set값 vs Actual 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정상/불량군 간 Parameter 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Crack·TTV와 Parameter 영향 관계 분석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품질 영향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 식별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Parameter별 허용 편차 기준 수립 및 시스템 등록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초과 시 알람·인터록 연계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주기적 기준 재검토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③ Wafer Chuck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점검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표면 이물·평탄도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Vacuum 흡착압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세정 전후 TTV·Scratch 비교</a:t>
                      </a:r>
                      <a:endParaRPr sz="1200" u="none" strike="noStrike" cap="non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위치와 Wafer 이상 위치 Mapping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평탄도· Vacuum 관리 기준 만족 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세정 전 대비 TTV/Scratch 개선 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정기 세정·점검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주기 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열화 시 재가공/</a:t>
                      </a:r>
                      <a:endParaRPr sz="1200" u="none" strike="noStrike" cap="non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교체 기준 운영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④ Sensor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성OO프로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b="1" u="none" strike="noStrike" cap="non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In-line 두께 계측기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Wafer·기준 계측기와 측정값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전후 측정값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TTV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오차</a:t>
                      </a: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검증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대비 측정편차 규격 만족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반복 측정 시 Repeatability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strike="noStrike" cap="non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주기 표준 수립 → 이상 시 재교정·계측기 이중화 검토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750" marR="47750" marT="38100" marB="38100" anchor="ctr">
                    <a:lnL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1" name="Google Shape;661;p48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48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①만 최적화 할 경우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63" name="Google Shape;6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25" y="713025"/>
            <a:ext cx="4073550" cy="434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500" y="713025"/>
            <a:ext cx="4710101" cy="434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45207"/>
            <a:ext cx="9144001" cy="311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0" name="Google Shape;670;p4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4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②~④ 모두 최적화 할 경우 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72" name="Google Shape;67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4"/>
            <a:ext cx="4261925" cy="432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150" y="713025"/>
            <a:ext cx="4508451" cy="432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1374000"/>
            <a:ext cx="8686800" cy="30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9" name="Google Shape;679;p50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0" name="Google Shape;680;p50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lang="ko" sz="23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①~④ 모두 최적화 할 경우 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81" name="Google Shape;6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5"/>
            <a:ext cx="4005299" cy="427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700" y="713025"/>
            <a:ext cx="4833900" cy="430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94346"/>
            <a:ext cx="9144000" cy="311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1"/>
          <p:cNvSpPr/>
          <p:nvPr/>
        </p:nvSpPr>
        <p:spPr>
          <a:xfrm>
            <a:off x="274348" y="1229060"/>
            <a:ext cx="8595300" cy="885900"/>
          </a:xfrm>
          <a:prstGeom prst="roundRect">
            <a:avLst>
              <a:gd name="adj" fmla="val 6400"/>
            </a:avLst>
          </a:prstGeom>
          <a:solidFill>
            <a:srgbClr val="F3F7F7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51"/>
          <p:cNvSpPr/>
          <p:nvPr/>
        </p:nvSpPr>
        <p:spPr>
          <a:xfrm>
            <a:off x="522360" y="1473530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51"/>
          <p:cNvSpPr/>
          <p:nvPr/>
        </p:nvSpPr>
        <p:spPr>
          <a:xfrm>
            <a:off x="522360" y="1473517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1089246" y="1328265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lang="ko" sz="1407" b="1" i="0" u="none" strike="noStrike" cap="non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핵심 원인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1"/>
          <p:cNvSpPr/>
          <p:nvPr/>
        </p:nvSpPr>
        <p:spPr>
          <a:xfrm>
            <a:off x="3285929" y="1328265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40"/>
              <a:buFont typeface="Calibri"/>
              <a:buNone/>
            </a:pPr>
            <a:r>
              <a:rPr lang="ko" sz="144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Rough Grinding</a:t>
            </a: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51"/>
          <p:cNvSpPr/>
          <p:nvPr/>
        </p:nvSpPr>
        <p:spPr>
          <a:xfrm>
            <a:off x="274348" y="2291971"/>
            <a:ext cx="8595300" cy="885900"/>
          </a:xfrm>
          <a:prstGeom prst="roundRect">
            <a:avLst>
              <a:gd name="adj" fmla="val 6400"/>
            </a:avLst>
          </a:prstGeom>
          <a:solidFill>
            <a:srgbClr val="F3F7F7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51"/>
          <p:cNvSpPr/>
          <p:nvPr/>
        </p:nvSpPr>
        <p:spPr>
          <a:xfrm>
            <a:off x="522360" y="2536441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51"/>
          <p:cNvSpPr/>
          <p:nvPr/>
        </p:nvSpPr>
        <p:spPr>
          <a:xfrm>
            <a:off x="522360" y="2536428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1"/>
          <p:cNvSpPr/>
          <p:nvPr/>
        </p:nvSpPr>
        <p:spPr>
          <a:xfrm>
            <a:off x="1089246" y="2391176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lang="ko" sz="1407" b="1" i="0" u="none" strike="noStrike" cap="non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추천 개선안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1"/>
          <p:cNvSpPr/>
          <p:nvPr/>
        </p:nvSpPr>
        <p:spPr>
          <a:xfrm>
            <a:off x="3285929" y="2391176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 Rate/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RPM/가공 압력별 영향 검증 및 최적화</a:t>
            </a:r>
            <a:endParaRPr sz="1600"/>
          </a:p>
        </p:txBody>
      </p:sp>
      <p:sp>
        <p:nvSpPr>
          <p:cNvPr id="698" name="Google Shape;698;p51"/>
          <p:cNvSpPr/>
          <p:nvPr/>
        </p:nvSpPr>
        <p:spPr>
          <a:xfrm>
            <a:off x="274350" y="3354872"/>
            <a:ext cx="8595300" cy="1253700"/>
          </a:xfrm>
          <a:prstGeom prst="roundRect">
            <a:avLst>
              <a:gd name="adj" fmla="val 6400"/>
            </a:avLst>
          </a:prstGeom>
          <a:solidFill>
            <a:srgbClr val="E4F5F1"/>
          </a:solidFill>
          <a:ln w="1477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522360" y="3783440"/>
            <a:ext cx="396900" cy="3969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70850" tIns="70850" rIns="70850" bIns="7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51"/>
          <p:cNvSpPr/>
          <p:nvPr/>
        </p:nvSpPr>
        <p:spPr>
          <a:xfrm>
            <a:off x="522360" y="3783439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lang="ko" sz="139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9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1"/>
          <p:cNvSpPr/>
          <p:nvPr/>
        </p:nvSpPr>
        <p:spPr>
          <a:xfrm>
            <a:off x="1089246" y="3638087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7"/>
              <a:buFont typeface="Calibri"/>
              <a:buNone/>
            </a:pPr>
            <a:r>
              <a:rPr lang="ko" sz="1407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140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1"/>
          <p:cNvSpPr/>
          <p:nvPr/>
        </p:nvSpPr>
        <p:spPr>
          <a:xfrm>
            <a:off x="3285931" y="3495278"/>
            <a:ext cx="5385600" cy="9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Crack 감소와 TTV 안정화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Crack</a:t>
            </a:r>
            <a:r>
              <a:rPr lang="ko" sz="1100">
                <a:solidFill>
                  <a:schemeClr val="dk1"/>
                </a:solidFill>
              </a:rPr>
              <a:t>: 20.1% → (①만) 6.4% → (전체) </a:t>
            </a:r>
            <a:r>
              <a:rPr lang="ko" sz="1100" b="1">
                <a:solidFill>
                  <a:schemeClr val="dk1"/>
                </a:solidFill>
              </a:rPr>
              <a:t>2.9%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TTV</a:t>
            </a:r>
            <a:r>
              <a:rPr lang="ko" sz="1100">
                <a:solidFill>
                  <a:schemeClr val="dk1"/>
                </a:solidFill>
              </a:rPr>
              <a:t>: 24.8% → (①만) 21.7% → (전체) </a:t>
            </a:r>
            <a:r>
              <a:rPr lang="ko" sz="1100" b="1">
                <a:solidFill>
                  <a:schemeClr val="dk1"/>
                </a:solidFill>
              </a:rPr>
              <a:t>9.6%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1">
                <a:solidFill>
                  <a:schemeClr val="dk1"/>
                </a:solidFill>
              </a:rPr>
              <a:t>불량률 38.3% → 21.7%</a:t>
            </a:r>
            <a:r>
              <a:rPr lang="ko" sz="1100">
                <a:solidFill>
                  <a:schemeClr val="dk1"/>
                </a:solidFill>
              </a:rPr>
              <a:t>(① 적용) </a:t>
            </a:r>
            <a:r>
              <a:rPr lang="ko" sz="1100" b="1">
                <a:solidFill>
                  <a:schemeClr val="dk1"/>
                </a:solidFill>
              </a:rPr>
              <a:t>→ 9.6%</a:t>
            </a:r>
            <a:r>
              <a:rPr lang="ko" sz="1100">
                <a:solidFill>
                  <a:schemeClr val="dk1"/>
                </a:solidFill>
              </a:rPr>
              <a:t>(①~④ 전체)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3" name="Google Shape;703;p5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4" name="Google Shape;704;p5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75" tIns="34325" rIns="68675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lang="ko" sz="2300" b="1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sz="2300" b="1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2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실행계획</a:t>
            </a:r>
            <a:endParaRPr sz="1100"/>
          </a:p>
        </p:txBody>
      </p:sp>
      <p:sp>
        <p:nvSpPr>
          <p:cNvPr id="711" name="Google Shape;711;p52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실행계획은 4개 Action의 순서와 검증지표만 남긴다</a:t>
            </a:r>
            <a:endParaRPr sz="1100"/>
          </a:p>
        </p:txBody>
      </p:sp>
      <p:sp>
        <p:nvSpPr>
          <p:cNvPr id="712" name="Google Shape;712;p52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기존 표의 ‘현재 문제·원인·담당·날짜’를 압축하고, 발표에서는 실행 순서와 KPI 중심으로 설명한다.</a:t>
            </a:r>
            <a:endParaRPr sz="1100"/>
          </a:p>
        </p:txBody>
      </p:sp>
      <p:sp>
        <p:nvSpPr>
          <p:cNvPr id="713" name="Google Shape;713;p52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22R</a:t>
            </a:r>
            <a:endParaRPr sz="1100"/>
          </a:p>
        </p:txBody>
      </p:sp>
      <p:sp>
        <p:nvSpPr>
          <p:cNvPr id="714" name="Google Shape;714;p52"/>
          <p:cNvSpPr/>
          <p:nvPr/>
        </p:nvSpPr>
        <p:spPr>
          <a:xfrm>
            <a:off x="51435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52"/>
          <p:cNvSpPr/>
          <p:nvPr/>
        </p:nvSpPr>
        <p:spPr>
          <a:xfrm>
            <a:off x="51435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52"/>
          <p:cNvSpPr/>
          <p:nvPr/>
        </p:nvSpPr>
        <p:spPr>
          <a:xfrm>
            <a:off x="65722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01</a:t>
            </a:r>
            <a:endParaRPr sz="1100"/>
          </a:p>
        </p:txBody>
      </p:sp>
      <p:sp>
        <p:nvSpPr>
          <p:cNvPr id="717" name="Google Shape;717;p52"/>
          <p:cNvSpPr/>
          <p:nvPr/>
        </p:nvSpPr>
        <p:spPr>
          <a:xfrm>
            <a:off x="112871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즉시~1주</a:t>
            </a:r>
            <a:endParaRPr sz="1100"/>
          </a:p>
        </p:txBody>
      </p:sp>
      <p:sp>
        <p:nvSpPr>
          <p:cNvPr id="718" name="Google Shape;718;p52"/>
          <p:cNvSpPr/>
          <p:nvPr/>
        </p:nvSpPr>
        <p:spPr>
          <a:xfrm>
            <a:off x="514350" y="1957388"/>
            <a:ext cx="1943100" cy="57150"/>
          </a:xfrm>
          <a:prstGeom prst="rect">
            <a:avLst/>
          </a:prstGeom>
          <a:solidFill>
            <a:srgbClr val="2C79B7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52"/>
          <p:cNvSpPr/>
          <p:nvPr/>
        </p:nvSpPr>
        <p:spPr>
          <a:xfrm>
            <a:off x="68580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측정 신뢰성 확보</a:t>
            </a:r>
            <a:endParaRPr sz="1100"/>
          </a:p>
        </p:txBody>
      </p:sp>
      <p:sp>
        <p:nvSpPr>
          <p:cNvPr id="720" name="Google Shape;720;p52"/>
          <p:cNvSpPr/>
          <p:nvPr/>
        </p:nvSpPr>
        <p:spPr>
          <a:xfrm>
            <a:off x="68580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Sensor Calibration 및 측정값 교차검증</a:t>
            </a:r>
            <a:endParaRPr sz="1100"/>
          </a:p>
        </p:txBody>
      </p:sp>
      <p:sp>
        <p:nvSpPr>
          <p:cNvPr id="721" name="Google Shape;721;p52"/>
          <p:cNvSpPr/>
          <p:nvPr/>
        </p:nvSpPr>
        <p:spPr>
          <a:xfrm>
            <a:off x="68580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52"/>
          <p:cNvSpPr/>
          <p:nvPr/>
        </p:nvSpPr>
        <p:spPr>
          <a:xfrm>
            <a:off x="81438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2C79B7"/>
                </a:solidFill>
              </a:rPr>
              <a:t>확인 KPI</a:t>
            </a:r>
            <a:endParaRPr sz="1100"/>
          </a:p>
        </p:txBody>
      </p:sp>
      <p:sp>
        <p:nvSpPr>
          <p:cNvPr id="723" name="Google Shape;723;p52"/>
          <p:cNvSpPr/>
          <p:nvPr/>
        </p:nvSpPr>
        <p:spPr>
          <a:xfrm>
            <a:off x="81438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TTV 측정 편차 / 센서 Drift</a:t>
            </a:r>
            <a:endParaRPr sz="1100"/>
          </a:p>
        </p:txBody>
      </p:sp>
      <p:sp>
        <p:nvSpPr>
          <p:cNvPr id="724" name="Google Shape;724;p52"/>
          <p:cNvSpPr/>
          <p:nvPr/>
        </p:nvSpPr>
        <p:spPr>
          <a:xfrm>
            <a:off x="262890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52"/>
          <p:cNvSpPr/>
          <p:nvPr/>
        </p:nvSpPr>
        <p:spPr>
          <a:xfrm>
            <a:off x="262890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2"/>
          <p:cNvSpPr/>
          <p:nvPr/>
        </p:nvSpPr>
        <p:spPr>
          <a:xfrm>
            <a:off x="277177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02</a:t>
            </a:r>
            <a:endParaRPr sz="1100"/>
          </a:p>
        </p:txBody>
      </p:sp>
      <p:sp>
        <p:nvSpPr>
          <p:cNvPr id="727" name="Google Shape;727;p52"/>
          <p:cNvSpPr/>
          <p:nvPr/>
        </p:nvSpPr>
        <p:spPr>
          <a:xfrm>
            <a:off x="324326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즉시~1주</a:t>
            </a:r>
            <a:endParaRPr sz="1100"/>
          </a:p>
        </p:txBody>
      </p:sp>
      <p:sp>
        <p:nvSpPr>
          <p:cNvPr id="728" name="Google Shape;728;p52"/>
          <p:cNvSpPr/>
          <p:nvPr/>
        </p:nvSpPr>
        <p:spPr>
          <a:xfrm>
            <a:off x="2628900" y="1957388"/>
            <a:ext cx="1943100" cy="57150"/>
          </a:xfrm>
          <a:prstGeom prst="rect">
            <a:avLst/>
          </a:prstGeom>
          <a:solidFill>
            <a:srgbClr val="19C7A3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52"/>
          <p:cNvSpPr/>
          <p:nvPr/>
        </p:nvSpPr>
        <p:spPr>
          <a:xfrm>
            <a:off x="280035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Chuck 상태 안정화</a:t>
            </a:r>
            <a:endParaRPr sz="1100"/>
          </a:p>
        </p:txBody>
      </p:sp>
      <p:sp>
        <p:nvSpPr>
          <p:cNvPr id="730" name="Google Shape;730;p52"/>
          <p:cNvSpPr/>
          <p:nvPr/>
        </p:nvSpPr>
        <p:spPr>
          <a:xfrm>
            <a:off x="280035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Chuck 세정 · 평탄도 · Vacuum 상태 점검</a:t>
            </a:r>
            <a:endParaRPr sz="1100"/>
          </a:p>
        </p:txBody>
      </p:sp>
      <p:sp>
        <p:nvSpPr>
          <p:cNvPr id="731" name="Google Shape;731;p52"/>
          <p:cNvSpPr/>
          <p:nvPr/>
        </p:nvSpPr>
        <p:spPr>
          <a:xfrm>
            <a:off x="280035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52"/>
          <p:cNvSpPr/>
          <p:nvPr/>
        </p:nvSpPr>
        <p:spPr>
          <a:xfrm>
            <a:off x="292893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9C7A3"/>
                </a:solidFill>
              </a:rPr>
              <a:t>확인 KPI</a:t>
            </a:r>
            <a:endParaRPr sz="1100"/>
          </a:p>
        </p:txBody>
      </p:sp>
      <p:sp>
        <p:nvSpPr>
          <p:cNvPr id="733" name="Google Shape;733;p52"/>
          <p:cNvSpPr/>
          <p:nvPr/>
        </p:nvSpPr>
        <p:spPr>
          <a:xfrm>
            <a:off x="292893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Vacuum 이상 / Chuck 이물 점검 결과</a:t>
            </a:r>
            <a:endParaRPr sz="1100"/>
          </a:p>
        </p:txBody>
      </p:sp>
      <p:sp>
        <p:nvSpPr>
          <p:cNvPr id="734" name="Google Shape;734;p52"/>
          <p:cNvSpPr/>
          <p:nvPr/>
        </p:nvSpPr>
        <p:spPr>
          <a:xfrm>
            <a:off x="474345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2"/>
          <p:cNvSpPr/>
          <p:nvPr/>
        </p:nvSpPr>
        <p:spPr>
          <a:xfrm>
            <a:off x="474345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52"/>
          <p:cNvSpPr/>
          <p:nvPr/>
        </p:nvSpPr>
        <p:spPr>
          <a:xfrm>
            <a:off x="488632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03</a:t>
            </a:r>
            <a:endParaRPr sz="1100"/>
          </a:p>
        </p:txBody>
      </p:sp>
      <p:sp>
        <p:nvSpPr>
          <p:cNvPr id="737" name="Google Shape;737;p52"/>
          <p:cNvSpPr/>
          <p:nvPr/>
        </p:nvSpPr>
        <p:spPr>
          <a:xfrm>
            <a:off x="535781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1~3주</a:t>
            </a:r>
            <a:endParaRPr sz="1100"/>
          </a:p>
        </p:txBody>
      </p:sp>
      <p:sp>
        <p:nvSpPr>
          <p:cNvPr id="738" name="Google Shape;738;p52"/>
          <p:cNvSpPr/>
          <p:nvPr/>
        </p:nvSpPr>
        <p:spPr>
          <a:xfrm>
            <a:off x="4743450" y="1957388"/>
            <a:ext cx="1943100" cy="57150"/>
          </a:xfrm>
          <a:prstGeom prst="rect">
            <a:avLst/>
          </a:prstGeom>
          <a:solidFill>
            <a:srgbClr val="F2A51A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52"/>
          <p:cNvSpPr/>
          <p:nvPr/>
        </p:nvSpPr>
        <p:spPr>
          <a:xfrm>
            <a:off x="491490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Set-Actual 기준화</a:t>
            </a:r>
            <a:endParaRPr sz="1100"/>
          </a:p>
        </p:txBody>
      </p:sp>
      <p:sp>
        <p:nvSpPr>
          <p:cNvPr id="740" name="Google Shape;740;p52"/>
          <p:cNvSpPr/>
          <p:nvPr/>
        </p:nvSpPr>
        <p:spPr>
          <a:xfrm>
            <a:off x="491490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주요 Parameter별 허용 편차 기준 설정</a:t>
            </a:r>
            <a:endParaRPr sz="1100"/>
          </a:p>
        </p:txBody>
      </p:sp>
      <p:sp>
        <p:nvSpPr>
          <p:cNvPr id="741" name="Google Shape;741;p52"/>
          <p:cNvSpPr/>
          <p:nvPr/>
        </p:nvSpPr>
        <p:spPr>
          <a:xfrm>
            <a:off x="491490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52"/>
          <p:cNvSpPr/>
          <p:nvPr/>
        </p:nvSpPr>
        <p:spPr>
          <a:xfrm>
            <a:off x="504348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F2A51A"/>
                </a:solidFill>
              </a:rPr>
              <a:t>확인 KPI</a:t>
            </a:r>
            <a:endParaRPr sz="1100"/>
          </a:p>
        </p:txBody>
      </p:sp>
      <p:sp>
        <p:nvSpPr>
          <p:cNvPr id="743" name="Google Shape;743;p52"/>
          <p:cNvSpPr/>
          <p:nvPr/>
        </p:nvSpPr>
        <p:spPr>
          <a:xfrm>
            <a:off x="504348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Set-Actual 편차율 / 기준 초과 건수</a:t>
            </a:r>
            <a:endParaRPr sz="1100"/>
          </a:p>
        </p:txBody>
      </p:sp>
      <p:sp>
        <p:nvSpPr>
          <p:cNvPr id="744" name="Google Shape;744;p52"/>
          <p:cNvSpPr/>
          <p:nvPr/>
        </p:nvSpPr>
        <p:spPr>
          <a:xfrm>
            <a:off x="6858000" y="1428750"/>
            <a:ext cx="1943100" cy="2571750"/>
          </a:xfrm>
          <a:prstGeom prst="roundRect">
            <a:avLst>
              <a:gd name="adj" fmla="val 2941"/>
            </a:avLst>
          </a:prstGeom>
          <a:solidFill>
            <a:srgbClr val="F3F6F9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52"/>
          <p:cNvSpPr/>
          <p:nvPr/>
        </p:nvSpPr>
        <p:spPr>
          <a:xfrm>
            <a:off x="6858000" y="1428750"/>
            <a:ext cx="1943100" cy="528638"/>
          </a:xfrm>
          <a:prstGeom prst="roundRect">
            <a:avLst>
              <a:gd name="adj" fmla="val 8108"/>
            </a:avLst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2"/>
          <p:cNvSpPr/>
          <p:nvPr/>
        </p:nvSpPr>
        <p:spPr>
          <a:xfrm>
            <a:off x="7000875" y="1557338"/>
            <a:ext cx="3857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FFFFFF"/>
                </a:solidFill>
              </a:rPr>
              <a:t>04</a:t>
            </a:r>
            <a:endParaRPr sz="1100"/>
          </a:p>
        </p:txBody>
      </p:sp>
      <p:sp>
        <p:nvSpPr>
          <p:cNvPr id="747" name="Google Shape;747;p52"/>
          <p:cNvSpPr/>
          <p:nvPr/>
        </p:nvSpPr>
        <p:spPr>
          <a:xfrm>
            <a:off x="7472363" y="1621631"/>
            <a:ext cx="10715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FFFFFF"/>
                </a:solidFill>
              </a:rPr>
              <a:t>3~4주</a:t>
            </a:r>
            <a:endParaRPr sz="1100"/>
          </a:p>
        </p:txBody>
      </p:sp>
      <p:sp>
        <p:nvSpPr>
          <p:cNvPr id="748" name="Google Shape;748;p52"/>
          <p:cNvSpPr/>
          <p:nvPr/>
        </p:nvSpPr>
        <p:spPr>
          <a:xfrm>
            <a:off x="6858000" y="1957388"/>
            <a:ext cx="1943100" cy="57150"/>
          </a:xfrm>
          <a:prstGeom prst="rect">
            <a:avLst/>
          </a:prstGeom>
          <a:solidFill>
            <a:srgbClr val="B3132E"/>
          </a:solidFill>
          <a:ln w="9525" cap="flat" cmpd="sng">
            <a:solidFill>
              <a:srgbClr val="B313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52"/>
          <p:cNvSpPr/>
          <p:nvPr/>
        </p:nvSpPr>
        <p:spPr>
          <a:xfrm>
            <a:off x="7029450" y="2228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73657"/>
                </a:solidFill>
              </a:rPr>
              <a:t>Rough 조건 최적화</a:t>
            </a:r>
            <a:endParaRPr sz="1100"/>
          </a:p>
        </p:txBody>
      </p:sp>
      <p:sp>
        <p:nvSpPr>
          <p:cNvPr id="750" name="Google Shape;750;p52"/>
          <p:cNvSpPr/>
          <p:nvPr/>
        </p:nvSpPr>
        <p:spPr>
          <a:xfrm>
            <a:off x="7029450" y="2614613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Feed Rate · RPM · 가공 압력별 영향 검증</a:t>
            </a:r>
            <a:endParaRPr sz="1100"/>
          </a:p>
        </p:txBody>
      </p:sp>
      <p:sp>
        <p:nvSpPr>
          <p:cNvPr id="751" name="Google Shape;751;p52"/>
          <p:cNvSpPr/>
          <p:nvPr/>
        </p:nvSpPr>
        <p:spPr>
          <a:xfrm>
            <a:off x="7029450" y="3214688"/>
            <a:ext cx="1600200" cy="528638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52"/>
          <p:cNvSpPr/>
          <p:nvPr/>
        </p:nvSpPr>
        <p:spPr>
          <a:xfrm>
            <a:off x="7158038" y="33147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B3132E"/>
                </a:solidFill>
              </a:rPr>
              <a:t>확인 KPI</a:t>
            </a:r>
            <a:endParaRPr sz="1100"/>
          </a:p>
        </p:txBody>
      </p:sp>
      <p:sp>
        <p:nvSpPr>
          <p:cNvPr id="753" name="Google Shape;753;p52"/>
          <p:cNvSpPr/>
          <p:nvPr/>
        </p:nvSpPr>
        <p:spPr>
          <a:xfrm>
            <a:off x="7158038" y="3486150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Crack NG / TTV NG / 동시 Pass</a:t>
            </a:r>
            <a:endParaRPr sz="1100"/>
          </a:p>
        </p:txBody>
      </p:sp>
      <p:sp>
        <p:nvSpPr>
          <p:cNvPr id="754" name="Google Shape;754;p52"/>
          <p:cNvSpPr/>
          <p:nvPr/>
        </p:nvSpPr>
        <p:spPr>
          <a:xfrm>
            <a:off x="247173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55" name="Google Shape;755;p52"/>
          <p:cNvSpPr/>
          <p:nvPr/>
        </p:nvSpPr>
        <p:spPr>
          <a:xfrm>
            <a:off x="458628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56" name="Google Shape;756;p52"/>
          <p:cNvSpPr/>
          <p:nvPr/>
        </p:nvSpPr>
        <p:spPr>
          <a:xfrm>
            <a:off x="6700838" y="2628900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57" name="Google Shape;757;p52"/>
          <p:cNvSpPr/>
          <p:nvPr/>
        </p:nvSpPr>
        <p:spPr>
          <a:xfrm>
            <a:off x="685800" y="4271963"/>
            <a:ext cx="7772400" cy="357188"/>
          </a:xfrm>
          <a:prstGeom prst="roundRect">
            <a:avLst>
              <a:gd name="adj" fmla="val 12000"/>
            </a:avLst>
          </a:prstGeom>
          <a:solidFill>
            <a:srgbClr val="E8F7F2"/>
          </a:solidFill>
          <a:ln w="9525" cap="flat" cmpd="sng">
            <a:solidFill>
              <a:srgbClr val="BDE7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52"/>
          <p:cNvSpPr/>
          <p:nvPr/>
        </p:nvSpPr>
        <p:spPr>
          <a:xfrm>
            <a:off x="871538" y="4379119"/>
            <a:ext cx="78581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19C7A3"/>
                </a:solidFill>
              </a:rPr>
              <a:t>발표 메시지</a:t>
            </a:r>
            <a:endParaRPr sz="1100"/>
          </a:p>
        </p:txBody>
      </p:sp>
      <p:sp>
        <p:nvSpPr>
          <p:cNvPr id="759" name="Google Shape;759;p52"/>
          <p:cNvSpPr/>
          <p:nvPr/>
        </p:nvSpPr>
        <p:spPr>
          <a:xfrm>
            <a:off x="1757363" y="4371975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센서·Chuck으로 측정과 고정 상태를 먼저 안정화한 뒤, Set-Actual 기준과 Rough 조건 DOE로 Crack/TTV를 낮춘다.</a:t>
            </a:r>
            <a:endParaRPr sz="1100"/>
          </a:p>
        </p:txBody>
      </p:sp>
      <p:sp>
        <p:nvSpPr>
          <p:cNvPr id="760" name="Google Shape;760;p52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22~23p 실행계획. 원본의 절대 날짜는 일부 경과되어 재발표용 상대 일정으로 재구성.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3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기대효과</a:t>
            </a:r>
            <a:endParaRPr sz="1100"/>
          </a:p>
        </p:txBody>
      </p:sp>
      <p:sp>
        <p:nvSpPr>
          <p:cNvPr id="767" name="Google Shape;767;p53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기대효과는 3개 시나리오를 살리되, 화면 요소를 줄인다</a:t>
            </a:r>
            <a:endParaRPr sz="1100"/>
          </a:p>
        </p:txBody>
      </p:sp>
      <p:sp>
        <p:nvSpPr>
          <p:cNvPr id="768" name="Google Shape;768;p53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원본의 입력창·하단 DOE 테이블은 제외하고, 시나리오별 KPI 차이와 해석만 남긴다.</a:t>
            </a:r>
            <a:endParaRPr sz="1100"/>
          </a:p>
        </p:txBody>
      </p:sp>
      <p:sp>
        <p:nvSpPr>
          <p:cNvPr id="769" name="Google Shape;769;p53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25R</a:t>
            </a:r>
            <a:endParaRPr sz="1100"/>
          </a:p>
        </p:txBody>
      </p:sp>
      <p:sp>
        <p:nvSpPr>
          <p:cNvPr id="770" name="Google Shape;770;p53"/>
          <p:cNvSpPr/>
          <p:nvPr/>
        </p:nvSpPr>
        <p:spPr>
          <a:xfrm>
            <a:off x="48577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EAF3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53"/>
          <p:cNvSpPr/>
          <p:nvPr/>
        </p:nvSpPr>
        <p:spPr>
          <a:xfrm>
            <a:off x="6572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①만 최적화</a:t>
            </a:r>
            <a:endParaRPr sz="1100"/>
          </a:p>
        </p:txBody>
      </p:sp>
      <p:sp>
        <p:nvSpPr>
          <p:cNvPr id="772" name="Google Shape;772;p53"/>
          <p:cNvSpPr/>
          <p:nvPr/>
        </p:nvSpPr>
        <p:spPr>
          <a:xfrm>
            <a:off x="6572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Rough Grinding 조건 최적화 중심</a:t>
            </a:r>
            <a:endParaRPr sz="1100"/>
          </a:p>
        </p:txBody>
      </p:sp>
      <p:sp>
        <p:nvSpPr>
          <p:cNvPr id="773" name="Google Shape;773;p53"/>
          <p:cNvSpPr/>
          <p:nvPr/>
        </p:nvSpPr>
        <p:spPr>
          <a:xfrm>
            <a:off x="700087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774" name="Google Shape;774;p53"/>
          <p:cNvSpPr/>
          <p:nvPr/>
        </p:nvSpPr>
        <p:spPr>
          <a:xfrm>
            <a:off x="15573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38.3% → 21.7%</a:t>
            </a:r>
            <a:endParaRPr sz="1100"/>
          </a:p>
        </p:txBody>
      </p:sp>
      <p:sp>
        <p:nvSpPr>
          <p:cNvPr id="775" name="Google Shape;775;p53"/>
          <p:cNvSpPr/>
          <p:nvPr/>
        </p:nvSpPr>
        <p:spPr>
          <a:xfrm>
            <a:off x="70008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53"/>
          <p:cNvSpPr/>
          <p:nvPr/>
        </p:nvSpPr>
        <p:spPr>
          <a:xfrm>
            <a:off x="700087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777" name="Google Shape;777;p53"/>
          <p:cNvSpPr/>
          <p:nvPr/>
        </p:nvSpPr>
        <p:spPr>
          <a:xfrm>
            <a:off x="15573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+16.6%p</a:t>
            </a:r>
            <a:endParaRPr sz="1100"/>
          </a:p>
        </p:txBody>
      </p:sp>
      <p:sp>
        <p:nvSpPr>
          <p:cNvPr id="778" name="Google Shape;778;p53"/>
          <p:cNvSpPr/>
          <p:nvPr/>
        </p:nvSpPr>
        <p:spPr>
          <a:xfrm>
            <a:off x="70008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53"/>
          <p:cNvSpPr/>
          <p:nvPr/>
        </p:nvSpPr>
        <p:spPr>
          <a:xfrm>
            <a:off x="700087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780" name="Google Shape;780;p53"/>
          <p:cNvSpPr/>
          <p:nvPr/>
        </p:nvSpPr>
        <p:spPr>
          <a:xfrm>
            <a:off x="15573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-43.3%</a:t>
            </a:r>
            <a:endParaRPr sz="1100"/>
          </a:p>
        </p:txBody>
      </p:sp>
      <p:sp>
        <p:nvSpPr>
          <p:cNvPr id="781" name="Google Shape;781;p53"/>
          <p:cNvSpPr/>
          <p:nvPr/>
        </p:nvSpPr>
        <p:spPr>
          <a:xfrm>
            <a:off x="70008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53"/>
          <p:cNvSpPr/>
          <p:nvPr/>
        </p:nvSpPr>
        <p:spPr>
          <a:xfrm>
            <a:off x="700087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783" name="Google Shape;783;p53"/>
          <p:cNvSpPr/>
          <p:nvPr/>
        </p:nvSpPr>
        <p:spPr>
          <a:xfrm>
            <a:off x="15573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C79B7"/>
                </a:solidFill>
              </a:rPr>
              <a:t>연 83.03억</a:t>
            </a:r>
            <a:endParaRPr sz="1100"/>
          </a:p>
        </p:txBody>
      </p:sp>
      <p:sp>
        <p:nvSpPr>
          <p:cNvPr id="784" name="Google Shape;784;p53"/>
          <p:cNvSpPr/>
          <p:nvPr/>
        </p:nvSpPr>
        <p:spPr>
          <a:xfrm>
            <a:off x="70008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53"/>
          <p:cNvSpPr/>
          <p:nvPr/>
        </p:nvSpPr>
        <p:spPr>
          <a:xfrm>
            <a:off x="70008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53"/>
          <p:cNvSpPr/>
          <p:nvPr/>
        </p:nvSpPr>
        <p:spPr>
          <a:xfrm>
            <a:off x="78581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가장 직접적인 Crack/TTV 개선축</a:t>
            </a:r>
            <a:endParaRPr sz="1100"/>
          </a:p>
        </p:txBody>
      </p:sp>
      <p:sp>
        <p:nvSpPr>
          <p:cNvPr id="787" name="Google Shape;787;p53"/>
          <p:cNvSpPr/>
          <p:nvPr/>
        </p:nvSpPr>
        <p:spPr>
          <a:xfrm>
            <a:off x="328612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FFF6E3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3"/>
          <p:cNvSpPr/>
          <p:nvPr/>
        </p:nvSpPr>
        <p:spPr>
          <a:xfrm>
            <a:off x="345757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②~④ 모두 최적화</a:t>
            </a:r>
            <a:endParaRPr sz="1100"/>
          </a:p>
        </p:txBody>
      </p:sp>
      <p:sp>
        <p:nvSpPr>
          <p:cNvPr id="789" name="Google Shape;789;p53"/>
          <p:cNvSpPr/>
          <p:nvPr/>
        </p:nvSpPr>
        <p:spPr>
          <a:xfrm>
            <a:off x="345757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측정·Chuck·Set-Actual 보조 개선 중심</a:t>
            </a:r>
            <a:endParaRPr sz="1100"/>
          </a:p>
        </p:txBody>
      </p:sp>
      <p:sp>
        <p:nvSpPr>
          <p:cNvPr id="790" name="Google Shape;790;p53"/>
          <p:cNvSpPr/>
          <p:nvPr/>
        </p:nvSpPr>
        <p:spPr>
          <a:xfrm>
            <a:off x="350043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791" name="Google Shape;791;p53"/>
          <p:cNvSpPr/>
          <p:nvPr/>
        </p:nvSpPr>
        <p:spPr>
          <a:xfrm>
            <a:off x="435768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24.8% → 2.8%</a:t>
            </a:r>
            <a:endParaRPr sz="1100"/>
          </a:p>
        </p:txBody>
      </p:sp>
      <p:sp>
        <p:nvSpPr>
          <p:cNvPr id="792" name="Google Shape;792;p53"/>
          <p:cNvSpPr/>
          <p:nvPr/>
        </p:nvSpPr>
        <p:spPr>
          <a:xfrm>
            <a:off x="350043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53"/>
          <p:cNvSpPr/>
          <p:nvPr/>
        </p:nvSpPr>
        <p:spPr>
          <a:xfrm>
            <a:off x="350043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794" name="Google Shape;794;p53"/>
          <p:cNvSpPr/>
          <p:nvPr/>
        </p:nvSpPr>
        <p:spPr>
          <a:xfrm>
            <a:off x="435768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+9.5%p</a:t>
            </a:r>
            <a:endParaRPr sz="1100"/>
          </a:p>
        </p:txBody>
      </p:sp>
      <p:sp>
        <p:nvSpPr>
          <p:cNvPr id="795" name="Google Shape;795;p53"/>
          <p:cNvSpPr/>
          <p:nvPr/>
        </p:nvSpPr>
        <p:spPr>
          <a:xfrm>
            <a:off x="350043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53"/>
          <p:cNvSpPr/>
          <p:nvPr/>
        </p:nvSpPr>
        <p:spPr>
          <a:xfrm>
            <a:off x="350043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797" name="Google Shape;797;p53"/>
          <p:cNvSpPr/>
          <p:nvPr/>
        </p:nvSpPr>
        <p:spPr>
          <a:xfrm>
            <a:off x="435768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-38.4%</a:t>
            </a:r>
            <a:endParaRPr sz="1100"/>
          </a:p>
        </p:txBody>
      </p:sp>
      <p:sp>
        <p:nvSpPr>
          <p:cNvPr id="798" name="Google Shape;798;p53"/>
          <p:cNvSpPr/>
          <p:nvPr/>
        </p:nvSpPr>
        <p:spPr>
          <a:xfrm>
            <a:off x="350043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53"/>
          <p:cNvSpPr/>
          <p:nvPr/>
        </p:nvSpPr>
        <p:spPr>
          <a:xfrm>
            <a:off x="350043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00" name="Google Shape;800;p53"/>
          <p:cNvSpPr/>
          <p:nvPr/>
        </p:nvSpPr>
        <p:spPr>
          <a:xfrm>
            <a:off x="435768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2A51A"/>
                </a:solidFill>
              </a:rPr>
              <a:t>연 47.60억</a:t>
            </a:r>
            <a:endParaRPr sz="1100"/>
          </a:p>
        </p:txBody>
      </p:sp>
      <p:sp>
        <p:nvSpPr>
          <p:cNvPr id="801" name="Google Shape;801;p53"/>
          <p:cNvSpPr/>
          <p:nvPr/>
        </p:nvSpPr>
        <p:spPr>
          <a:xfrm>
            <a:off x="350043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3"/>
          <p:cNvSpPr/>
          <p:nvPr/>
        </p:nvSpPr>
        <p:spPr>
          <a:xfrm>
            <a:off x="350043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53"/>
          <p:cNvSpPr/>
          <p:nvPr/>
        </p:nvSpPr>
        <p:spPr>
          <a:xfrm>
            <a:off x="358616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측정 신뢰성과 고정 상태 안정화</a:t>
            </a:r>
            <a:endParaRPr sz="1100"/>
          </a:p>
        </p:txBody>
      </p:sp>
      <p:sp>
        <p:nvSpPr>
          <p:cNvPr id="804" name="Google Shape;804;p53"/>
          <p:cNvSpPr/>
          <p:nvPr/>
        </p:nvSpPr>
        <p:spPr>
          <a:xfrm>
            <a:off x="6086475" y="1414463"/>
            <a:ext cx="2571750" cy="2657475"/>
          </a:xfrm>
          <a:prstGeom prst="roundRect">
            <a:avLst>
              <a:gd name="adj" fmla="val 2222"/>
            </a:avLst>
          </a:prstGeom>
          <a:solidFill>
            <a:srgbClr val="E8F7F2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53"/>
          <p:cNvSpPr/>
          <p:nvPr/>
        </p:nvSpPr>
        <p:spPr>
          <a:xfrm>
            <a:off x="62579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173657"/>
                </a:solidFill>
              </a:rPr>
              <a:t>①~④ 모두 최적화</a:t>
            </a:r>
            <a:endParaRPr sz="1100"/>
          </a:p>
        </p:txBody>
      </p:sp>
      <p:sp>
        <p:nvSpPr>
          <p:cNvPr id="806" name="Google Shape;806;p53"/>
          <p:cNvSpPr/>
          <p:nvPr/>
        </p:nvSpPr>
        <p:spPr>
          <a:xfrm>
            <a:off x="62579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6A7280"/>
                </a:solidFill>
              </a:rPr>
              <a:t>Rough 조건 + 보조 개선 전체 적용</a:t>
            </a:r>
            <a:endParaRPr sz="1100"/>
          </a:p>
        </p:txBody>
      </p:sp>
      <p:sp>
        <p:nvSpPr>
          <p:cNvPr id="807" name="Google Shape;807;p53"/>
          <p:cNvSpPr/>
          <p:nvPr/>
        </p:nvSpPr>
        <p:spPr>
          <a:xfrm>
            <a:off x="630078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808" name="Google Shape;808;p53"/>
          <p:cNvSpPr/>
          <p:nvPr/>
        </p:nvSpPr>
        <p:spPr>
          <a:xfrm>
            <a:off x="71580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38.3% → 9.6%</a:t>
            </a:r>
            <a:endParaRPr sz="1100"/>
          </a:p>
        </p:txBody>
      </p:sp>
      <p:sp>
        <p:nvSpPr>
          <p:cNvPr id="809" name="Google Shape;809;p53"/>
          <p:cNvSpPr/>
          <p:nvPr/>
        </p:nvSpPr>
        <p:spPr>
          <a:xfrm>
            <a:off x="6300788" y="257175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53"/>
          <p:cNvSpPr/>
          <p:nvPr/>
        </p:nvSpPr>
        <p:spPr>
          <a:xfrm>
            <a:off x="630078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811" name="Google Shape;811;p53"/>
          <p:cNvSpPr/>
          <p:nvPr/>
        </p:nvSpPr>
        <p:spPr>
          <a:xfrm>
            <a:off x="71580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+28.8%p</a:t>
            </a:r>
            <a:endParaRPr sz="1100"/>
          </a:p>
        </p:txBody>
      </p:sp>
      <p:sp>
        <p:nvSpPr>
          <p:cNvPr id="812" name="Google Shape;812;p53"/>
          <p:cNvSpPr/>
          <p:nvPr/>
        </p:nvSpPr>
        <p:spPr>
          <a:xfrm>
            <a:off x="6300788" y="294322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53"/>
          <p:cNvSpPr/>
          <p:nvPr/>
        </p:nvSpPr>
        <p:spPr>
          <a:xfrm>
            <a:off x="630078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814" name="Google Shape;814;p53"/>
          <p:cNvSpPr/>
          <p:nvPr/>
        </p:nvSpPr>
        <p:spPr>
          <a:xfrm>
            <a:off x="71580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-75.1%</a:t>
            </a:r>
            <a:endParaRPr sz="1100"/>
          </a:p>
        </p:txBody>
      </p:sp>
      <p:sp>
        <p:nvSpPr>
          <p:cNvPr id="815" name="Google Shape;815;p53"/>
          <p:cNvSpPr/>
          <p:nvPr/>
        </p:nvSpPr>
        <p:spPr>
          <a:xfrm>
            <a:off x="6300788" y="3314700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53"/>
          <p:cNvSpPr/>
          <p:nvPr/>
        </p:nvSpPr>
        <p:spPr>
          <a:xfrm>
            <a:off x="630078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17" name="Google Shape;817;p53"/>
          <p:cNvSpPr/>
          <p:nvPr/>
        </p:nvSpPr>
        <p:spPr>
          <a:xfrm>
            <a:off x="71580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C7A3"/>
                </a:solidFill>
              </a:rPr>
              <a:t>연 143.90억</a:t>
            </a:r>
            <a:endParaRPr sz="1100"/>
          </a:p>
        </p:txBody>
      </p:sp>
      <p:sp>
        <p:nvSpPr>
          <p:cNvPr id="818" name="Google Shape;818;p53"/>
          <p:cNvSpPr/>
          <p:nvPr/>
        </p:nvSpPr>
        <p:spPr>
          <a:xfrm>
            <a:off x="6300788" y="3686175"/>
            <a:ext cx="2143125" cy="7144"/>
          </a:xfrm>
          <a:prstGeom prst="rect">
            <a:avLst/>
          </a:prstGeom>
          <a:solidFill>
            <a:srgbClr val="CAD4DF"/>
          </a:solidFill>
          <a:ln w="9525" cap="flat" cmpd="sng">
            <a:solidFill>
              <a:srgbClr val="CA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3"/>
          <p:cNvSpPr/>
          <p:nvPr/>
        </p:nvSpPr>
        <p:spPr>
          <a:xfrm>
            <a:off x="6300788" y="3743325"/>
            <a:ext cx="2143125" cy="21431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53"/>
          <p:cNvSpPr/>
          <p:nvPr/>
        </p:nvSpPr>
        <p:spPr>
          <a:xfrm>
            <a:off x="638651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19C7A3"/>
                </a:solidFill>
              </a:rPr>
              <a:t>추천안: Crack/TTV와 비용효과 최대</a:t>
            </a:r>
            <a:endParaRPr sz="1100"/>
          </a:p>
        </p:txBody>
      </p:sp>
      <p:sp>
        <p:nvSpPr>
          <p:cNvPr id="821" name="Google Shape;821;p53"/>
          <p:cNvSpPr/>
          <p:nvPr/>
        </p:nvSpPr>
        <p:spPr>
          <a:xfrm>
            <a:off x="700088" y="4357688"/>
            <a:ext cx="7743825" cy="314325"/>
          </a:xfrm>
          <a:prstGeom prst="roundRect">
            <a:avLst>
              <a:gd name="adj" fmla="val 13636"/>
            </a:avLst>
          </a:prstGeom>
          <a:solidFill>
            <a:srgbClr val="FCECEF"/>
          </a:solidFill>
          <a:ln w="9525" cap="flat" cmpd="sng">
            <a:solidFill>
              <a:srgbClr val="F4C7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3"/>
          <p:cNvSpPr/>
          <p:nvPr/>
        </p:nvSpPr>
        <p:spPr>
          <a:xfrm>
            <a:off x="871538" y="4450556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발표 포인트</a:t>
            </a:r>
            <a:endParaRPr sz="1100"/>
          </a:p>
        </p:txBody>
      </p:sp>
      <p:sp>
        <p:nvSpPr>
          <p:cNvPr id="823" name="Google Shape;823;p53"/>
          <p:cNvSpPr/>
          <p:nvPr/>
        </p:nvSpPr>
        <p:spPr>
          <a:xfrm>
            <a:off x="1785938" y="4443413"/>
            <a:ext cx="6000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①은 핵심 공정조건 개선, ②~④는 측정·고정·기준 안정화, 전체 적용은 두 축을 결합한 최종 추천안으로 설명한다.</a:t>
            </a:r>
            <a:endParaRPr sz="1100"/>
          </a:p>
        </p:txBody>
      </p:sp>
      <p:sp>
        <p:nvSpPr>
          <p:cNvPr id="824" name="Google Shape;824;p53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24~26p 기대효과 수치. 금액은 원본 시뮬레이터 가정값 기준.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4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BG 개선안 / 기대효과</a:t>
            </a:r>
            <a:endParaRPr sz="1100"/>
          </a:p>
        </p:txBody>
      </p:sp>
      <p:sp>
        <p:nvSpPr>
          <p:cNvPr id="831" name="Google Shape;831;p54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173657"/>
                </a:solidFill>
              </a:rPr>
              <a:t>기대효과는 ‘전체 적용’ 중심으로 요약한다</a:t>
            </a:r>
            <a:endParaRPr sz="1100"/>
          </a:p>
        </p:txBody>
      </p:sp>
      <p:sp>
        <p:nvSpPr>
          <p:cNvPr id="832" name="Google Shape;832;p54"/>
          <p:cNvSpPr/>
          <p:nvPr/>
        </p:nvSpPr>
        <p:spPr>
          <a:xfrm>
            <a:off x="400050" y="885825"/>
            <a:ext cx="7715250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6A7280"/>
                </a:solidFill>
              </a:rPr>
              <a:t>반복 카드 3장을 하나로 묶어 시나리오별 개선 폭과 핵심 KPI만 남긴다.</a:t>
            </a:r>
            <a:endParaRPr sz="1100"/>
          </a:p>
        </p:txBody>
      </p:sp>
      <p:sp>
        <p:nvSpPr>
          <p:cNvPr id="833" name="Google Shape;833;p54"/>
          <p:cNvSpPr/>
          <p:nvPr/>
        </p:nvSpPr>
        <p:spPr>
          <a:xfrm>
            <a:off x="8643938" y="300038"/>
            <a:ext cx="2428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BC9D6"/>
                </a:solidFill>
              </a:rPr>
              <a:t>24R</a:t>
            </a:r>
            <a:endParaRPr sz="1100"/>
          </a:p>
        </p:txBody>
      </p:sp>
      <p:sp>
        <p:nvSpPr>
          <p:cNvPr id="834" name="Google Shape;834;p54"/>
          <p:cNvSpPr/>
          <p:nvPr/>
        </p:nvSpPr>
        <p:spPr>
          <a:xfrm>
            <a:off x="514350" y="1371600"/>
            <a:ext cx="8115300" cy="192881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4"/>
          <p:cNvSpPr/>
          <p:nvPr/>
        </p:nvSpPr>
        <p:spPr>
          <a:xfrm>
            <a:off x="514350" y="1371600"/>
            <a:ext cx="8115300" cy="385763"/>
          </a:xfrm>
          <a:prstGeom prst="rect">
            <a:avLst/>
          </a:prstGeom>
          <a:solidFill>
            <a:srgbClr val="1F456B"/>
          </a:solidFill>
          <a:ln w="9525" cap="flat" cmpd="sng">
            <a:solidFill>
              <a:srgbClr val="1F45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4"/>
          <p:cNvSpPr/>
          <p:nvPr/>
        </p:nvSpPr>
        <p:spPr>
          <a:xfrm>
            <a:off x="628650" y="1485900"/>
            <a:ext cx="18716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시나리오</a:t>
            </a:r>
            <a:endParaRPr sz="1100"/>
          </a:p>
        </p:txBody>
      </p:sp>
      <p:sp>
        <p:nvSpPr>
          <p:cNvPr id="837" name="Google Shape;837;p54"/>
          <p:cNvSpPr/>
          <p:nvPr/>
        </p:nvSpPr>
        <p:spPr>
          <a:xfrm>
            <a:off x="2728913" y="1485900"/>
            <a:ext cx="127158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불량률</a:t>
            </a:r>
            <a:endParaRPr sz="1100"/>
          </a:p>
        </p:txBody>
      </p:sp>
      <p:sp>
        <p:nvSpPr>
          <p:cNvPr id="838" name="Google Shape;838;p54"/>
          <p:cNvSpPr/>
          <p:nvPr/>
        </p:nvSpPr>
        <p:spPr>
          <a:xfrm>
            <a:off x="4229100" y="1485900"/>
            <a:ext cx="1057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Pass 향상</a:t>
            </a:r>
            <a:endParaRPr sz="1100"/>
          </a:p>
        </p:txBody>
      </p:sp>
      <p:sp>
        <p:nvSpPr>
          <p:cNvPr id="839" name="Google Shape;839;p54"/>
          <p:cNvSpPr/>
          <p:nvPr/>
        </p:nvSpPr>
        <p:spPr>
          <a:xfrm>
            <a:off x="5514975" y="14859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재작업/클레임</a:t>
            </a:r>
            <a:endParaRPr sz="1100"/>
          </a:p>
        </p:txBody>
      </p:sp>
      <p:sp>
        <p:nvSpPr>
          <p:cNvPr id="840" name="Google Shape;840;p54"/>
          <p:cNvSpPr/>
          <p:nvPr/>
        </p:nvSpPr>
        <p:spPr>
          <a:xfrm>
            <a:off x="7086600" y="14859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FFFFFF"/>
                </a:solidFill>
              </a:rPr>
              <a:t>Cost saving</a:t>
            </a:r>
            <a:endParaRPr sz="1100"/>
          </a:p>
        </p:txBody>
      </p:sp>
      <p:sp>
        <p:nvSpPr>
          <p:cNvPr id="841" name="Google Shape;841;p54"/>
          <p:cNvSpPr/>
          <p:nvPr/>
        </p:nvSpPr>
        <p:spPr>
          <a:xfrm>
            <a:off x="514350" y="1757363"/>
            <a:ext cx="8115300" cy="38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4"/>
          <p:cNvSpPr/>
          <p:nvPr/>
        </p:nvSpPr>
        <p:spPr>
          <a:xfrm>
            <a:off x="600075" y="1857375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현재</a:t>
            </a:r>
            <a:endParaRPr sz="1100"/>
          </a:p>
        </p:txBody>
      </p:sp>
      <p:sp>
        <p:nvSpPr>
          <p:cNvPr id="843" name="Google Shape;843;p54"/>
          <p:cNvSpPr/>
          <p:nvPr/>
        </p:nvSpPr>
        <p:spPr>
          <a:xfrm>
            <a:off x="2700338" y="1857375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38.3%</a:t>
            </a:r>
            <a:endParaRPr sz="1100"/>
          </a:p>
        </p:txBody>
      </p:sp>
      <p:sp>
        <p:nvSpPr>
          <p:cNvPr id="844" name="Google Shape;844;p54"/>
          <p:cNvSpPr/>
          <p:nvPr/>
        </p:nvSpPr>
        <p:spPr>
          <a:xfrm>
            <a:off x="4200525" y="1857375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45" name="Google Shape;845;p54"/>
          <p:cNvSpPr/>
          <p:nvPr/>
        </p:nvSpPr>
        <p:spPr>
          <a:xfrm>
            <a:off x="5486400" y="185737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46" name="Google Shape;846;p54"/>
          <p:cNvSpPr/>
          <p:nvPr/>
        </p:nvSpPr>
        <p:spPr>
          <a:xfrm>
            <a:off x="7058025" y="1857375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47" name="Google Shape;847;p54"/>
          <p:cNvSpPr/>
          <p:nvPr/>
        </p:nvSpPr>
        <p:spPr>
          <a:xfrm>
            <a:off x="514350" y="2143125"/>
            <a:ext cx="8115300" cy="385763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4"/>
          <p:cNvSpPr/>
          <p:nvPr/>
        </p:nvSpPr>
        <p:spPr>
          <a:xfrm>
            <a:off x="600075" y="2243138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① Rough 조건만 최적화</a:t>
            </a:r>
            <a:endParaRPr sz="1100"/>
          </a:p>
        </p:txBody>
      </p:sp>
      <p:sp>
        <p:nvSpPr>
          <p:cNvPr id="849" name="Google Shape;849;p54"/>
          <p:cNvSpPr/>
          <p:nvPr/>
        </p:nvSpPr>
        <p:spPr>
          <a:xfrm>
            <a:off x="2700338" y="2243138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B3132E"/>
                </a:solidFill>
              </a:rPr>
              <a:t>21.7%</a:t>
            </a:r>
            <a:endParaRPr sz="1100"/>
          </a:p>
        </p:txBody>
      </p:sp>
      <p:sp>
        <p:nvSpPr>
          <p:cNvPr id="850" name="Google Shape;850;p54"/>
          <p:cNvSpPr/>
          <p:nvPr/>
        </p:nvSpPr>
        <p:spPr>
          <a:xfrm>
            <a:off x="4200525" y="2243138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+16.6%p</a:t>
            </a:r>
            <a:endParaRPr sz="1100"/>
          </a:p>
        </p:txBody>
      </p:sp>
      <p:sp>
        <p:nvSpPr>
          <p:cNvPr id="851" name="Google Shape;851;p54"/>
          <p:cNvSpPr/>
          <p:nvPr/>
        </p:nvSpPr>
        <p:spPr>
          <a:xfrm>
            <a:off x="5486400" y="2243138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-43.3%</a:t>
            </a:r>
            <a:endParaRPr sz="1100"/>
          </a:p>
        </p:txBody>
      </p:sp>
      <p:sp>
        <p:nvSpPr>
          <p:cNvPr id="852" name="Google Shape;852;p54"/>
          <p:cNvSpPr/>
          <p:nvPr/>
        </p:nvSpPr>
        <p:spPr>
          <a:xfrm>
            <a:off x="7058025" y="2243138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연 83.03억</a:t>
            </a:r>
            <a:endParaRPr sz="1100"/>
          </a:p>
        </p:txBody>
      </p:sp>
      <p:sp>
        <p:nvSpPr>
          <p:cNvPr id="853" name="Google Shape;853;p54"/>
          <p:cNvSpPr/>
          <p:nvPr/>
        </p:nvSpPr>
        <p:spPr>
          <a:xfrm>
            <a:off x="514350" y="2528888"/>
            <a:ext cx="8115300" cy="38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54"/>
          <p:cNvSpPr/>
          <p:nvPr/>
        </p:nvSpPr>
        <p:spPr>
          <a:xfrm>
            <a:off x="600075" y="2628900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>
                <a:solidFill>
                  <a:srgbClr val="173657"/>
                </a:solidFill>
              </a:rPr>
              <a:t>②~④ 보조 개선만 적용</a:t>
            </a:r>
            <a:endParaRPr sz="1100"/>
          </a:p>
        </p:txBody>
      </p:sp>
      <p:sp>
        <p:nvSpPr>
          <p:cNvPr id="855" name="Google Shape;855;p54"/>
          <p:cNvSpPr/>
          <p:nvPr/>
        </p:nvSpPr>
        <p:spPr>
          <a:xfrm>
            <a:off x="2700338" y="2628900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B3132E"/>
                </a:solidFill>
              </a:rPr>
              <a:t>15.3%</a:t>
            </a:r>
            <a:endParaRPr sz="1100"/>
          </a:p>
        </p:txBody>
      </p:sp>
      <p:sp>
        <p:nvSpPr>
          <p:cNvPr id="856" name="Google Shape;856;p54"/>
          <p:cNvSpPr/>
          <p:nvPr/>
        </p:nvSpPr>
        <p:spPr>
          <a:xfrm>
            <a:off x="4200525" y="2628900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+9.5%p</a:t>
            </a:r>
            <a:endParaRPr sz="1100"/>
          </a:p>
        </p:txBody>
      </p:sp>
      <p:sp>
        <p:nvSpPr>
          <p:cNvPr id="857" name="Google Shape;857;p54"/>
          <p:cNvSpPr/>
          <p:nvPr/>
        </p:nvSpPr>
        <p:spPr>
          <a:xfrm>
            <a:off x="5486400" y="2628900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-38.4%</a:t>
            </a:r>
            <a:endParaRPr sz="1100"/>
          </a:p>
        </p:txBody>
      </p:sp>
      <p:sp>
        <p:nvSpPr>
          <p:cNvPr id="858" name="Google Shape;858;p54"/>
          <p:cNvSpPr/>
          <p:nvPr/>
        </p:nvSpPr>
        <p:spPr>
          <a:xfrm>
            <a:off x="7058025" y="2628900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>
                <a:solidFill>
                  <a:srgbClr val="173657"/>
                </a:solidFill>
              </a:rPr>
              <a:t>연 47.60억</a:t>
            </a:r>
            <a:endParaRPr sz="1100"/>
          </a:p>
        </p:txBody>
      </p:sp>
      <p:sp>
        <p:nvSpPr>
          <p:cNvPr id="859" name="Google Shape;859;p54"/>
          <p:cNvSpPr/>
          <p:nvPr/>
        </p:nvSpPr>
        <p:spPr>
          <a:xfrm>
            <a:off x="514350" y="2914650"/>
            <a:ext cx="8115300" cy="385763"/>
          </a:xfrm>
          <a:prstGeom prst="rect">
            <a:avLst/>
          </a:prstGeom>
          <a:solidFill>
            <a:srgbClr val="E8F7F2"/>
          </a:solidFill>
          <a:ln w="9525" cap="flat" cmpd="sng">
            <a:solidFill>
              <a:srgbClr val="D9DE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54"/>
          <p:cNvSpPr/>
          <p:nvPr/>
        </p:nvSpPr>
        <p:spPr>
          <a:xfrm>
            <a:off x="600075" y="3014663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173657"/>
                </a:solidFill>
              </a:rPr>
              <a:t>①~④ 전체 적용</a:t>
            </a:r>
            <a:endParaRPr sz="1100"/>
          </a:p>
        </p:txBody>
      </p:sp>
      <p:sp>
        <p:nvSpPr>
          <p:cNvPr id="861" name="Google Shape;861;p54"/>
          <p:cNvSpPr/>
          <p:nvPr/>
        </p:nvSpPr>
        <p:spPr>
          <a:xfrm>
            <a:off x="2700338" y="3014663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9.6%</a:t>
            </a:r>
            <a:endParaRPr sz="1100"/>
          </a:p>
        </p:txBody>
      </p:sp>
      <p:sp>
        <p:nvSpPr>
          <p:cNvPr id="862" name="Google Shape;862;p54"/>
          <p:cNvSpPr/>
          <p:nvPr/>
        </p:nvSpPr>
        <p:spPr>
          <a:xfrm>
            <a:off x="4200525" y="3014663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863" name="Google Shape;863;p54"/>
          <p:cNvSpPr/>
          <p:nvPr/>
        </p:nvSpPr>
        <p:spPr>
          <a:xfrm>
            <a:off x="5486400" y="3014663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-75.1%</a:t>
            </a:r>
            <a:endParaRPr sz="1100"/>
          </a:p>
        </p:txBody>
      </p:sp>
      <p:sp>
        <p:nvSpPr>
          <p:cNvPr id="864" name="Google Shape;864;p54"/>
          <p:cNvSpPr/>
          <p:nvPr/>
        </p:nvSpPr>
        <p:spPr>
          <a:xfrm>
            <a:off x="7058025" y="3014663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865" name="Google Shape;865;p54"/>
          <p:cNvSpPr/>
          <p:nvPr/>
        </p:nvSpPr>
        <p:spPr>
          <a:xfrm>
            <a:off x="800100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E8F7F2"/>
          </a:solidFill>
          <a:ln w="9525" cap="flat" cmpd="sng">
            <a:solidFill>
              <a:srgbClr val="19C7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54"/>
          <p:cNvSpPr/>
          <p:nvPr/>
        </p:nvSpPr>
        <p:spPr>
          <a:xfrm>
            <a:off x="928688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19C7A3"/>
                </a:solidFill>
              </a:rPr>
              <a:t>핵심 효과 1</a:t>
            </a:r>
            <a:endParaRPr sz="1100"/>
          </a:p>
        </p:txBody>
      </p:sp>
      <p:sp>
        <p:nvSpPr>
          <p:cNvPr id="867" name="Google Shape;867;p54"/>
          <p:cNvSpPr/>
          <p:nvPr/>
        </p:nvSpPr>
        <p:spPr>
          <a:xfrm>
            <a:off x="928688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38.3% → 9.6%</a:t>
            </a:r>
            <a:endParaRPr sz="1100"/>
          </a:p>
        </p:txBody>
      </p:sp>
      <p:sp>
        <p:nvSpPr>
          <p:cNvPr id="868" name="Google Shape;868;p54"/>
          <p:cNvSpPr/>
          <p:nvPr/>
        </p:nvSpPr>
        <p:spPr>
          <a:xfrm>
            <a:off x="928688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전체 적용 시 불량률 약 75% 감소</a:t>
            </a:r>
            <a:endParaRPr sz="1100"/>
          </a:p>
        </p:txBody>
      </p:sp>
      <p:sp>
        <p:nvSpPr>
          <p:cNvPr id="869" name="Google Shape;869;p54"/>
          <p:cNvSpPr/>
          <p:nvPr/>
        </p:nvSpPr>
        <p:spPr>
          <a:xfrm>
            <a:off x="3500438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EAF3FA"/>
          </a:solidFill>
          <a:ln w="9525" cap="flat" cmpd="sng">
            <a:solidFill>
              <a:srgbClr val="2C79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54"/>
          <p:cNvSpPr/>
          <p:nvPr/>
        </p:nvSpPr>
        <p:spPr>
          <a:xfrm>
            <a:off x="3629025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2C79B7"/>
                </a:solidFill>
              </a:rPr>
              <a:t>핵심 효과 2</a:t>
            </a:r>
            <a:endParaRPr sz="1100"/>
          </a:p>
        </p:txBody>
      </p:sp>
      <p:sp>
        <p:nvSpPr>
          <p:cNvPr id="871" name="Google Shape;871;p54"/>
          <p:cNvSpPr/>
          <p:nvPr/>
        </p:nvSpPr>
        <p:spPr>
          <a:xfrm>
            <a:off x="3629025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872" name="Google Shape;872;p54"/>
          <p:cNvSpPr/>
          <p:nvPr/>
        </p:nvSpPr>
        <p:spPr>
          <a:xfrm>
            <a:off x="3629025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BG Pass율 향상</a:t>
            </a:r>
            <a:endParaRPr sz="1100"/>
          </a:p>
        </p:txBody>
      </p:sp>
      <p:sp>
        <p:nvSpPr>
          <p:cNvPr id="873" name="Google Shape;873;p54"/>
          <p:cNvSpPr/>
          <p:nvPr/>
        </p:nvSpPr>
        <p:spPr>
          <a:xfrm>
            <a:off x="6200775" y="3571875"/>
            <a:ext cx="2143125" cy="942975"/>
          </a:xfrm>
          <a:prstGeom prst="roundRect">
            <a:avLst>
              <a:gd name="adj" fmla="val 6061"/>
            </a:avLst>
          </a:prstGeom>
          <a:solidFill>
            <a:srgbClr val="FFF6E3"/>
          </a:solidFill>
          <a:ln w="9525" cap="flat" cmpd="sng">
            <a:solidFill>
              <a:srgbClr val="F2A5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54"/>
          <p:cNvSpPr/>
          <p:nvPr/>
        </p:nvSpPr>
        <p:spPr>
          <a:xfrm>
            <a:off x="6329363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2A51A"/>
                </a:solidFill>
              </a:rPr>
              <a:t>핵심 효과 3</a:t>
            </a:r>
            <a:endParaRPr sz="1100"/>
          </a:p>
        </p:txBody>
      </p:sp>
      <p:sp>
        <p:nvSpPr>
          <p:cNvPr id="875" name="Google Shape;875;p54"/>
          <p:cNvSpPr/>
          <p:nvPr/>
        </p:nvSpPr>
        <p:spPr>
          <a:xfrm>
            <a:off x="6329363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876" name="Google Shape;876;p54"/>
          <p:cNvSpPr/>
          <p:nvPr/>
        </p:nvSpPr>
        <p:spPr>
          <a:xfrm>
            <a:off x="6329363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0">
                <a:solidFill>
                  <a:srgbClr val="6A7280"/>
                </a:solidFill>
              </a:rPr>
              <a:t>NG/재작업 감소 기반 비용 절감</a:t>
            </a:r>
            <a:endParaRPr sz="1100"/>
          </a:p>
        </p:txBody>
      </p:sp>
      <p:sp>
        <p:nvSpPr>
          <p:cNvPr id="877" name="Google Shape;877;p54"/>
          <p:cNvSpPr/>
          <p:nvPr/>
        </p:nvSpPr>
        <p:spPr>
          <a:xfrm>
            <a:off x="685800" y="4643438"/>
            <a:ext cx="7772400" cy="242888"/>
          </a:xfrm>
          <a:prstGeom prst="roundRect">
            <a:avLst>
              <a:gd name="adj" fmla="val 17647"/>
            </a:avLst>
          </a:prstGeom>
          <a:solidFill>
            <a:srgbClr val="FCECEF"/>
          </a:solidFill>
          <a:ln w="9525" cap="flat" cmpd="sng">
            <a:solidFill>
              <a:srgbClr val="F4C7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54"/>
          <p:cNvSpPr/>
          <p:nvPr/>
        </p:nvSpPr>
        <p:spPr>
          <a:xfrm>
            <a:off x="871538" y="4693444"/>
            <a:ext cx="500063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B3132E"/>
                </a:solidFill>
              </a:rPr>
              <a:t>정리</a:t>
            </a:r>
            <a:endParaRPr sz="1100"/>
          </a:p>
        </p:txBody>
      </p:sp>
      <p:sp>
        <p:nvSpPr>
          <p:cNvPr id="879" name="Google Shape;879;p54"/>
          <p:cNvSpPr/>
          <p:nvPr/>
        </p:nvSpPr>
        <p:spPr>
          <a:xfrm>
            <a:off x="1428750" y="4686300"/>
            <a:ext cx="607218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>
                <a:solidFill>
                  <a:srgbClr val="173657"/>
                </a:solidFill>
              </a:rPr>
              <a:t>발표에서는 ‘전체 적용’ 결과를 메인 메시지로 두고, ①만/②~④는 비교 근거로만 짧게 설명한다.</a:t>
            </a:r>
            <a:endParaRPr sz="1100"/>
          </a:p>
        </p:txBody>
      </p:sp>
      <p:sp>
        <p:nvSpPr>
          <p:cNvPr id="880" name="Google Shape;880;p54"/>
          <p:cNvSpPr/>
          <p:nvPr/>
        </p:nvSpPr>
        <p:spPr>
          <a:xfrm>
            <a:off x="400050" y="4886325"/>
            <a:ext cx="800100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b="0">
                <a:solidFill>
                  <a:srgbClr val="8392A2"/>
                </a:solidFill>
              </a:rPr>
              <a:t>출처: 원본 BG 불량분석.pptx 24~26p 기대효과 수치. 금액은 원본 시뮬레이터 가정값 기준.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5"/>
          <p:cNvSpPr txBox="1">
            <a:spLocks noGrp="1"/>
          </p:cNvSpPr>
          <p:nvPr>
            <p:ph type="ctrTitle" idx="4294967295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5334</Words>
  <Application>Microsoft Office PowerPoint</Application>
  <PresentationFormat>화면 슬라이드 쇼(16:9)</PresentationFormat>
  <Paragraphs>786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Malgun Gothic</vt:lpstr>
      <vt:lpstr>Arial</vt:lpstr>
      <vt:lpstr>Calibri</vt:lpstr>
      <vt:lpstr>Cambria</vt:lpstr>
      <vt:lpstr>Times New Roman</vt:lpstr>
      <vt:lpstr>Simple Light</vt:lpstr>
      <vt:lpstr>Office Theme</vt:lpstr>
      <vt:lpstr>Simple Light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정회찬</cp:lastModifiedBy>
  <cp:revision>1</cp:revision>
  <dcterms:modified xsi:type="dcterms:W3CDTF">2026-08-20T01:51:19Z</dcterms:modified>
</cp:coreProperties>
</file>