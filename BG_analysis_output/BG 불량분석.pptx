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4" r:id="rId5"/>
    <p:sldMasterId id="2147483675" r:id="rId6"/>
    <p:sldMasterId id="2147483676" r:id="rId7"/>
    <p:sldMasterId id="214748367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14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9FC215-DB7B-4295-BFDB-BFC7B4A58080}">
  <a:tblStyle styleId="{769FC215-DB7B-4295-BFDB-BFC7B4A580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1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slide" Target="slides/slide24.xml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slide" Target="slides/slide26.xml"/><Relationship Id="rId12" Type="http://schemas.openxmlformats.org/officeDocument/2006/relationships/slide" Target="slides/slide3.xml"/><Relationship Id="rId34" Type="http://schemas.openxmlformats.org/officeDocument/2006/relationships/slide" Target="slides/slide25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36" Type="http://schemas.openxmlformats.org/officeDocument/2006/relationships/slide" Target="slides/slide27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b408692a_3_2:notes"/>
          <p:cNvSpPr/>
          <p:nvPr>
            <p:ph idx="2" type="sldImg"/>
          </p:nvPr>
        </p:nvSpPr>
        <p:spPr>
          <a:xfrm>
            <a:off x="1371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ab408692a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SAW(다이싱) 공정의 SPC Out-of-Control 현상을 분석해 물리적 원인을 추적하고 공정 능력(Cpk) 개선안을 도출한 발표입니다.</a:t>
            </a:r>
            <a:endParaRPr/>
          </a:p>
        </p:txBody>
      </p:sp>
      <p:sp>
        <p:nvSpPr>
          <p:cNvPr id="104" name="Google Shape;104;g3fab408692a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76d9b0e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676d9b0e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1. 전체 소개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BG 공정 불량 분석 맡음,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2. 목차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전체 발표 흐름은 다음과 같음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3. 현재 BG 공정 문제 및 배경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한 라인에서 BG 공정 문제가 발생했으며 crack 평균과 TTV가 증가하였음, 이는 최종 검사 단계에서 100%에 달하는 fail을 보이므로 중요한 문제임, 특히 수율이 하락하고 납기가 지연될 수 있으며 전체적인 비용 상승 가능성이 있음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4. 전체 현황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2만장의 웨이퍼에서 총 83%의 웨이퍼가 불량을 보이고 있으며 이중 BG 공정에 따른 불량은 6%임, 하지만 증가한 crack과 TTV로 인해 후속 공정에도 문제를 일으키고 있어 빠른 개선이 필요함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5. BG 공정 이후 변화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BG 공정 이유 scratch는 감소하였지만 crack의 수는 증가했음, 특히 crack의 수가 3을 초과한 웨이퍼가 BG 공정 불량의 80%임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6. 공정 전후 데이터 분석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BG 공정 이후 scratch는 전체적으로 감소하는 것이 보이지만 crack은 큰 변화 없이 3 초과한 웨이퍼가 여전히 있으며, TTV의 경우 평균은 하락했지만 여전히 spec out의 웨이퍼들이 계속 있어 불량을 유발하고 있음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7. 공정 기준 이야기 및 TTV Cpk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crack 3 초과는 전체 2만장의 웨이퍼 중 20%에 달하며 TTV의 Cpk역시 0.15로 빠른 공정 개선이 필요해보임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8. crack scratch 3 초과시 100% 불량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두 경우 모두 3 초과시 100% 불량 판정으로 3 이내시 불량판정 난 경우는 0임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=&gt; 따라서 Crack 과 Scratch 의 스크리닝 임계값을 3으로 설정할 필요가 있음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9. TTV 3 마이크로 미터 초과시 99.8% 불량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정상 웨이퍼의 평균 TTV는 1.53인데 반해 불량 웨이퍼의 평균 TTV는 2.47로 높음, 또한 TTV가 3 마이크로 미터 이상시 즉 NG 판정을 받은 웨이퍼는 99.8% 사실상 전수 불량 판정을 받음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=&gt; TTV 도 마찬가지로 스크리닝 임계값을 2um로 설정하였다.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10. Crack과 TTV를 개선하고자 하며 둘 간의 관계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Crack과 TTV 모두 불량에 기여하고 있으며, 둘 간의 상관계수는 0.7로 강한 양의 상관관계를 보임, 이는 둘간 인과관계가 아닌 같은 근본 원인을 공유하고 있음을 알 수 있음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11. grinding 프로세스 중 rough에 초점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즉, crack과 TTV가 함께 나빠질 수 있는 rough에 문제가 있다 판단함, 이를 개선하기 위한 방안을 탐색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12~13. fish bone을 통한 전체 가능성 탐색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 중 연삭 조건, 레시피 적용, 웨이퍼 척 이상, 센서 이상을 주요 원인으로 보고 이를 먼저 개선하고자 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14. 개선안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즉시, 기준, 예방 관리 측면에서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15. 각각의 개선안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각각의 개선안을 비교하고 무엇을 먼저 실행할 것인지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16. 개선안 실행계획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각각 개선안들의 실행 계획을 세우고 특히 기대효과를 중점으로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17. 구체적으로 실행 계획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예상 일정과 완료 기준을 중점으로 이야기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18. 단계별로 나눠서 실행할 예정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즉시 할 수 있는 센서 캘리브레이션, 척 상태를 먼저 점검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19~20. 예상 걸리는 기간, 각각의 개선안 적용시 기대효과 예측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이정도 걸릴 것이다 이야기, 모두 최적화시 불량률을 줄일 것으로 예상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21. 결론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원인 개선안 기대효과 강조하고 마무리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8b78f04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98b78f04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이번 발표는 A 라인에서 발생한 BG 공정 불량을 다룹니다. 먼저 무엇이 발생했는지 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백그라인딩 Before 와 After Data를 확인했을 때, 크랙 평균이 2.02에서 2.29로 늘었고, 반대로 스크래치는 2.93에서 1.24로 줄어든 것을 확인 할 수 있었습니다.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결과 BG_Crack_Scratch 불량이 1,115건, TTV NG가 4,964건 발생했습니다.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백그라인딩 공정에서 유의미하게 지켜볼 수 있는 데이터는 다음과 같은데, 이는 이후에 상세히 살펴보도록 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 상황이 중요한 이유는, 불량이 그대로 유출될 경우 최종 수율 하락과 납기 지연, 손실 비용 증가로 이어지기 때문입니다.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8b78f04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98b78f04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그럼 전체 불량 현황을 요약해 보겠습니다.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BG, Sawing, Die Attach, Molding, Cleaning 공정을 모두 거친 웨이퍼 2만 장 가운데, 최종 검사에서 Fail이 난 건 83%였습니다.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 Fail들을 Primary Failure 기준으로 쪼개 보면, 오른쪽 파레토도를 확인할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그중 BG_Crack_Scratch는 1,115건, 전체의 6%입니다. 단, 이 6%는 BG 단독으로 집계된 수치이고, 실제로는 BG 결함이 뒷공정 불량으로 번지는 경우까지 고려하면 영향은 더 클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이 연관성까지 함께 분석했고, 백그라인딩에서 어떠한 점을 개선할 수 있을지 살펴보겠습니다.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따라서 앞으로 지켜볼 데이터는, 백그라인딩의 불량이 Final 테스트에 영향을 미칠수도 있다는 것을 염두에 두고 데이터를 바라보고 </a:t>
            </a:r>
            <a:r>
              <a:rPr lang="ko"/>
              <a:t>백그라인딩에서 </a:t>
            </a:r>
            <a:r>
              <a:rPr lang="ko"/>
              <a:t>어떤 점을 개선할 수 있을지 살펴보겠습니다.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98b78f044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98b78f044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저희가 수집한 불량 데이터를 확인해보겠습니다.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우선 왼쪽 그래프를 확인하면, 백그라인딩 공정 이후 스크래치는 57.7% 줄어든 반면 크랙은 오히려 13.5% 늘었습니다. 즉 개선 포인트가 스크래치보다 크랙 쪽에 있다는 신호입니다.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다음은 오른쪽 표를 확인해보겠습니다. 백그라인딩 Fail 웨이퍼들 중, Crack이 3보다 큰 경우가 79%로 높은 비율을 차지하고 있음을 확인할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정리하면, BG 공정 이후 크랙이 증가하는 경향이 확인됐고, BG 단독 불량의 약 80%가 크랙 3 초과에서 나왔다는 겁니다. 그래서 크랙을 이 불량의 핵심 인자로 판단했습니다.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3eda6c738_2_8:notes"/>
          <p:cNvSpPr/>
          <p:nvPr>
            <p:ph idx="2" type="sldImg"/>
          </p:nvPr>
        </p:nvSpPr>
        <p:spPr>
          <a:xfrm>
            <a:off x="1371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f3eda6c738_2_8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2. 데이터 수집 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Sawing 공정과 OOC 현황 및 수율 영향도 분석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t/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핵심요약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발생과 최종 Fail 연관성이 매우 약하다.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t/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아래에는 그래프 및 표로 표시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t/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와 Final Test Pass/Fail 연관성은 전혀 없지만, 설비의 상태를 알리는 조기 경보 지표로서 관리해야 한다.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t/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이와 관련해서는 다음 슬라이드부터 설명하겠습니다 ~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78" name="Google Shape;278;g3f3eda6c738_2_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3eda6c73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3eda6c73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68d7ead14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68d7ead14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표는 전체 20,000 웨이퍼 데이터 기준 크랙과 스크래치가 각각 3 초과인 경우의 웨이퍼들을 조사한 데이터입니다. 보시다시피 크랙이 3이상이거나, 스크래치가 3이상인 경우, 전부 Final Test 결과 Fail인 것을 확인할 수 있었습니다.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 표에서는, 반대로 스크래치와 크랙이 3 이하인 경우, 백그라인딩 단독 불량 케이스가 전혀 없는 것을 확인할 수 있습니다.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따라서, </a:t>
            </a: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수율관리를 위해</a:t>
            </a: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크랙·스크래치의 스크리닝 임계값을 3으로 설정할 필요가 있다는 결론을 내렸습니다.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6b189dc2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6b189dc2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다음은, 추가적인 백그라인딩 불량 요소인 TTV 데이터 현황을 살펴보겠습니다.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 2만 장 기준으로 TTV가 NG인 비율이 24.8%입니다.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또한 TTV NG, 즉 3마이크로미터를 초과한 웨이퍼 4,964장을 보면 무려 99.8%가 Final Test Fail로 이어졌습니다.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오른쪽 막대그래프를 확인하면 Pass 웨이퍼는 평균 TTV가 1.53인 반면, Fail 웨이퍼는 TTV가 2.47로 확인됐습니다.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TTV 편차 자체를 줄이는 동시에, 스크리닝 기준을 2μm 이하로 설정해 관리한다면 수율을 크게 끌어올릴 수 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676d9b0e5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676d9b0e5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 산점도와 피어슨 상관계수를 살펴봤을 때 공정 이후 crack과 TTV간에 0.69로 강한 양의 상관관계를 보이며 실제로 TTV가 클 때 crack의 수가 증가하는 것을 산점도에서 볼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이건 크랙이 TTV를 일으킨다는 인과관계가 아니라, 두 지표가 척 평탄도, 휠 마모, 테이프 상태 같은 동일한 근본 원인을 공유하기 때문에 함께 나빠지는 걸로 해석해야 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3eda6c738_16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f3eda6c738_16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저희는 앞선 데이터들을 종합해서, 크랙과 TTV를 줄이고 관리하는 방향으로 공정을 개선해야 한다는 결론을 내렸습니다.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그럼 Rough와 Fine 중 어디부터 손대야 하느냐. 저희는 Rough Grinding을 우선순위로 봤습니다.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먼저, 스크래치는 백그라인딩 이후 평균이 2.93에서 1.24로 이미 개선된 것을 확인했습니다. 저희는 이걸 Fine Grinding 쪽 상태가 상대적으로 안정적이라는 신호로 봤습니다.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Fine의 개선 우선순위는 뒤로 두고, 크랙 저감을 위해 Rough Grinding 단계를 개선하기로 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/>
              <a:t>Rough Grinding 중에 웨이퍼 표면에 잔류응력과 속상처를 남기고, 이 잔류응력이 크랙의 기점이 되는 동시에, 웨이퍼를 국부적으로 휘게 만들어 두께 편차, 즉 TTV를 키웁니다.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따라서 Rough Grinding 조건을 최적화해서 이 응력을 낮추면, 크랙의 원인을 없애는 동시에 TTV까지 함께 개선 효과를 기대하고 있습니다.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98b78f044_3_2:notes"/>
          <p:cNvSpPr/>
          <p:nvPr>
            <p:ph idx="2" type="sldImg"/>
          </p:nvPr>
        </p:nvSpPr>
        <p:spPr>
          <a:xfrm>
            <a:off x="678920" y="859400"/>
            <a:ext cx="5500159" cy="23203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f98b78f044_3_2:notes"/>
          <p:cNvSpPr txBox="1"/>
          <p:nvPr>
            <p:ph idx="1" type="body"/>
          </p:nvPr>
        </p:nvSpPr>
        <p:spPr>
          <a:xfrm>
            <a:off x="685800" y="3308690"/>
            <a:ext cx="5486400" cy="27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</a:t>
            </a:r>
            <a:r>
              <a:rPr lang="ko"/>
              <a:t>ough Grinding에서 크랙과 TTV가 왜 생기는지, 그 원인의 특성요인을 4M1E 관점에서 피쉬본 다이어그램으로 정리해봤습니다.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중, 저희가 개선해야할 주요 원인으로 다음 네 가지를 설정했습니다.</a:t>
            </a:r>
            <a:endParaRPr/>
          </a:p>
        </p:txBody>
      </p:sp>
      <p:sp>
        <p:nvSpPr>
          <p:cNvPr id="449" name="Google Shape;449;g3f98b78f044_3_2:notes"/>
          <p:cNvSpPr txBox="1"/>
          <p:nvPr>
            <p:ph idx="12" type="sldNum"/>
          </p:nvPr>
        </p:nvSpPr>
        <p:spPr>
          <a:xfrm>
            <a:off x="3884613" y="6530246"/>
            <a:ext cx="2971800" cy="3449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3eda6c738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3eda6c738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Fishbone에서 도출한 여러 잠재 원인 중에서 데이터와 공정 메커니즘, 그리고 실제 검증 가능성을 고려해 네 가지를 주요 개선 대상으로 선정했습니다.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첫 번째는 Rough Grinding의 과도한 Feed Rate와 압력 등 </a:t>
            </a:r>
            <a:r>
              <a:rPr b="1" lang="ko">
                <a:solidFill>
                  <a:schemeClr val="dk1"/>
                </a:solidFill>
              </a:rPr>
              <a:t>연삭조건</a:t>
            </a:r>
            <a:r>
              <a:rPr lang="ko">
                <a:solidFill>
                  <a:schemeClr val="dk1"/>
                </a:solidFill>
              </a:rPr>
              <a:t>, 두 번째는 </a:t>
            </a:r>
            <a:r>
              <a:rPr b="1" lang="ko">
                <a:solidFill>
                  <a:schemeClr val="dk1"/>
                </a:solidFill>
              </a:rPr>
              <a:t>Wafer Chuck의 이물과 평탄도</a:t>
            </a:r>
            <a:r>
              <a:rPr lang="ko">
                <a:solidFill>
                  <a:schemeClr val="dk1"/>
                </a:solidFill>
              </a:rPr>
              <a:t>, 세 번째는 </a:t>
            </a:r>
            <a:r>
              <a:rPr b="1" lang="ko">
                <a:solidFill>
                  <a:schemeClr val="dk1"/>
                </a:solidFill>
              </a:rPr>
              <a:t>Recipe Set값과 장비 Actual값의 편차</a:t>
            </a:r>
            <a:r>
              <a:rPr lang="ko">
                <a:solidFill>
                  <a:schemeClr val="dk1"/>
                </a:solidFill>
              </a:rPr>
              <a:t>, 마지막으로 </a:t>
            </a:r>
            <a:r>
              <a:rPr b="1" lang="ko">
                <a:solidFill>
                  <a:schemeClr val="dk1"/>
                </a:solidFill>
              </a:rPr>
              <a:t>Sensor Calibration 이상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다만 이 네 가지가 현재 확정된 근본원인이라는 의미는 아닙니다.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현재 데이터로 가능성이 높은 원인을 선정한 것이고, 이후 실행계획을 통해 실제 품질 영향 여부를 검증하도록 구성했습니다.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3eda6c738_12_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7" name="Google Shape;537;g3f3eda6c738_12_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선정한 네 가지 원인에 대해서는 단기·중기·장기로 개선안을 구분했습니다.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단기적으로는 Recipe Set-Actual 교차검증, Sensor Calibration, Chuck 세정 및 점검, Rough Grinding 주요 Parameter 이상 여부 확인처럼 즉시 실행 가능한 조치를 선정했습니다.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중기적으로는 일회성 점검을 넘어 허용편차와 관리기준을 설정하고, Rough Grinding 조건별 Crack·TTV 영향을 검증하여 최적조건을 도출하도록 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장기적으로는 Recipe와 Parameter 자동 모니터링, SPC 기반 이상감지, Predictive Maintenance 등 사전 예방관리 체계를 구축하는 방향으로 설정했습니다.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가운데 초록색으로 표시한 항목은 현재 실행 가능성과 효율을 고려하여 최적의 개선안으로 선정한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8" name="Google Shape;538;g3f3eda6c738_12_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3eda6c738_12_1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" name="Google Shape;589;g3f3eda6c738_12_1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선정한 개선안은 효과뿐 아니라 리스크, 적용 난이도, 비용 측면에서 비교했습니다.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Recipe는 허용편차 기준 재설정으로 공정조건을 안정화할 수 있으며 기존데이터를 활용하여 추가 비용이 낮고 적용이 용이합니다. 하지만 관리 조건의 강화로 공정 유연성이 저하된다는 리스크도 존재합니다.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Sensor는 측정 신뢰성을 확보할 수 있으며 Calibration 절차를 활용함으로 적용이 용이합니다. 하지만 점검과 Calibration 중 설비 사용이 제한되며 그에 따른 비용이 발생하는 리스크도 존재합니다.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Chuck의 경우 세정과 점검을 통해 국부적으로 작용하던 응력을 줄여줄 수 있습니다. 하지만 Chuck의 평탄도와 Vacuum 점검 및 관리 기준을 설정해야 하며 점검과 세정 중에는 설비 가동이 제한되고 부품 교체 등을 통해 비용이 발생하는 리스크도 존재합니다.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Rough Grinding 조건 최적화는 Crack을 직접적으로 저감할 가능성이 가장 크지만, 조건 변경에 따라 TTV나 생산성이 영향을 받을 수 있고 DOE와 Wafer 투입이 필요하다는 부담이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</a:t>
            </a:r>
            <a:r>
              <a:rPr b="1" lang="ko">
                <a:solidFill>
                  <a:schemeClr val="dk1"/>
                </a:solidFill>
              </a:rPr>
              <a:t>Sensor와 Chuck은 우선 점검하고, Recipe는 관리기준을 설정하며, Rough Grinding은 DOE를 통해 검증 후 최적화하는 방식</a:t>
            </a:r>
            <a:r>
              <a:rPr lang="ko">
                <a:solidFill>
                  <a:schemeClr val="dk1"/>
                </a:solidFill>
              </a:rPr>
              <a:t>으로 실행 순서를 설정했습니다.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0" name="Google Shape;590;g3f3eda6c738_12_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3eda6c738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f3eda6c738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이를 바탕으로 각 개선안을 러프하게 실제 Action Plan으로 구체화했습니다.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Recipe는 Set-Actual 허용편차를 설정하여 공정조건의 변동을 관리하고, Sensor는 Calibration과 교차검증을 통해 TTV 측정 신뢰성을 확보하도록 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Wafer Chuck은 이물, 평탄도, Vacuum 상태를 점검하여 Wafer 지지 불균일 가능성을 확인합니다.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마지막으로 Rough Grinding은 Feed Rate, RPM, 가공압력별 품질 영향을 검증하여 TTV를 안정화하고 Crack을 감소시키는 것을 목표로 설정했습니다.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각 항목별로 담당자와 완료 예정일도 지정하여 단순 개선 아이디어가 아니라 실제 실행 가능한 계획으로 구성했습니다.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6b189dc26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f6b189dc26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앞서 선정한 네 가지 개선안에 대해서 원인 여부를 검증할 수 있도록 구체적인 실행계획을 수립했습니다.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먼저 첫 번째는 </a:t>
            </a:r>
            <a:r>
              <a:rPr b="1" lang="ko">
                <a:solidFill>
                  <a:schemeClr val="dk1"/>
                </a:solidFill>
              </a:rPr>
              <a:t>Rough Grinding 조건 최적화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저희가 가장 중요하게 보고 있는 가설은 이 과정에서 Feed Rate, RPM, 가공압력과 같은 주요 Parameter가 과도하거나 균일하지 않을 경우 Wafer에 가해지는 연삭 하중이 증가하고, 이것이 Crack과 TTV 이상으로 연결될 수 있다는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각 Parameter를 단계별로 조정하면서 조건별 Crack과 TTV 변화를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여기서 중요한 점은 Crack을 낮추더라도 TTV가 악화된다면 좋은 조건이라고 볼 수 없기 때문에, </a:t>
            </a:r>
            <a:r>
              <a:rPr b="1" lang="ko">
                <a:solidFill>
                  <a:schemeClr val="dk1"/>
                </a:solidFill>
              </a:rPr>
              <a:t>Crack과 TTV를 동시에 만족시키는 조건을 찾는 것</a:t>
            </a:r>
            <a:r>
              <a:rPr lang="ko">
                <a:solidFill>
                  <a:schemeClr val="dk1"/>
                </a:solidFill>
              </a:rPr>
              <a:t>을 완료 기준으로 설정했습니다.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최종적으로 Crack 3 이하, TTV 2마이크로미터 이하의 Spec을 동시에 만족하는 조건이 확인되면 해당 조건을 Recipe에 반영하고 표준화한 뒤, 실제 양산 적용 후에도 Crack과 TTV Trend를 지속적으로 모니터링할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두 번째는 </a:t>
            </a:r>
            <a:r>
              <a:rPr b="1" lang="ko">
                <a:solidFill>
                  <a:schemeClr val="dk1"/>
                </a:solidFill>
              </a:rPr>
              <a:t>Recipe Set–Actual 관리 기준 수립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Recipe에는 목표로 설정한 Set값이 존재하지만, 실제 장비에서 구현되는 Actual값이 항상 동일하다고 볼 수는 없습니다.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주요 Parameter별로 Set값과 Actual값의 편차를 수집하고, 정상군과 불량군에서 이 편차가 어떻게 다른지를 비교할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예를 들어 불량 Wafer에서 특정 Parameter의 Set–Actual 편차가 지속적으로 크게 나타난다면, 해당 Parameter를 품질 영향 후보로 선정할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해당 Parameter 편차와 Crack 및 TTV의 관계를 분석하고, 품질에 영향을 주는 주요 Parameter를 식별한 뒤 허용 가능한 상·하한 기준을 설정할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후에는 단순히 기준만 만드는 것이 아니라 해당 허용편차를 시스템에 등록하고, 편차가 기준을 초과할 경우 Alarm을 발생시키고 필요 시 Interlock까지 연계하는 방향으로 관리하겠습니다.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양산 데이터를 지속적으로 축적하면서 현재 설정한 허용편차가 적절한지도 주기적으로 재검토할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세 번째는 </a:t>
            </a:r>
            <a:r>
              <a:rPr b="1" lang="ko">
                <a:solidFill>
                  <a:schemeClr val="dk1"/>
                </a:solidFill>
              </a:rPr>
              <a:t>Wafer Chuck 이상 점검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Chuck의 경우 단순히 표면을 세정하는 것에서 끝내지 않고, Wafer를 실제로 균일하게 지지하고 있는지를 확인하는 방향으로 검증 계획을 세웠습니다.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우선 Chuck 표면의 이물과 평탄도를 점검하고 Vacuum 흡착압이 관리 기준을 만족하는지 확인합니다.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Chuck 세정 전과 후의 TTV와 Scratch를 비교하여 실제로 품질 특성이 개선되는지를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또한, Chuck의 특정 위치에 평탄도 이상이나 이물이 존재하고, Wafer에서도 동일한 위치에 TTV 또는 Scratch 이상이 반복적으로 나타난다면 Chuck과 불량 간의 연관성을 좀 더 강하게 확인할 수 있어 위치 정보를 중요하게 확인해야 합니다.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Chuck 위치와 Wafer 이상 위치를 Mapping하여 공간적인 일치 여부까지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Chuck 평탄도와 Vacuum이 관리 기준을 만족하면서, 동시에 세정 전 대비 TTV 또는 Scratch의 개선이 확인되는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일회성 조치로 끝내지 않고 정기 세정과 점검 주기를 표준화하고, 열화나 이상이 반복될 경우 재가공 또는 교체 기준까지 운영할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마지막은 </a:t>
            </a:r>
            <a:r>
              <a:rPr b="1" lang="ko">
                <a:solidFill>
                  <a:schemeClr val="dk1"/>
                </a:solidFill>
              </a:rPr>
              <a:t>Sensor Calibration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항목은 다른 개선안과 목적을 달리하여 실제 공정 상태를 개선하는 것이 아닌 분석하고 있는 데이터 자체가 정확한지를 검증하는 것을 목적으로 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TTV를 중요한 관리지표로 사용하고 있기 때문에, 측정값에 Drift나 Calibration 이상이 존재한다면 잘못된 데이터를 기반으로 공정 조건을 조정할 위험이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In-line 두께 계측기를 Calibration하고, Reference Wafer 또는 기준 계측기와 측정값을 비교해 실제 측정편차를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교정 전과 후의 측정값 차이를 확인하고 반복 측정을 실시하여 측정값의 Repeatability도 검증합니다.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Reference 대비 측정편차가 허용규격 내에 들어오고, 반복 측정 시에도 안정적인 결과가 확보되는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Calibration 주기를 표준화하고 교정 이력을 관리하며, 기준을 벗어날 경우 즉시 재교정하고 필요하다면 계측기 이중화도 검토할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3eda6c738_8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0" name="Google Shape;680;g3f3eda6c738_8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앞서 선정한 네 가지 개선안에 대해서 원인 여부를 검증할 수 있도록 구체적인 실행계획을 수립했습니다.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먼저 첫 번째는 </a:t>
            </a:r>
            <a:r>
              <a:rPr b="1" lang="ko">
                <a:solidFill>
                  <a:schemeClr val="dk1"/>
                </a:solidFill>
              </a:rPr>
              <a:t>Rough Grinding 조건 최적화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현재 저희가 가장 중요하게 보고 있는 가설은 이 과정에서 Feed Rate, RPM, 가공압력과 같은 주요 Parameter가 과도하거나 균일하지 않을 경우 Wafer에 가해지는 연삭 하중이 증가하고, 이것이 Crack과 TTV 이상으로 연결될 수 있다는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각 Parameter를 단계별로 조정하면서 조건별 Crack과 TTV 변화를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여기서 중요한 점은 Crack을 낮추더라도 TTV가 악화된다면 좋은 조건이라고 볼 수 없기 때문에, </a:t>
            </a:r>
            <a:r>
              <a:rPr b="1" lang="ko">
                <a:solidFill>
                  <a:schemeClr val="dk1"/>
                </a:solidFill>
              </a:rPr>
              <a:t>Crack과 TTV를 동시에 만족시키는 조건을 찾는 것</a:t>
            </a:r>
            <a:r>
              <a:rPr lang="ko">
                <a:solidFill>
                  <a:schemeClr val="dk1"/>
                </a:solidFill>
              </a:rPr>
              <a:t>을 완료 기준으로 설정했습니다.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최종적으로 Crack 3 이하, TTV 2마이크로미터 이하의 Spec을 동시에 만족하는 조건이 확인되면 해당 조건을 Recipe에 반영하고 표준화한 뒤, 실제 양산 적용 후에도 Crack과 TTV Trend를 지속적으로 모니터링할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두 번째는 </a:t>
            </a:r>
            <a:r>
              <a:rPr b="1" lang="ko">
                <a:solidFill>
                  <a:schemeClr val="dk1"/>
                </a:solidFill>
              </a:rPr>
              <a:t>Recipe Set–Actual 관리 기준 수립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Recipe에는 목표로 설정한 Set값이 존재하지만, 실제 장비에서 구현되는 Actual값이 항상 동일하다고 볼 수는 없습니다.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주요 Parameter별로 Set값과 Actual값의 편차를 수집하고, 정상군과 불량군에서 이 편차가 어떻게 다른지를 비교할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예를 들어 불량 Wafer에서 특정 Parameter의 Set–Actual 편차가 지속적으로 크게 나타난다면, 해당 Parameter를 품질 영향 후보로 선정할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이후 해당 Parameter 편차와 Crack 및 TTV의 관계를 분석하고, 품질에 영향을 주는 주요 Parameter를 식별한 뒤 허용 가능한 상·하한 기준을 설정할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완료 후에는 단순히 기준만 만드는 것이 아니라 해당 허용편차를 시스템에 등록하고, 편차가 기준을 초과할 경우 Alarm을 발생시키고 필요 시 Interlock까지 연계하는 방향으로 관리하겠습니다.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양산 데이터를 지속적으로 축적하면서 현재 설정한 허용편차가 적절한지도 주기적으로 재검토할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세 번째는 </a:t>
            </a:r>
            <a:r>
              <a:rPr b="1" lang="ko">
                <a:solidFill>
                  <a:schemeClr val="dk1"/>
                </a:solidFill>
              </a:rPr>
              <a:t>Wafer Chuck 이상 점검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Chuck의 경우 단순히 표면을 세정하는 것에서 끝내지 않고, Wafer를 실제로 균일하게 지지하고 있는지를 확인하는 방향으로 검증 계획을 세웠습니다.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우선 Chuck 표면의 이물과 평탄도를 점검하고 Vacuum 흡착압이 관리 기준을 만족하는지 확인합니다.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이후 Chuck 세정 전과 후의 TTV와 Scratch를 비교하여 실제로 품질 특성이 개선되는지를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또한, Chuck의 특정 위치에 평탄도 이상이나 이물이 존재하고, Wafer에서도 동일한 위치에 TTV 또는 Scratch 이상이 반복적으로 나타난다면 Chuck과 불량 간의 연관성을 좀 더 강하게 확인할 수 있어 위치 정보를 중요하게 확인해야 합니다.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Chuck 위치와 Wafer 이상 위치를 Mapping하여 공간적인 일치 여부까지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완료 기준은 Chuck 평탄도와 Vacuum이 관리 기준을 만족하면서, 동시에 세정 전 대비 TTV 또는 Scratch의 개선이 확인되는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이후에는 일회성 조치로 끝내지 않고 정기 세정과 점검 주기를 표준화하고, 열화나 이상이 반복될 경우 재가공 또는 교체 기준까지 운영할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마지막은 </a:t>
            </a:r>
            <a:r>
              <a:rPr b="1" lang="ko">
                <a:solidFill>
                  <a:schemeClr val="dk1"/>
                </a:solidFill>
              </a:rPr>
              <a:t>Sensor Calibration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항목은 다른 개선안과 목적을 달리하여 실제 공정 상태를 개선하는 것이 아닌 분석하고 있는 데이터 자체가 정확한지를 검증하는 것을 목적으로 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현재 TTV를 중요한 관리지표로 사용하고 있기 때문에, 측정값에 Drift나 Calibration 이상이 존재한다면 잘못된 데이터를 기반으로 공정 조건을 조정할 위험이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In-line 두께 계측기를 Calibration하고, Reference Wafer 또는 기준 계측기와 측정값을 비교해 실제 측정편차를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교정 전과 후의 측정값 차이를 확인하고 반복 측정을 실시하여 측정값의 Repeatability도 검증합니다.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완료 기준은 Reference 대비 측정편차가 허용규격 내에 들어오고, 반복 측정 시에도 안정적인 결과가 확보되는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이후에는 Calibration 주기를 표준화하고 교정 이력을 관리하며, 기준을 벗어날 경우 즉시 재교정하고 필요하다면 계측기 이중화도 검토할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1" name="Google Shape;681;g3f3eda6c738_8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3eda6c738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3eda6c738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앞서 선정한 네 가지 개선안에 대해서 원인 여부를 검증할 수 있도록 구체적인 실행계획을 수립했습니다.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먼저 첫 번째는 </a:t>
            </a:r>
            <a:r>
              <a:rPr b="1" lang="ko">
                <a:solidFill>
                  <a:schemeClr val="dk1"/>
                </a:solidFill>
              </a:rPr>
              <a:t>Rough Grinding 조건 최적화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저희가 가장 중요하게 보고 있는 가설은 이 과정에서 Feed Rate, RPM, 가공압력과 같은 주요 Parameter가 과도하거나 균일하지 않을 경우 Wafer에 가해지는 연삭 하중이 증가하고, 이것이 Crack과 TTV 이상으로 연결될 수 있다는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각 Parameter를 단계별로 조정하면서 조건별 Crack과 TTV 변화를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여기서 중요한 점은 Crack을 낮추더라도 TTV가 악화된다면 좋은 조건이라고 볼 수 없기 때문에, </a:t>
            </a:r>
            <a:r>
              <a:rPr b="1" lang="ko">
                <a:solidFill>
                  <a:schemeClr val="dk1"/>
                </a:solidFill>
              </a:rPr>
              <a:t>Crack과 TTV를 동시에 만족시키는 조건을 찾는 것</a:t>
            </a:r>
            <a:r>
              <a:rPr lang="ko">
                <a:solidFill>
                  <a:schemeClr val="dk1"/>
                </a:solidFill>
              </a:rPr>
              <a:t>을 완료 기준으로 설정했습니다.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최종적으로 Crack 3 이하, TTV 2마이크로미터 이하의 Spec을 동시에 만족하는 조건이 확인되면 해당 조건을 Recipe에 반영하고 표준화한 뒤, 실제 양산 적용 후에도 Crack과 TTV Trend를 지속적으로 모니터링할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두 번째는 </a:t>
            </a:r>
            <a:r>
              <a:rPr b="1" lang="ko">
                <a:solidFill>
                  <a:schemeClr val="dk1"/>
                </a:solidFill>
              </a:rPr>
              <a:t>Recipe Set–Actual 관리 기준 수립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Recipe에는 목표로 설정한 Set값이 존재하지만, 실제 장비에서 구현되는 Actual값이 항상 동일하다고 볼 수는 없습니다.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주요 Parameter별로 Set값과 Actual값의 편차를 수집하고, 정상군과 불량군에서 이 편차가 어떻게 다른지를 비교할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예를 들어 불량 Wafer에서 특정 Parameter의 Set–Actual 편차가 지속적으로 크게 나타난다면, 해당 Parameter를 품질 영향 후보로 선정할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해당 Parameter 편차와 Crack 및 TTV의 관계를 분석하고, 품질에 영향을 주는 주요 Parameter를 식별한 뒤 허용 가능한 상·하한 기준을 설정할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후에는 단순히 기준만 만드는 것이 아니라 해당 허용편차를 시스템에 등록하고, 편차가 기준을 초과할 경우 Alarm을 발생시키고 필요 시 Interlock까지 연계하는 방향으로 관리하겠습니다.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양산 데이터를 지속적으로 축적하면서 현재 설정한 허용편차가 적절한지도 주기적으로 재검토할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세 번째는 </a:t>
            </a:r>
            <a:r>
              <a:rPr b="1" lang="ko">
                <a:solidFill>
                  <a:schemeClr val="dk1"/>
                </a:solidFill>
              </a:rPr>
              <a:t>Wafer Chuck 이상 점검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Chuck의 경우 단순히 표면을 세정하는 것에서 끝내지 않고, Wafer를 실제로 균일하게 지지하고 있는지를 확인하는 방향으로 검증 계획을 세웠습니다.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우선 Chuck 표면의 이물과 평탄도를 점검하고 Vacuum 흡착압이 관리 기준을 만족하는지 확인합니다.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 Chuck 세정 전과 후의 TTV와 Scratch를 비교하여 실제로 품질 특성이 개선되는지를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또한, Chuck의 특정 위치에 평탄도 이상이나 이물이 존재하고, Wafer에서도 동일한 위치에 TTV 또는 Scratch 이상이 반복적으로 나타난다면 Chuck과 불량 간의 연관성을 좀 더 강하게 확인할 수 있어 위치 정보를 중요하게 확인해야 합니다.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Chuck 위치와 Wafer 이상 위치를 Mapping하여 공간적인 일치 여부까지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Chuck 평탄도와 Vacuum이 관리 기준을 만족하면서, 동시에 세정 전 대비 TTV 또는 Scratch의 개선이 확인되는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일회성 조치로 끝내지 않고 정기 세정과 점검 주기를 표준화하고, 열화나 이상이 반복될 경우 재가공 또는 교체 기준까지 운영할 계획입니다.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마지막은 </a:t>
            </a:r>
            <a:r>
              <a:rPr b="1" lang="ko">
                <a:solidFill>
                  <a:schemeClr val="dk1"/>
                </a:solidFill>
              </a:rPr>
              <a:t>Sensor Calibration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항목은 다른 개선안과 목적을 달리하여 실제 공정 상태를 개선하는 것이 아닌 분석하고 있는 데이터 자체가 정확한지를 검증하는 것을 목적으로 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TTV를 중요한 관리지표로 사용하고 있기 때문에, 측정값에 Drift나 Calibration 이상이 존재한다면 잘못된 데이터를 기반으로 공정 조건을 조정할 위험이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In-line 두께 계측기를 Calibration하고, Reference Wafer 또는 기준 계측기와 측정값을 비교해 실제 측정편차를 확인할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교정 전과 후의 측정값 차이를 확인하고 반복 측정을 실시하여 측정값의 Repeatability도 검증합니다.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완료 기준은 Reference 대비 측정편차가 허용규격 내에 들어오고, 반복 측정 시에도 안정적인 결과가 확보되는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이후에는 Calibration 주기를 표준화하고 교정 이력을 관리하며, 기준을 벗어날 경우 즉시 재교정하고 필요하다면 계측기 이중화도 검토할 계획입니다.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3eda6c738_8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g3f3eda6c738_8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“앞서 네 가지 개선안을 도출한 이후, </a:t>
            </a:r>
            <a:r>
              <a:rPr b="1" lang="ko">
                <a:solidFill>
                  <a:schemeClr val="dk1"/>
                </a:solidFill>
              </a:rPr>
              <a:t>각 개선안이 실제로 어느 정도의 개선효과를 가질 수 있는지를 정량적으로 비교하기 위해 별도의 BG 공정 시뮬레이터를 제작했습니다.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이번 프로젝트는 교육 프로그램에서 제공된 Excel 데이터를 기반으로 진행했기 때문에 실제 BG 장비를 사용하거나 공정조건을 직접 변경해 검증할 수 있는 환경은 아니었습니다.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그렇다고 원인 분석 후 개선안을 제안하는 것에서 끝내면, </a:t>
            </a:r>
            <a:r>
              <a:rPr b="1" lang="ko">
                <a:solidFill>
                  <a:schemeClr val="dk1"/>
                </a:solidFill>
              </a:rPr>
              <a:t>어떤 개선안을 우선적으로 적용해야 하는지, 그리고 개선안들을 함께 적용했을 때 어느 정도의 추가적인 효과가 있는지를 비교하기 어렵다고 판단했습니다.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그래서 제공된 </a:t>
            </a:r>
            <a:r>
              <a:rPr b="1" lang="ko">
                <a:solidFill>
                  <a:schemeClr val="dk1"/>
                </a:solidFill>
              </a:rPr>
              <a:t>2만 건의 데이터 중 BG 공정 데이터만 활용하여</a:t>
            </a:r>
            <a:r>
              <a:rPr lang="ko">
                <a:solidFill>
                  <a:schemeClr val="dk1"/>
                </a:solidFill>
              </a:rPr>
              <a:t>, 개선조건을 가상으로 적용하고 Crack과 TTV의 변화를 비교할 수 있는 시뮬레이터를 제작했습니다.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먼저 개선안을 적용하지 않은 0% 상태에서는 임의의 결과가 나오지 않도록 </a:t>
            </a:r>
            <a:r>
              <a:rPr b="1" lang="ko">
                <a:solidFill>
                  <a:schemeClr val="dk1"/>
                </a:solidFill>
              </a:rPr>
              <a:t>원본 Excel의 BG 데이터를 그대로 기준값으로 설정했습니다.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그리고 단순히 평균값이 낮아지는지만 보는 것이 아니라, 실제 품질 기준을 반영하기 위해 </a:t>
            </a:r>
            <a:r>
              <a:rPr b="1" lang="ko">
                <a:solidFill>
                  <a:schemeClr val="dk1"/>
                </a:solidFill>
              </a:rPr>
              <a:t>Crack은 3 이하, TTV는 2마이크로미터 이하를 정상 기준으로 설정</a:t>
            </a:r>
            <a:r>
              <a:rPr lang="ko">
                <a:solidFill>
                  <a:schemeClr val="dk1"/>
                </a:solidFill>
              </a:rPr>
              <a:t>하고 각 조건에서 NG율이 어떻게 변화하는지를 비교했습니다.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첫 번째로 </a:t>
            </a:r>
            <a:r>
              <a:rPr b="1" lang="ko">
                <a:solidFill>
                  <a:schemeClr val="dk1"/>
                </a:solidFill>
              </a:rPr>
              <a:t>Rough Grinding 조건만 최적화한 경우</a:t>
            </a:r>
            <a:r>
              <a:rPr lang="ko">
                <a:solidFill>
                  <a:schemeClr val="dk1"/>
                </a:solidFill>
              </a:rPr>
              <a:t>를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실행계획에서 설정한 Feed Rate, RPM, 가공압력을 각각 3수준으로 설정했고, 이를 조합하여 </a:t>
            </a:r>
            <a:r>
              <a:rPr b="1" lang="ko">
                <a:solidFill>
                  <a:schemeClr val="dk1"/>
                </a:solidFill>
              </a:rPr>
              <a:t>총 27개의 가상 조건을 비교했습니다.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오른쪽 표가 27개 조건의 결과입니다.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중 </a:t>
            </a:r>
            <a:r>
              <a:rPr b="1" lang="ko">
                <a:solidFill>
                  <a:schemeClr val="dk1"/>
                </a:solidFill>
              </a:rPr>
              <a:t>Feed Rate 90%, RPM 110%, 가공압력 90% 조합이 가장 우수한 후보 조건</a:t>
            </a:r>
            <a:r>
              <a:rPr lang="ko">
                <a:solidFill>
                  <a:schemeClr val="dk1"/>
                </a:solidFill>
              </a:rPr>
              <a:t>으로 나타났습니다.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해당 조건을 적용했을 때 Crack NG율은 </a:t>
            </a:r>
            <a:r>
              <a:rPr b="1" lang="ko">
                <a:solidFill>
                  <a:schemeClr val="dk1"/>
                </a:solidFill>
              </a:rPr>
              <a:t>6.4%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b="1" lang="ko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그리고 이 개선효과를 단순 불량률뿐만 아니라 생산성과 비용 측면에서도 확인하기 위해 </a:t>
            </a:r>
            <a:r>
              <a:rPr b="1" lang="ko">
                <a:solidFill>
                  <a:schemeClr val="dk1"/>
                </a:solidFill>
              </a:rPr>
              <a:t>KPI로 추가 환산했습니다.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“KPI를 보면, 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비용 효과의 경우 실데이터가 제공되지 않았기 때문에, 비교를 위해 연간 BG 처리량을 100만 장, NG 및 재작업 Wafer 한 장당 비용을 5만 원으로 동일하게 가정했습니다.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조건을 적용하면 연 83.03억 원을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따라서 Rough Grinding 조건만 최적화해도 상당한 개선효과를 볼 수 있음을 알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다음으로 Rough Grinding 조건을 제외하고, 나머지 세 가지 개선안을 적용했을 때의 효과를 확인했습니다.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“두 번째는 Rough Grinding 조건은 기존 상태로 유지하고, </a:t>
            </a:r>
            <a:r>
              <a:rPr b="1" lang="ko">
                <a:solidFill>
                  <a:schemeClr val="dk1"/>
                </a:solidFill>
              </a:rPr>
              <a:t>② Recipe Set-Actual 관리, ③ Wafer Chuck 점검, ④ Sensor Calibration을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이 세 가지 개선안을 적용했을 때 Crack NG율은 약 </a:t>
            </a:r>
            <a:r>
              <a:rPr b="1" lang="ko">
                <a:solidFill>
                  <a:schemeClr val="dk1"/>
                </a:solidFill>
              </a:rPr>
              <a:t>13.2%</a:t>
            </a:r>
            <a:r>
              <a:rPr lang="ko">
                <a:solidFill>
                  <a:schemeClr val="dk1"/>
                </a:solidFill>
              </a:rPr>
              <a:t>, TTV NG율은 약 </a:t>
            </a:r>
            <a:r>
              <a:rPr b="1" lang="ko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로 예측됐습니다.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앞선 Rough Grinding 단독 개선에서는 Crack 감소효과가 상대적으로 크게 나타났다면, 이번 시나리오에서는 </a:t>
            </a:r>
            <a:r>
              <a:rPr b="1" lang="ko">
                <a:solidFill>
                  <a:schemeClr val="dk1"/>
                </a:solidFill>
              </a:rPr>
              <a:t>TTV NG율이 더 낮아지는 결과</a:t>
            </a:r>
            <a:r>
              <a:rPr lang="ko">
                <a:solidFill>
                  <a:schemeClr val="dk1"/>
                </a:solidFill>
              </a:rPr>
              <a:t>를 확인할 수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즉 공정조건 자체를 조정하는 것뿐만 아니라 Recipe 편차, Chuck 상태, 계측 신뢰성과 같은 관리항목 역시 BG 품질 안정화에 함께 고려할 필요가 있다고 판단했습니다.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이 결과 역시 동일한 기준으로 KPI를 환산했습니다.”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또한 연간 47.6억을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하지만, Rough Grinding 조건과 비교한다면 증감의 비율이 비교적 작음을 알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그래서 마지막으로 모든 개선안을 적용했을 때의 결과를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“마지막은 </a:t>
            </a:r>
            <a:r>
              <a:rPr b="1" lang="ko">
                <a:solidFill>
                  <a:schemeClr val="dk1"/>
                </a:solidFill>
              </a:rPr>
              <a:t>네 가지 개선안을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Rough Grinding에는 앞서 27개 조건 중 가장 우수한 후보로 나타난 </a:t>
            </a:r>
            <a:r>
              <a:rPr b="1" lang="ko">
                <a:solidFill>
                  <a:schemeClr val="dk1"/>
                </a:solidFill>
              </a:rPr>
              <a:t>Feed Rate 90%, RPM 110%, 가공압력 90% 조건</a:t>
            </a:r>
            <a:r>
              <a:rPr lang="ko">
                <a:solidFill>
                  <a:schemeClr val="dk1"/>
                </a:solidFill>
              </a:rPr>
              <a:t>을 적용했고, 여기에 Recipe Set-Actual 관리, Wafer Chuck 점검, Sensor Calibration을 모두 적용했습니다.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그 결과 Crack NG율은 </a:t>
            </a:r>
            <a:r>
              <a:rPr b="1" lang="ko">
                <a:solidFill>
                  <a:schemeClr val="dk1"/>
                </a:solidFill>
              </a:rPr>
              <a:t>2.9%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b="1" lang="ko">
                <a:solidFill>
                  <a:schemeClr val="dk1"/>
                </a:solidFill>
              </a:rPr>
              <a:t>9.6%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즉 ①만 적용하거나 ②부터 ④까지만 적용했을 때보다, </a:t>
            </a:r>
            <a:r>
              <a:rPr b="1" lang="ko">
                <a:solidFill>
                  <a:schemeClr val="dk1"/>
                </a:solidFill>
              </a:rPr>
              <a:t>공정조건 최적화와 설비·계측 관리를 함께 적용했을 때 Crack과 TTV 모두에서 가장 큰 개선효과</a:t>
            </a:r>
            <a:r>
              <a:rPr lang="ko">
                <a:solidFill>
                  <a:schemeClr val="dk1"/>
                </a:solidFill>
              </a:rPr>
              <a:t>가 나타났습니다.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마지막으로 동일한 기준으로 전체 개선안의 KPI를 확인했습니다.”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불량률과 재작업량은 마찬가지로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또한 연간 143.9억을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따라서 시뮬레이션 결과를 종합하면, 하나의 개선안만 적용하는 것보다 4개의 주 개선안을 </a:t>
            </a:r>
            <a:r>
              <a:rPr b="1" lang="ko">
                <a:solidFill>
                  <a:schemeClr val="dk1"/>
                </a:solidFill>
              </a:rPr>
              <a:t>함께 적용하는 통합적인 관리방안이 가장 높은 개선효과를 보였습니다.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다만 이번 결과는 실제 장비에서 검증한 결과가 아니라 </a:t>
            </a:r>
            <a:r>
              <a:rPr b="1" lang="ko">
                <a:solidFill>
                  <a:schemeClr val="dk1"/>
                </a:solidFill>
              </a:rPr>
              <a:t>제공된 Excel 데이터를 기반으로 개선안을 가상 적용한 시뮬레이션 결과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따라서 구체적인 수치를 실제 양산 개선효과로 단정하기보다는, </a:t>
            </a:r>
            <a:r>
              <a:rPr b="1" lang="ko">
                <a:solidFill>
                  <a:schemeClr val="dk1"/>
                </a:solidFill>
              </a:rPr>
              <a:t>각 개선안의 상대적인 효과를 비교하고 개선 우선순위를 제안하기 위한 결과</a:t>
            </a:r>
            <a:r>
              <a:rPr lang="ko">
                <a:solidFill>
                  <a:schemeClr val="dk1"/>
                </a:solidFill>
              </a:rPr>
              <a:t>로 해석했습니다.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3" name="Google Shape;783;g3f3eda6c738_8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f3eda6c738_8_1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8" name="Google Shape;838;g3f3eda6c738_8_1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39" name="Google Shape;839;g3f3eda6c738_8_1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6c6aff6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f6c6aff6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결론은, 저희는 백그라인딩 공정의 크랙과 TTV 문제의 핵심 원인을 Rough Grinding 공정 개선을 통해 개선을 진행할 예정입니다.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이를 통해 불량률을 38.3%에서 9.6%로 감소시키는 효과를 기대하고 있습니다.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3eda6c738_2_15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g3f3eda6c738_2_151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Q&amp;A 세션. 사전에 준비된 디펜스 전략(수율 비유의 근거, Unknown Rule 해석, AUC 0.5 의미, Blade 90% 표준화 논리 등)으로 질문에 대응합니다.</a:t>
            </a:r>
            <a:endParaRPr/>
          </a:p>
        </p:txBody>
      </p:sp>
      <p:sp>
        <p:nvSpPr>
          <p:cNvPr id="910" name="Google Shape;910;g3f3eda6c738_2_15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f3eda6c738_2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f3eda6c738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결론은, 저희는 백그라인딩 공정의 크랙과 TTV 문제의 핵심 원인을 Rough Grinding 공정 개선을 통해 개선을 진행할 예정입니다.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이를 통해 불량률을 38.3%에서 9.6%로 감소시키는 효과를 기대하고 있습니다.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f6b189dc26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f6b189dc26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“앞서 네 가지 개선안을 도출한 이후, </a:t>
            </a:r>
            <a:r>
              <a:rPr b="1" lang="ko">
                <a:solidFill>
                  <a:schemeClr val="dk1"/>
                </a:solidFill>
              </a:rPr>
              <a:t>각 개선안이 실제로 어느 정도의 개선효과를 가질 수 있는지를 정량적으로 비교하기 위해 별도의 BG 공정 시뮬레이터를 제작했습니다.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이번 프로젝트는 교육 프로그램에서 제공된 Excel 데이터를 기반으로 진행했기 때문에 실제 BG 장비를 사용하거나 공정조건을 직접 변경해 검증할 수 있는 환경은 아니었습니다.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그렇다고 원인 분석 후 개선안을 제안하는 것에서 끝내면, </a:t>
            </a:r>
            <a:r>
              <a:rPr b="1" lang="ko">
                <a:solidFill>
                  <a:schemeClr val="dk1"/>
                </a:solidFill>
              </a:rPr>
              <a:t>어떤 개선안을 우선적으로 적용해야 하는지, 그리고 개선안들을 함께 적용했을 때 어느 정도의 추가적인 효과가 있는지를 비교하기 어렵다고 판단했습니다.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제공된 </a:t>
            </a:r>
            <a:r>
              <a:rPr b="1" lang="ko">
                <a:solidFill>
                  <a:schemeClr val="dk1"/>
                </a:solidFill>
              </a:rPr>
              <a:t>2만 건의 데이터 중 BG 공정 데이터만 활용하여</a:t>
            </a:r>
            <a:r>
              <a:rPr lang="ko">
                <a:solidFill>
                  <a:schemeClr val="dk1"/>
                </a:solidFill>
              </a:rPr>
              <a:t>, 개선조건을 가상으로 적용하고 Crack과 TTV의 변화를 비교할 수 있는 시뮬레이터를 제작했습니다.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먼저 개선안을 적용하지 않은 0% 상태에서는 임의의 결과가 나오지 않도록 </a:t>
            </a:r>
            <a:r>
              <a:rPr b="1" lang="ko">
                <a:solidFill>
                  <a:schemeClr val="dk1"/>
                </a:solidFill>
              </a:rPr>
              <a:t>원본 Excel의 BG 데이터를 그대로 기준값으로 설정했습니다.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그리고 단순히 평균값이 낮아지는지만 보는 것이 아니라, 실제 품질 기준을 반영하기 위해 </a:t>
            </a:r>
            <a:r>
              <a:rPr b="1" lang="ko">
                <a:solidFill>
                  <a:schemeClr val="dk1"/>
                </a:solidFill>
              </a:rPr>
              <a:t>Crack은 3 이하, TTV는 2마이크로미터 이하를 정상 기준으로 설정</a:t>
            </a:r>
            <a:r>
              <a:rPr lang="ko">
                <a:solidFill>
                  <a:schemeClr val="dk1"/>
                </a:solidFill>
              </a:rPr>
              <a:t>하고 각 조건에서 NG율이 어떻게 변화하는지를 비교했습니다.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첫 번째로 </a:t>
            </a:r>
            <a:r>
              <a:rPr b="1" lang="ko">
                <a:solidFill>
                  <a:schemeClr val="dk1"/>
                </a:solidFill>
              </a:rPr>
              <a:t>Rough Grinding 조건만 최적화한 경우</a:t>
            </a:r>
            <a:r>
              <a:rPr lang="ko">
                <a:solidFill>
                  <a:schemeClr val="dk1"/>
                </a:solidFill>
              </a:rPr>
              <a:t>를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실행계획에서 설정한 Feed Rate, RPM, 가공압력을 각각 3수준으로 설정했고, 이를 조합하여 </a:t>
            </a:r>
            <a:r>
              <a:rPr b="1" lang="ko">
                <a:solidFill>
                  <a:schemeClr val="dk1"/>
                </a:solidFill>
              </a:rPr>
              <a:t>총 27개의 가상 조건을 비교했습니다.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오른쪽 표가 27개 조건의 결과입니다.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중 </a:t>
            </a:r>
            <a:r>
              <a:rPr b="1" lang="ko">
                <a:solidFill>
                  <a:schemeClr val="dk1"/>
                </a:solidFill>
              </a:rPr>
              <a:t>Feed Rate 90%, RPM 110%, 가공압력 90% 조합이 가장 우수한 후보 조건</a:t>
            </a:r>
            <a:r>
              <a:rPr lang="ko">
                <a:solidFill>
                  <a:schemeClr val="dk1"/>
                </a:solidFill>
              </a:rPr>
              <a:t>으로 나타났습니다.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해당 조건을 적용했을 때 Crack NG율은 </a:t>
            </a:r>
            <a:r>
              <a:rPr b="1" lang="ko">
                <a:solidFill>
                  <a:schemeClr val="dk1"/>
                </a:solidFill>
              </a:rPr>
              <a:t>6.4%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b="1" lang="ko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그리고 이 개선효과를 단순 불량률뿐만 아니라 생산성과 비용 측면에서도 확인하기 위해 </a:t>
            </a:r>
            <a:r>
              <a:rPr b="1" lang="ko">
                <a:solidFill>
                  <a:schemeClr val="dk1"/>
                </a:solidFill>
              </a:rPr>
              <a:t>KPI로 추가 환산했습니다.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“KPI를 보면, 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비용 효과의 경우 실데이터가 제공되지 않았기 때문에, 비교를 위해 연간 BG 처리량을 100만 장, NG 및 재작업 Wafer 한 장당 비용을 5만 원으로 동일하게 가정했습니다.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조건을 적용하면 연 83.03억 원을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Rough Grinding 조건만 최적화해도 상당한 개선효과를 볼 수 있음을 알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다음으로 Rough Grinding 조건을 제외하고, 나머지 세 가지 개선안을 적용했을 때의 효과를 확인했습니다.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f6b189dc26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f6b189dc26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“두 번째는 Rough Grinding 조건은 기존 상태로 유지하고, </a:t>
            </a:r>
            <a:r>
              <a:rPr b="1" lang="ko">
                <a:solidFill>
                  <a:schemeClr val="dk1"/>
                </a:solidFill>
              </a:rPr>
              <a:t>② Recipe Set-Actual 관리, ③ Wafer Chuck 점검, ④ Sensor Calibration을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세 가지 개선안을 적용했을 때 Crack NG율은 약 </a:t>
            </a:r>
            <a:r>
              <a:rPr b="1" lang="ko">
                <a:solidFill>
                  <a:schemeClr val="dk1"/>
                </a:solidFill>
              </a:rPr>
              <a:t>13.2%</a:t>
            </a:r>
            <a:r>
              <a:rPr lang="ko">
                <a:solidFill>
                  <a:schemeClr val="dk1"/>
                </a:solidFill>
              </a:rPr>
              <a:t>, TTV NG율은 약 </a:t>
            </a:r>
            <a:r>
              <a:rPr b="1" lang="ko">
                <a:solidFill>
                  <a:schemeClr val="dk1"/>
                </a:solidFill>
              </a:rPr>
              <a:t>21.7%</a:t>
            </a:r>
            <a:r>
              <a:rPr lang="ko">
                <a:solidFill>
                  <a:schemeClr val="dk1"/>
                </a:solidFill>
              </a:rPr>
              <a:t>로 예측됐습니다.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앞선 Rough Grinding 단독 개선에서는 Crack 감소효과가 상대적으로 크게 나타났다면, 이번 시나리오에서는 </a:t>
            </a:r>
            <a:r>
              <a:rPr b="1" lang="ko">
                <a:solidFill>
                  <a:schemeClr val="dk1"/>
                </a:solidFill>
              </a:rPr>
              <a:t>TTV NG율이 더 낮아지는 결과</a:t>
            </a:r>
            <a:r>
              <a:rPr lang="ko">
                <a:solidFill>
                  <a:schemeClr val="dk1"/>
                </a:solidFill>
              </a:rPr>
              <a:t>를 확인할 수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즉 공정조건 자체를 조정하는 것뿐만 아니라 Recipe 편차, Chuck 상태, 계측 신뢰성과 같은 관리항목 역시 BG 품질 안정화에 함께 고려할 필요가 있다고 판단했습니다.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결과 역시 동일한 기준으로 KPI를 환산했습니다.”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불량률과 재작업량은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연간 47.6억을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하지만, Rough Grinding 조건과 비교한다면 증감의 비율이 비교적 작음을 알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마지막으로 모든 개선안을 적용했을 때의 결과를 확인했습니다.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f6b189dc26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f6b189dc26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“마지막은 </a:t>
            </a:r>
            <a:r>
              <a:rPr b="1" lang="ko">
                <a:solidFill>
                  <a:schemeClr val="dk1"/>
                </a:solidFill>
              </a:rPr>
              <a:t>네 가지 개선안을 모두 적용한 경우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Rough Grinding에는 앞서 27개 조건 중 가장 우수한 후보로 나타난 </a:t>
            </a:r>
            <a:r>
              <a:rPr b="1" lang="ko">
                <a:solidFill>
                  <a:schemeClr val="dk1"/>
                </a:solidFill>
              </a:rPr>
              <a:t>Feed Rate 90%, RPM 110%, 가공압력 90% 조건</a:t>
            </a:r>
            <a:r>
              <a:rPr lang="ko">
                <a:solidFill>
                  <a:schemeClr val="dk1"/>
                </a:solidFill>
              </a:rPr>
              <a:t>을 적용했고, 여기에 Recipe Set-Actual 관리, Wafer Chuck 점검, Sensor Calibration을 모두 적용했습니다.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 결과 Crack NG율은 </a:t>
            </a:r>
            <a:r>
              <a:rPr b="1" lang="ko">
                <a:solidFill>
                  <a:schemeClr val="dk1"/>
                </a:solidFill>
              </a:rPr>
              <a:t>2.9%</a:t>
            </a:r>
            <a:r>
              <a:rPr lang="ko">
                <a:solidFill>
                  <a:schemeClr val="dk1"/>
                </a:solidFill>
              </a:rPr>
              <a:t>, TTV NG율은 </a:t>
            </a:r>
            <a:r>
              <a:rPr b="1" lang="ko">
                <a:solidFill>
                  <a:schemeClr val="dk1"/>
                </a:solidFill>
              </a:rPr>
              <a:t>9.6%</a:t>
            </a:r>
            <a:r>
              <a:rPr lang="ko">
                <a:solidFill>
                  <a:schemeClr val="dk1"/>
                </a:solidFill>
              </a:rPr>
              <a:t>까지 감소하는 것으로 예측됐습니다.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즉 ①만 적용하거나 ②부터 ④까지만 적용했을 때보다, </a:t>
            </a:r>
            <a:r>
              <a:rPr b="1" lang="ko">
                <a:solidFill>
                  <a:schemeClr val="dk1"/>
                </a:solidFill>
              </a:rPr>
              <a:t>공정조건 최적화와 설비·계측 관리를 함께 적용했을 때 Crack과 TTV 모두에서 가장 큰 개선효과</a:t>
            </a:r>
            <a:r>
              <a:rPr lang="ko">
                <a:solidFill>
                  <a:schemeClr val="dk1"/>
                </a:solidFill>
              </a:rPr>
              <a:t>가 나타났습니다.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마지막으로 동일한 기준으로 전체 개선안의 KPI를 확인했습니다.”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클릭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불량률과 재작업량은 마찬가지로 감소하고 BG Pass율은 향상되는 것을 확인할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연간 143.9억을 절약할 수 있다고 볼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시뮬레이션 결과를 종합하면, 하나의 개선안만 적용하는 것보다 4개의 주 개선안을 </a:t>
            </a:r>
            <a:r>
              <a:rPr b="1" lang="ko">
                <a:solidFill>
                  <a:schemeClr val="dk1"/>
                </a:solidFill>
              </a:rPr>
              <a:t>함께 적용하는 통합적인 관리방안이 가장 높은 개선효과를 보였습니다.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다만 이번 결과는 실제 장비에서 검증한 결과가 아니라 </a:t>
            </a:r>
            <a:r>
              <a:rPr b="1" lang="ko">
                <a:solidFill>
                  <a:schemeClr val="dk1"/>
                </a:solidFill>
              </a:rPr>
              <a:t>제공된 Excel 데이터를 기반으로 개선안을 가상 적용한 시뮬레이션 결과</a:t>
            </a:r>
            <a:r>
              <a:rPr lang="ko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구체적인 수치를 실제 양산 개선효과로 단정하기보다는, </a:t>
            </a:r>
            <a:r>
              <a:rPr b="1" lang="ko">
                <a:solidFill>
                  <a:schemeClr val="dk1"/>
                </a:solidFill>
              </a:rPr>
              <a:t>각 개선안의 상대적인 효과를 비교하고 개선 우선순위를 제안하기 위한 결과</a:t>
            </a:r>
            <a:r>
              <a:rPr lang="ko">
                <a:solidFill>
                  <a:schemeClr val="dk1"/>
                </a:solidFill>
              </a:rPr>
              <a:t>로 해석했습니다.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" name="Google Shape;64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9" name="Google Shape;79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" name="Google Shape;80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7" name="Google Shape;87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" name="Google Shape;9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4" name="Google Shape;9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/>
          <p:nvPr/>
        </p:nvSpPr>
        <p:spPr>
          <a:xfrm>
            <a:off x="5692140" y="2331720"/>
            <a:ext cx="2194500" cy="2194500"/>
          </a:xfrm>
          <a:prstGeom prst="ellipse">
            <a:avLst/>
          </a:prstGeom>
          <a:noFill/>
          <a:ln cap="flat" cmpd="sng" w="31750">
            <a:solidFill>
              <a:srgbClr val="1B49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1"/>
          <p:cNvSpPr/>
          <p:nvPr/>
        </p:nvSpPr>
        <p:spPr>
          <a:xfrm>
            <a:off x="5932170" y="2571750"/>
            <a:ext cx="1714500" cy="1714500"/>
          </a:xfrm>
          <a:prstGeom prst="ellipse">
            <a:avLst/>
          </a:prstGeom>
          <a:noFill/>
          <a:ln cap="flat" cmpd="sng" w="15875">
            <a:solidFill>
              <a:srgbClr val="2E7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1"/>
          <p:cNvSpPr/>
          <p:nvPr/>
        </p:nvSpPr>
        <p:spPr>
          <a:xfrm>
            <a:off x="6172200" y="2811780"/>
            <a:ext cx="1234440" cy="1234440"/>
          </a:xfrm>
          <a:prstGeom prst="ellipse">
            <a:avLst/>
          </a:prstGeom>
          <a:noFill/>
          <a:ln cap="flat" cmpd="sng" w="15875">
            <a:solidFill>
              <a:srgbClr val="1B49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1"/>
          <p:cNvSpPr/>
          <p:nvPr/>
        </p:nvSpPr>
        <p:spPr>
          <a:xfrm>
            <a:off x="6412230" y="3051810"/>
            <a:ext cx="754380" cy="754380"/>
          </a:xfrm>
          <a:prstGeom prst="ellipse">
            <a:avLst/>
          </a:prstGeom>
          <a:noFill/>
          <a:ln cap="flat" cmpd="sng" w="15875">
            <a:solidFill>
              <a:srgbClr val="2E7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1"/>
          <p:cNvSpPr/>
          <p:nvPr/>
        </p:nvSpPr>
        <p:spPr>
          <a:xfrm>
            <a:off x="6686550" y="3326130"/>
            <a:ext cx="205740" cy="205740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/>
          <p:nvPr/>
        </p:nvSpPr>
        <p:spPr>
          <a:xfrm>
            <a:off x="514350" y="2297420"/>
            <a:ext cx="589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</a:pPr>
            <a:r>
              <a:rPr b="0" i="1" lang="ko" sz="1100" u="none" cap="none" strike="noStrike">
                <a:solidFill>
                  <a:srgbClr val="AEC6DC"/>
                </a:solidFill>
                <a:latin typeface="Calibri"/>
                <a:ea typeface="Calibri"/>
                <a:cs typeface="Calibri"/>
                <a:sym typeface="Calibri"/>
              </a:rPr>
              <a:t>1조</a:t>
            </a:r>
            <a:endParaRPr b="0" i="1" sz="1100" u="none" cap="none" strike="noStrike">
              <a:solidFill>
                <a:srgbClr val="AEC6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</a:pPr>
            <a:r>
              <a:rPr b="0" i="1" lang="ko" sz="1100" u="none" cap="none" strike="noStrike">
                <a:solidFill>
                  <a:srgbClr val="AEC6DC"/>
                </a:solidFill>
                <a:latin typeface="Calibri"/>
                <a:ea typeface="Calibri"/>
                <a:cs typeface="Calibri"/>
                <a:sym typeface="Calibri"/>
              </a:rPr>
              <a:t>김화영 성웅제 이동호 정회찬 한건희</a:t>
            </a:r>
            <a:endParaRPr b="0" i="1" sz="1100" u="none" cap="none" strike="noStrike">
              <a:solidFill>
                <a:srgbClr val="AEC6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1"/>
          <p:cNvSpPr/>
          <p:nvPr/>
        </p:nvSpPr>
        <p:spPr>
          <a:xfrm>
            <a:off x="514350" y="3909060"/>
            <a:ext cx="198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 = 20,000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1"/>
          <p:cNvSpPr/>
          <p:nvPr/>
        </p:nvSpPr>
        <p:spPr>
          <a:xfrm>
            <a:off x="514350" y="4251960"/>
            <a:ext cx="198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분석 샘플 (합성 데이터)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1"/>
          <p:cNvSpPr/>
          <p:nvPr/>
        </p:nvSpPr>
        <p:spPr>
          <a:xfrm>
            <a:off x="514350" y="4766310"/>
            <a:ext cx="809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93AA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7C93AA"/>
                </a:solidFill>
                <a:latin typeface="Calibri"/>
                <a:ea typeface="Calibri"/>
                <a:cs typeface="Calibri"/>
                <a:sym typeface="Calibri"/>
              </a:rPr>
              <a:t>반도체 패키징 Backgrinding 공정 SPC 종합 분석 리포트 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1"/>
          <p:cNvSpPr/>
          <p:nvPr/>
        </p:nvSpPr>
        <p:spPr>
          <a:xfrm>
            <a:off x="480046" y="1063000"/>
            <a:ext cx="858775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mbria"/>
              <a:buNone/>
            </a:pPr>
            <a:r>
              <a:rPr b="1" i="0" lang="ko" sz="3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Backgrinding 공정 불량 데이터 분석</a:t>
            </a:r>
            <a:endParaRPr b="0" i="0" sz="3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1"/>
          <p:cNvSpPr/>
          <p:nvPr/>
        </p:nvSpPr>
        <p:spPr>
          <a:xfrm>
            <a:off x="493776" y="1748790"/>
            <a:ext cx="61722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2000"/>
              <a:buFont typeface="Cambria"/>
              <a:buNone/>
            </a:pPr>
            <a:r>
              <a:rPr b="1" i="0" lang="ko" sz="2000" u="none" cap="none" strike="noStrike">
                <a:solidFill>
                  <a:srgbClr val="CDE4F0"/>
                </a:solidFill>
                <a:latin typeface="Cambria"/>
                <a:ea typeface="Cambria"/>
                <a:cs typeface="Cambria"/>
                <a:sym typeface="Cambria"/>
              </a:rPr>
              <a:t>불량 원인 분석 및 개선 방안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i="0" sz="23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3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32"/>
          <p:cNvSpPr/>
          <p:nvPr/>
        </p:nvSpPr>
        <p:spPr>
          <a:xfrm>
            <a:off x="210900" y="1671438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3A8"/>
              </a:buClr>
              <a:buSzPts val="953"/>
              <a:buFont typeface="Calibri"/>
              <a:buNone/>
            </a:pPr>
            <a:r>
              <a:rPr b="1" i="0" lang="ko" sz="1200" u="none" cap="none" strike="noStrike">
                <a:solidFill>
                  <a:srgbClr val="8C93A8"/>
                </a:solidFill>
                <a:latin typeface="Calibri"/>
                <a:ea typeface="Calibri"/>
                <a:cs typeface="Calibri"/>
                <a:sym typeface="Calibri"/>
              </a:rPr>
              <a:t>배경 및 현황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2"/>
          <p:cNvSpPr/>
          <p:nvPr/>
        </p:nvSpPr>
        <p:spPr>
          <a:xfrm>
            <a:off x="210900" y="1948804"/>
            <a:ext cx="316800" cy="316800"/>
          </a:xfrm>
          <a:prstGeom prst="ellipse">
            <a:avLst/>
          </a:prstGeom>
          <a:solidFill>
            <a:srgbClr val="8C93A8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2"/>
          <p:cNvSpPr/>
          <p:nvPr/>
        </p:nvSpPr>
        <p:spPr>
          <a:xfrm>
            <a:off x="210900" y="1948804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2"/>
          <p:cNvSpPr/>
          <p:nvPr/>
        </p:nvSpPr>
        <p:spPr>
          <a:xfrm>
            <a:off x="646760" y="1909180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BG 공정 문제 정의 및 추진 배경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2"/>
          <p:cNvSpPr/>
          <p:nvPr/>
        </p:nvSpPr>
        <p:spPr>
          <a:xfrm>
            <a:off x="210900" y="2384665"/>
            <a:ext cx="316800" cy="316800"/>
          </a:xfrm>
          <a:prstGeom prst="ellipse">
            <a:avLst/>
          </a:prstGeom>
          <a:solidFill>
            <a:srgbClr val="8C93A8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2"/>
          <p:cNvSpPr/>
          <p:nvPr/>
        </p:nvSpPr>
        <p:spPr>
          <a:xfrm>
            <a:off x="210900" y="238466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2"/>
          <p:cNvSpPr/>
          <p:nvPr/>
        </p:nvSpPr>
        <p:spPr>
          <a:xfrm>
            <a:off x="646760" y="2345041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불량 현황 요약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2"/>
          <p:cNvSpPr/>
          <p:nvPr/>
        </p:nvSpPr>
        <p:spPr>
          <a:xfrm>
            <a:off x="210900" y="3018645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3"/>
              <a:buFont typeface="Calibri"/>
              <a:buNone/>
            </a:pPr>
            <a:r>
              <a:rPr b="1" i="0" lang="ko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데이터 분석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2"/>
          <p:cNvSpPr/>
          <p:nvPr/>
        </p:nvSpPr>
        <p:spPr>
          <a:xfrm>
            <a:off x="210900" y="3296011"/>
            <a:ext cx="316800" cy="316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2"/>
          <p:cNvSpPr/>
          <p:nvPr/>
        </p:nvSpPr>
        <p:spPr>
          <a:xfrm>
            <a:off x="210900" y="3296011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2"/>
          <p:cNvSpPr/>
          <p:nvPr/>
        </p:nvSpPr>
        <p:spPr>
          <a:xfrm>
            <a:off x="646760" y="3256387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데이터 수집 및 분석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2"/>
          <p:cNvSpPr/>
          <p:nvPr/>
        </p:nvSpPr>
        <p:spPr>
          <a:xfrm>
            <a:off x="210900" y="3731872"/>
            <a:ext cx="316800" cy="316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2"/>
          <p:cNvSpPr/>
          <p:nvPr/>
        </p:nvSpPr>
        <p:spPr>
          <a:xfrm>
            <a:off x="210900" y="3731872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2"/>
          <p:cNvSpPr/>
          <p:nvPr/>
        </p:nvSpPr>
        <p:spPr>
          <a:xfrm>
            <a:off x="646760" y="3692248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원인 분석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2"/>
          <p:cNvSpPr/>
          <p:nvPr/>
        </p:nvSpPr>
        <p:spPr>
          <a:xfrm>
            <a:off x="4825912" y="1453513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3"/>
              <a:buFont typeface="Calibri"/>
              <a:buNone/>
            </a:pPr>
            <a:r>
              <a:rPr b="1" i="0" lang="ko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개선 방안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2"/>
          <p:cNvSpPr/>
          <p:nvPr/>
        </p:nvSpPr>
        <p:spPr>
          <a:xfrm>
            <a:off x="4825912" y="1730879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2"/>
          <p:cNvSpPr/>
          <p:nvPr/>
        </p:nvSpPr>
        <p:spPr>
          <a:xfrm>
            <a:off x="4825912" y="1730879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2"/>
          <p:cNvSpPr/>
          <p:nvPr/>
        </p:nvSpPr>
        <p:spPr>
          <a:xfrm>
            <a:off x="5261772" y="1691255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개선안 도출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2"/>
          <p:cNvSpPr/>
          <p:nvPr/>
        </p:nvSpPr>
        <p:spPr>
          <a:xfrm>
            <a:off x="4825912" y="2166740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2"/>
          <p:cNvSpPr/>
          <p:nvPr/>
        </p:nvSpPr>
        <p:spPr>
          <a:xfrm>
            <a:off x="4825912" y="216674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2"/>
          <p:cNvSpPr/>
          <p:nvPr/>
        </p:nvSpPr>
        <p:spPr>
          <a:xfrm>
            <a:off x="5261772" y="2127116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개선안 비교 및 최적안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2"/>
          <p:cNvSpPr/>
          <p:nvPr/>
        </p:nvSpPr>
        <p:spPr>
          <a:xfrm>
            <a:off x="4825912" y="2602601"/>
            <a:ext cx="316800" cy="316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2"/>
          <p:cNvSpPr/>
          <p:nvPr/>
        </p:nvSpPr>
        <p:spPr>
          <a:xfrm>
            <a:off x="4825912" y="2602601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5261772" y="2562977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실행 계획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4825912" y="3236581"/>
            <a:ext cx="396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53"/>
              <a:buFont typeface="Calibri"/>
              <a:buNone/>
            </a:pPr>
            <a:r>
              <a:rPr b="1" i="0" lang="ko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결과 및 결론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2"/>
          <p:cNvSpPr/>
          <p:nvPr/>
        </p:nvSpPr>
        <p:spPr>
          <a:xfrm>
            <a:off x="4825912" y="3513947"/>
            <a:ext cx="316800" cy="316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2"/>
          <p:cNvSpPr/>
          <p:nvPr/>
        </p:nvSpPr>
        <p:spPr>
          <a:xfrm>
            <a:off x="4825912" y="3513947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2"/>
          <p:cNvSpPr/>
          <p:nvPr/>
        </p:nvSpPr>
        <p:spPr>
          <a:xfrm>
            <a:off x="5261772" y="3474323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2"/>
          <p:cNvSpPr/>
          <p:nvPr/>
        </p:nvSpPr>
        <p:spPr>
          <a:xfrm>
            <a:off x="4825912" y="3949808"/>
            <a:ext cx="316800" cy="316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79225" lIns="79225" spcFirstLastPara="1" rIns="79225" wrap="square" tIns="79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2"/>
          <p:cNvSpPr/>
          <p:nvPr/>
        </p:nvSpPr>
        <p:spPr>
          <a:xfrm>
            <a:off x="4825912" y="394980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alibri"/>
              <a:buNone/>
            </a:pPr>
            <a:r>
              <a:rPr b="1" i="0" lang="ko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2"/>
          <p:cNvSpPr/>
          <p:nvPr/>
        </p:nvSpPr>
        <p:spPr>
          <a:xfrm>
            <a:off x="5261772" y="3910184"/>
            <a:ext cx="372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ko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결론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/>
          <p:nvPr/>
        </p:nvSpPr>
        <p:spPr>
          <a:xfrm>
            <a:off x="411475" y="3568592"/>
            <a:ext cx="8401200" cy="14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BG 공정 </a:t>
            </a: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및 추진 배경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0" name="Google Shape;160;p33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33"/>
          <p:cNvSpPr/>
          <p:nvPr/>
        </p:nvSpPr>
        <p:spPr>
          <a:xfrm>
            <a:off x="411480" y="1687679"/>
            <a:ext cx="4149000" cy="1714500"/>
          </a:xfrm>
          <a:prstGeom prst="roundRect">
            <a:avLst>
              <a:gd fmla="val 4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3"/>
          <p:cNvSpPr/>
          <p:nvPr/>
        </p:nvSpPr>
        <p:spPr>
          <a:xfrm>
            <a:off x="617220" y="1879703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617220" y="1879703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3"/>
          <p:cNvSpPr/>
          <p:nvPr/>
        </p:nvSpPr>
        <p:spPr>
          <a:xfrm>
            <a:off x="1028700" y="187970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i="0" lang="ko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무엇이 발생했나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3"/>
          <p:cNvSpPr/>
          <p:nvPr/>
        </p:nvSpPr>
        <p:spPr>
          <a:xfrm>
            <a:off x="651510" y="2250035"/>
            <a:ext cx="3771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Crack</a:t>
            </a: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평균 </a:t>
            </a:r>
            <a:r>
              <a:rPr b="1" i="0" lang="ko" sz="11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2.02 → 2.29</a:t>
            </a: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(증가 ↑)</a:t>
            </a:r>
            <a:b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Scratch</a:t>
            </a: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평균 </a:t>
            </a:r>
            <a:r>
              <a:rPr b="1" i="0" lang="ko" sz="1100" u="none" cap="none" strike="noStrike">
                <a:solidFill>
                  <a:srgbClr val="2A78D6"/>
                </a:solidFill>
                <a:latin typeface="Calibri"/>
                <a:ea typeface="Calibri"/>
                <a:cs typeface="Calibri"/>
                <a:sym typeface="Calibri"/>
              </a:rPr>
              <a:t>2.93 → 1.24</a:t>
            </a: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(감소 ↓)</a:t>
            </a:r>
            <a:b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BG_Crack_Scratch 불량 </a:t>
            </a:r>
            <a:r>
              <a:rPr b="1" i="0" lang="ko" sz="11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1,115건</a:t>
            </a: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발생</a:t>
            </a:r>
            <a:endParaRPr b="0" i="0" sz="1100" u="none" cap="none" strike="noStrike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TTV NG </a:t>
            </a:r>
            <a:r>
              <a:rPr b="1" lang="ko" sz="1100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4,964건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발생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3"/>
          <p:cNvSpPr/>
          <p:nvPr/>
        </p:nvSpPr>
        <p:spPr>
          <a:xfrm>
            <a:off x="4697730" y="1687679"/>
            <a:ext cx="4080600" cy="1714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3"/>
          <p:cNvSpPr/>
          <p:nvPr/>
        </p:nvSpPr>
        <p:spPr>
          <a:xfrm>
            <a:off x="4903470" y="1879703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3"/>
          <p:cNvSpPr/>
          <p:nvPr/>
        </p:nvSpPr>
        <p:spPr>
          <a:xfrm>
            <a:off x="4903470" y="1879703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3"/>
          <p:cNvSpPr/>
          <p:nvPr/>
        </p:nvSpPr>
        <p:spPr>
          <a:xfrm>
            <a:off x="5314950" y="187970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i="0" lang="ko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왜 중요한가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4937760" y="2270609"/>
            <a:ext cx="3703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Crack</a:t>
            </a: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Scratch</a:t>
            </a:r>
            <a:r>
              <a:rPr b="0" i="0" lang="ko" sz="11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ko" sz="11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3 초과 = 100% Fail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TTV </a:t>
            </a:r>
            <a:r>
              <a:rPr b="1" lang="ko" sz="1100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NG (3.0 um 초과) = 99.8% Fail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3"/>
          <p:cNvSpPr/>
          <p:nvPr/>
        </p:nvSpPr>
        <p:spPr>
          <a:xfrm>
            <a:off x="925329" y="3630593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ko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사업적 영향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3"/>
          <p:cNvSpPr/>
          <p:nvPr/>
        </p:nvSpPr>
        <p:spPr>
          <a:xfrm>
            <a:off x="508900" y="3957125"/>
            <a:ext cx="2621700" cy="945000"/>
          </a:xfrm>
          <a:prstGeom prst="roundRect">
            <a:avLst>
              <a:gd fmla="val 6452" name="adj"/>
            </a:avLst>
          </a:prstGeom>
          <a:solidFill>
            <a:srgbClr val="E6F6EF"/>
          </a:solidFill>
          <a:ln>
            <a:noFill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3"/>
          <p:cNvSpPr/>
          <p:nvPr/>
        </p:nvSpPr>
        <p:spPr>
          <a:xfrm>
            <a:off x="741207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52"/>
              </a:buClr>
              <a:buSzPts val="1355"/>
              <a:buFont typeface="Calibri"/>
              <a:buNone/>
            </a:pPr>
            <a:r>
              <a:rPr b="1" i="0" lang="ko" sz="1355" u="none" cap="none" strike="noStrike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수율</a:t>
            </a:r>
            <a:endParaRPr b="0" i="0" sz="13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3"/>
          <p:cNvSpPr/>
          <p:nvPr/>
        </p:nvSpPr>
        <p:spPr>
          <a:xfrm>
            <a:off x="837376" y="4037489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AF7A"/>
              </a:buClr>
              <a:buSzPts val="4355"/>
              <a:buFont typeface="Cambria"/>
              <a:buNone/>
            </a:pPr>
            <a:r>
              <a:rPr b="1" i="0" lang="ko" sz="3000" u="none" cap="none" strike="noStrike">
                <a:solidFill>
                  <a:srgbClr val="1BAF7A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3"/>
          <p:cNvSpPr/>
          <p:nvPr/>
        </p:nvSpPr>
        <p:spPr>
          <a:xfrm>
            <a:off x="741207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52"/>
              </a:buClr>
              <a:buSzPts val="871"/>
              <a:buFont typeface="Calibri"/>
              <a:buNone/>
            </a:pPr>
            <a:r>
              <a:rPr b="0" i="0" lang="ko" sz="871" u="none" cap="none" strike="noStrike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불량 유출로 최종 수율 하락</a:t>
            </a:r>
            <a:endParaRPr b="0" i="0" sz="8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3"/>
          <p:cNvSpPr/>
          <p:nvPr/>
        </p:nvSpPr>
        <p:spPr>
          <a:xfrm>
            <a:off x="3263399" y="3976568"/>
            <a:ext cx="2621700" cy="945000"/>
          </a:xfrm>
          <a:prstGeom prst="roundRect">
            <a:avLst>
              <a:gd fmla="val 6452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3495706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55"/>
              <a:buFont typeface="Calibri"/>
              <a:buNone/>
            </a:pPr>
            <a:r>
              <a:rPr b="1" i="0" lang="ko" sz="1355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납기</a:t>
            </a:r>
            <a:endParaRPr b="0" i="0" sz="13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3"/>
          <p:cNvSpPr/>
          <p:nvPr/>
        </p:nvSpPr>
        <p:spPr>
          <a:xfrm>
            <a:off x="3591876" y="4037489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4355"/>
              <a:buFont typeface="Cambria"/>
              <a:buNone/>
            </a:pPr>
            <a:r>
              <a:rPr b="1" i="0" lang="ko" sz="3000" u="none" cap="none" strike="noStrik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3"/>
          <p:cNvSpPr/>
          <p:nvPr/>
        </p:nvSpPr>
        <p:spPr>
          <a:xfrm>
            <a:off x="3495706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871"/>
              <a:buFont typeface="Calibri"/>
              <a:buNone/>
            </a:pPr>
            <a:r>
              <a:rPr b="0" i="0" lang="ko" sz="871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재작업·폐기로 납기 지연 위험</a:t>
            </a:r>
            <a:endParaRPr b="0" i="0" sz="8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3"/>
          <p:cNvSpPr/>
          <p:nvPr/>
        </p:nvSpPr>
        <p:spPr>
          <a:xfrm>
            <a:off x="6017899" y="3976568"/>
            <a:ext cx="2621700" cy="945000"/>
          </a:xfrm>
          <a:prstGeom prst="roundRect">
            <a:avLst>
              <a:gd fmla="val 6452" name="adj"/>
            </a:avLst>
          </a:prstGeom>
          <a:solidFill>
            <a:srgbClr val="FCEBE3"/>
          </a:solidFill>
          <a:ln>
            <a:noFill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3"/>
          <p:cNvSpPr/>
          <p:nvPr/>
        </p:nvSpPr>
        <p:spPr>
          <a:xfrm>
            <a:off x="6250206" y="4128989"/>
            <a:ext cx="132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355"/>
              <a:buFont typeface="Calibri"/>
              <a:buNone/>
            </a:pPr>
            <a:r>
              <a:rPr b="1" i="0" lang="ko" sz="1355" u="none" cap="none" strike="noStrik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endParaRPr b="0" i="0" sz="13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3"/>
          <p:cNvSpPr/>
          <p:nvPr/>
        </p:nvSpPr>
        <p:spPr>
          <a:xfrm>
            <a:off x="6346375" y="4037489"/>
            <a:ext cx="730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4355"/>
              <a:buFont typeface="Cambria"/>
              <a:buNone/>
            </a:pPr>
            <a:r>
              <a:rPr b="1" i="0" lang="ko" sz="30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↑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3"/>
          <p:cNvSpPr/>
          <p:nvPr/>
        </p:nvSpPr>
        <p:spPr>
          <a:xfrm>
            <a:off x="6250206" y="4598447"/>
            <a:ext cx="2157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871"/>
              <a:buFont typeface="Calibri"/>
              <a:buNone/>
            </a:pPr>
            <a:r>
              <a:rPr b="0" i="0" lang="ko" sz="871" u="none" cap="none" strike="noStrik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불량·재검사·손실 비용 증가</a:t>
            </a:r>
            <a:endParaRPr b="0" i="0" sz="8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950" y="2130070"/>
            <a:ext cx="708975" cy="707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825" y="2130071"/>
            <a:ext cx="708975" cy="67765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/>
        </p:nvSpPr>
        <p:spPr>
          <a:xfrm>
            <a:off x="2814424" y="3056919"/>
            <a:ext cx="9291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246"/>
              </a:spcBef>
              <a:spcAft>
                <a:spcPts val="246"/>
              </a:spcAft>
              <a:buNone/>
            </a:pPr>
            <a:r>
              <a:rPr lang="ko" sz="984">
                <a:solidFill>
                  <a:schemeClr val="dk1"/>
                </a:solidFill>
              </a:rPr>
              <a:t>Crack</a:t>
            </a:r>
            <a:endParaRPr sz="984">
              <a:solidFill>
                <a:schemeClr val="dk1"/>
              </a:solidFill>
            </a:endParaRPr>
          </a:p>
        </p:txBody>
      </p:sp>
      <p:sp>
        <p:nvSpPr>
          <p:cNvPr id="187" name="Google Shape;187;p33"/>
          <p:cNvSpPr txBox="1"/>
          <p:nvPr/>
        </p:nvSpPr>
        <p:spPr>
          <a:xfrm>
            <a:off x="3631381" y="3079540"/>
            <a:ext cx="9291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75" lIns="44975" spcFirstLastPara="1" rIns="44975" wrap="square" tIns="449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246"/>
              </a:spcBef>
              <a:spcAft>
                <a:spcPts val="246"/>
              </a:spcAft>
              <a:buNone/>
            </a:pPr>
            <a:r>
              <a:rPr lang="ko" sz="984">
                <a:solidFill>
                  <a:schemeClr val="dk1"/>
                </a:solidFill>
              </a:rPr>
              <a:t>Scratch</a:t>
            </a:r>
            <a:endParaRPr sz="984">
              <a:solidFill>
                <a:schemeClr val="dk1"/>
              </a:solidFill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549371" y="3620354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189" name="Google Shape;189;p33"/>
          <p:cNvSpPr/>
          <p:nvPr/>
        </p:nvSpPr>
        <p:spPr>
          <a:xfrm>
            <a:off x="549371" y="3620354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3"/>
          <p:cNvSpPr/>
          <p:nvPr/>
        </p:nvSpPr>
        <p:spPr>
          <a:xfrm>
            <a:off x="411475" y="662637"/>
            <a:ext cx="8401200" cy="822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발생 시점과 라인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	202X년 XX 월 XX일	 A Line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549371" y="725444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549371" y="725444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현황 요약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8" name="Google Shape;198;p3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34"/>
          <p:cNvSpPr/>
          <p:nvPr/>
        </p:nvSpPr>
        <p:spPr>
          <a:xfrm>
            <a:off x="411475" y="676050"/>
            <a:ext cx="4149000" cy="4308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4"/>
          <p:cNvSpPr/>
          <p:nvPr/>
        </p:nvSpPr>
        <p:spPr>
          <a:xfrm>
            <a:off x="617220" y="795932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"/>
          <p:cNvSpPr/>
          <p:nvPr/>
        </p:nvSpPr>
        <p:spPr>
          <a:xfrm>
            <a:off x="1028700" y="795932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전체 Pass/ Fail 현황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4697725" y="676050"/>
            <a:ext cx="4080600" cy="4308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/>
          <p:nvPr/>
        </p:nvSpPr>
        <p:spPr>
          <a:xfrm>
            <a:off x="5314950" y="770866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현황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015" y="3192699"/>
            <a:ext cx="1849500" cy="1671600"/>
          </a:xfrm>
          <a:prstGeom prst="rect">
            <a:avLst/>
          </a:prstGeom>
          <a:noFill/>
          <a:ln>
            <a:noFill/>
          </a:ln>
          <a:effectLst>
            <a:outerShdw blurRad="29636" rotWithShape="0" algn="bl" dir="5400000" dist="9879">
              <a:srgbClr val="000000">
                <a:alpha val="50000"/>
              </a:srgbClr>
            </a:outerShdw>
          </a:effectLst>
        </p:spPr>
      </p:pic>
      <p:sp>
        <p:nvSpPr>
          <p:cNvPr id="205" name="Google Shape;205;p34"/>
          <p:cNvSpPr/>
          <p:nvPr/>
        </p:nvSpPr>
        <p:spPr>
          <a:xfrm>
            <a:off x="5205684" y="3815061"/>
            <a:ext cx="818400" cy="462600"/>
          </a:xfrm>
          <a:prstGeom prst="rect">
            <a:avLst/>
          </a:prstGeom>
          <a:noFill/>
          <a:ln>
            <a:noFill/>
          </a:ln>
          <a:effectLst>
            <a:outerShdw blurRad="29636" rotWithShape="0" algn="bl" dir="5400000" dist="9879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467"/>
              <a:buFont typeface="Calibri"/>
              <a:buNone/>
            </a:pPr>
            <a:r>
              <a:rPr b="1" i="0" lang="ko" sz="985" u="none" cap="none" strike="noStrike">
                <a:solidFill>
                  <a:srgbClr val="EB6834"/>
                </a:solidFill>
                <a:latin typeface="Malgun Gothic"/>
                <a:ea typeface="Malgun Gothic"/>
                <a:cs typeface="Malgun Gothic"/>
                <a:sym typeface="Malgun Gothic"/>
              </a:rPr>
              <a:t>BG 불량</a:t>
            </a:r>
            <a:br>
              <a:rPr b="1" i="0" lang="ko" sz="778" u="none" cap="none" strike="noStrike">
                <a:solidFill>
                  <a:srgbClr val="EB683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ko" sz="1348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1,115</a:t>
            </a:r>
            <a:endParaRPr i="0" sz="778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67"/>
              <a:buFont typeface="Calibri"/>
              <a:buNone/>
            </a:pPr>
            <a:r>
              <a:rPr i="0" lang="ko" sz="778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i="0" sz="778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6592149" y="3192725"/>
            <a:ext cx="2030700" cy="3102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49019" rotWithShape="0" algn="bl" dir="5400000" dist="14005">
              <a:srgbClr val="9AA0B5">
                <a:alpha val="2784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4"/>
          <p:cNvSpPr/>
          <p:nvPr/>
        </p:nvSpPr>
        <p:spPr>
          <a:xfrm>
            <a:off x="6669069" y="3302388"/>
            <a:ext cx="73800" cy="90900"/>
          </a:xfrm>
          <a:prstGeom prst="ellipse">
            <a:avLst/>
          </a:prstGeom>
          <a:solidFill>
            <a:srgbClr val="EDA100"/>
          </a:solidFill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4"/>
          <p:cNvSpPr/>
          <p:nvPr/>
        </p:nvSpPr>
        <p:spPr>
          <a:xfrm>
            <a:off x="6792140" y="3207851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i="0" lang="ko" sz="884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Mold_Offset_Void</a:t>
            </a:r>
            <a:endParaRPr i="0" sz="884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7865396" y="3207851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b="1" i="0" lang="ko" sz="995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7,360</a:t>
            </a:r>
            <a:endParaRPr i="0" sz="995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34"/>
          <p:cNvSpPr/>
          <p:nvPr/>
        </p:nvSpPr>
        <p:spPr>
          <a:xfrm>
            <a:off x="8310750" y="3207840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i="0" lang="ko" sz="82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37%</a:t>
            </a:r>
            <a:endParaRPr i="0" sz="829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34"/>
          <p:cNvSpPr/>
          <p:nvPr/>
        </p:nvSpPr>
        <p:spPr>
          <a:xfrm>
            <a:off x="6592149" y="3533060"/>
            <a:ext cx="2030700" cy="3102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49019" rotWithShape="0" algn="bl" dir="5400000" dist="14005">
              <a:srgbClr val="9AA0B5">
                <a:alpha val="2784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4"/>
          <p:cNvSpPr/>
          <p:nvPr/>
        </p:nvSpPr>
        <p:spPr>
          <a:xfrm>
            <a:off x="6669069" y="3642723"/>
            <a:ext cx="73800" cy="90900"/>
          </a:xfrm>
          <a:prstGeom prst="ellipse">
            <a:avLst/>
          </a:prstGeom>
          <a:solidFill>
            <a:srgbClr val="1BAF7A"/>
          </a:solidFill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/>
          <p:nvPr/>
        </p:nvSpPr>
        <p:spPr>
          <a:xfrm>
            <a:off x="6792140" y="3548186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i="0" lang="ko" sz="884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DieAttach_Crack</a:t>
            </a:r>
            <a:endParaRPr i="0" sz="884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7865396" y="3548186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b="1" i="0" lang="ko" sz="995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6,771</a:t>
            </a:r>
            <a:endParaRPr i="0" sz="995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34"/>
          <p:cNvSpPr/>
          <p:nvPr/>
        </p:nvSpPr>
        <p:spPr>
          <a:xfrm>
            <a:off x="8310750" y="3548175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i="0" lang="ko" sz="82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34%</a:t>
            </a:r>
            <a:endParaRPr i="0" sz="829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34"/>
          <p:cNvSpPr/>
          <p:nvPr/>
        </p:nvSpPr>
        <p:spPr>
          <a:xfrm>
            <a:off x="6592149" y="3873394"/>
            <a:ext cx="2030700" cy="3102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49019" rotWithShape="0" algn="bl" dir="5400000" dist="14005">
              <a:srgbClr val="9AA0B5">
                <a:alpha val="2784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/>
          <p:nvPr/>
        </p:nvSpPr>
        <p:spPr>
          <a:xfrm>
            <a:off x="6669069" y="3983058"/>
            <a:ext cx="73800" cy="90900"/>
          </a:xfrm>
          <a:prstGeom prst="ellipse">
            <a:avLst/>
          </a:prstGeom>
          <a:solidFill>
            <a:srgbClr val="2A78D6"/>
          </a:solidFill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"/>
          <p:cNvSpPr/>
          <p:nvPr/>
        </p:nvSpPr>
        <p:spPr>
          <a:xfrm>
            <a:off x="6792140" y="3888520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b="1" i="0" lang="ko" sz="884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1" i="0" sz="884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34"/>
          <p:cNvSpPr/>
          <p:nvPr/>
        </p:nvSpPr>
        <p:spPr>
          <a:xfrm>
            <a:off x="7865396" y="3888520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b="1" i="0" lang="ko" sz="995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3,459</a:t>
            </a:r>
            <a:endParaRPr i="0" sz="995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8310750" y="3888509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i="0" lang="ko" sz="82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17%</a:t>
            </a:r>
            <a:endParaRPr i="0" sz="829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34"/>
          <p:cNvSpPr/>
          <p:nvPr/>
        </p:nvSpPr>
        <p:spPr>
          <a:xfrm>
            <a:off x="6592149" y="4213729"/>
            <a:ext cx="2030700" cy="310200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49019" rotWithShape="0" algn="bl" dir="5400000" dist="14005">
              <a:srgbClr val="9AA0B5">
                <a:alpha val="2784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4"/>
          <p:cNvSpPr/>
          <p:nvPr/>
        </p:nvSpPr>
        <p:spPr>
          <a:xfrm>
            <a:off x="6669069" y="4323393"/>
            <a:ext cx="73800" cy="90900"/>
          </a:xfrm>
          <a:prstGeom prst="ellipse">
            <a:avLst/>
          </a:prstGeom>
          <a:solidFill>
            <a:srgbClr val="9085E9"/>
          </a:solidFill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4"/>
          <p:cNvSpPr/>
          <p:nvPr/>
        </p:nvSpPr>
        <p:spPr>
          <a:xfrm>
            <a:off x="6792140" y="4228855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607"/>
              <a:buFont typeface="Calibri"/>
              <a:buNone/>
            </a:pPr>
            <a:r>
              <a:rPr i="0" lang="ko" sz="884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Clean_BinFail_Residue</a:t>
            </a:r>
            <a:endParaRPr i="0" sz="884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34"/>
          <p:cNvSpPr/>
          <p:nvPr/>
        </p:nvSpPr>
        <p:spPr>
          <a:xfrm>
            <a:off x="7865396" y="4228855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b="1" i="0" lang="ko" sz="995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1,295</a:t>
            </a:r>
            <a:endParaRPr i="0" sz="995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8310750" y="4228844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i="0" lang="ko" sz="82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i="0" sz="829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6592149" y="4554064"/>
            <a:ext cx="2030700" cy="310200"/>
          </a:xfrm>
          <a:prstGeom prst="roundRect">
            <a:avLst>
              <a:gd fmla="val 8537" name="adj"/>
            </a:avLst>
          </a:prstGeom>
          <a:solidFill>
            <a:srgbClr val="FCEBE3"/>
          </a:solidFill>
          <a:ln>
            <a:noFill/>
          </a:ln>
          <a:effectLst>
            <a:outerShdw blurRad="49019" rotWithShape="0" algn="bl" dir="5400000" dist="14005">
              <a:srgbClr val="9AA0B5">
                <a:alpha val="2784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/>
          <p:nvPr/>
        </p:nvSpPr>
        <p:spPr>
          <a:xfrm>
            <a:off x="6669069" y="4663727"/>
            <a:ext cx="73800" cy="90900"/>
          </a:xfrm>
          <a:prstGeom prst="ellipse">
            <a:avLst/>
          </a:prstGeom>
          <a:solidFill>
            <a:srgbClr val="EB6834"/>
          </a:solidFill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37800" lIns="37800" spcFirstLastPara="1" rIns="37800" wrap="square" tIns="3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4"/>
          <p:cNvSpPr/>
          <p:nvPr/>
        </p:nvSpPr>
        <p:spPr>
          <a:xfrm>
            <a:off x="6792140" y="4569190"/>
            <a:ext cx="11997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607"/>
              <a:buFont typeface="Calibri"/>
              <a:buNone/>
            </a:pPr>
            <a:r>
              <a:rPr b="1" i="0" lang="ko" sz="884" u="none" cap="none" strike="noStrike">
                <a:solidFill>
                  <a:srgbClr val="993C1D"/>
                </a:solidFill>
                <a:latin typeface="Malgun Gothic"/>
                <a:ea typeface="Malgun Gothic"/>
                <a:cs typeface="Malgun Gothic"/>
                <a:sym typeface="Malgun Gothic"/>
              </a:rPr>
              <a:t>BG_Crack_Scratch</a:t>
            </a:r>
            <a:endParaRPr i="0" sz="884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7865396" y="4569190"/>
            <a:ext cx="4155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717"/>
              <a:buFont typeface="Calibri"/>
              <a:buNone/>
            </a:pPr>
            <a:r>
              <a:rPr b="1" i="0" lang="ko" sz="995" u="none" cap="none" strike="noStrike">
                <a:solidFill>
                  <a:srgbClr val="1A1D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1,115</a:t>
            </a:r>
            <a:endParaRPr i="0" sz="995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8310750" y="4569179"/>
            <a:ext cx="281400" cy="272100"/>
          </a:xfrm>
          <a:prstGeom prst="rect">
            <a:avLst/>
          </a:prstGeom>
          <a:noFill/>
          <a:ln>
            <a:noFill/>
          </a:ln>
          <a:effectLst>
            <a:outerShdw blurRad="31512" rotWithShape="0" algn="bl" dir="5400000" dist="1050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51"/>
              <a:buFont typeface="Calibri"/>
              <a:buNone/>
            </a:pPr>
            <a:r>
              <a:rPr i="0" lang="ko" sz="82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i="0" sz="829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617220" y="79593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4903470" y="795932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/>
          <p:nvPr/>
        </p:nvSpPr>
        <p:spPr>
          <a:xfrm>
            <a:off x="4903470" y="79593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ko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4"/>
          <p:cNvSpPr/>
          <p:nvPr/>
        </p:nvSpPr>
        <p:spPr>
          <a:xfrm>
            <a:off x="4886425" y="1289577"/>
            <a:ext cx="3703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◆ Fail 16,541 건 중, 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Primary Failure이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b="1"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BG_Crack_Scratch“ 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인 Case: </a:t>
            </a:r>
            <a:r>
              <a:rPr b="1" lang="ko" sz="1100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1,115 건 (6%)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4"/>
          <p:cNvSpPr/>
          <p:nvPr/>
        </p:nvSpPr>
        <p:spPr>
          <a:xfrm>
            <a:off x="634385" y="1361013"/>
            <a:ext cx="3703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◆ BG, Sawing, Die Attach, Molding, Cleaning 공정을 거친 20,000 Wafer 전체 중,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Final Test 결과가 </a:t>
            </a:r>
            <a:r>
              <a:rPr b="1"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“Fail“ </a:t>
            </a:r>
            <a:r>
              <a:rPr lang="ko" sz="11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인 Case: </a:t>
            </a:r>
            <a:r>
              <a:rPr b="1" lang="ko" sz="1100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16,541 건 (83%)</a:t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550" y="1758801"/>
            <a:ext cx="2546374" cy="13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4"/>
          <p:cNvSpPr/>
          <p:nvPr/>
        </p:nvSpPr>
        <p:spPr>
          <a:xfrm>
            <a:off x="2539092" y="3133450"/>
            <a:ext cx="1896600" cy="321300"/>
          </a:xfrm>
          <a:prstGeom prst="roundRect">
            <a:avLst>
              <a:gd fmla="val 9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0575" lIns="40575" spcFirstLastPara="1" rIns="40575" wrap="square" tIns="4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</p:txBody>
      </p:sp>
      <p:sp>
        <p:nvSpPr>
          <p:cNvPr id="238" name="Google Shape;238;p34"/>
          <p:cNvSpPr/>
          <p:nvPr/>
        </p:nvSpPr>
        <p:spPr>
          <a:xfrm>
            <a:off x="2662021" y="3252365"/>
            <a:ext cx="91200" cy="834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40575" lIns="40575" spcFirstLastPara="1" rIns="40575" wrap="square" tIns="4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</p:txBody>
      </p:sp>
      <p:sp>
        <p:nvSpPr>
          <p:cNvPr id="239" name="Google Shape;239;p34"/>
          <p:cNvSpPr/>
          <p:nvPr/>
        </p:nvSpPr>
        <p:spPr>
          <a:xfrm>
            <a:off x="2820074" y="3133450"/>
            <a:ext cx="702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6"/>
              <a:buFont typeface="Malgun Gothic"/>
              <a:buNone/>
            </a:pPr>
            <a:r>
              <a:rPr b="1" i="0" lang="ko" sz="950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3557653" y="3178445"/>
            <a:ext cx="7728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886"/>
              <a:buFont typeface="Malgun Gothic"/>
              <a:buNone/>
            </a:pPr>
            <a:r>
              <a:rPr b="1" i="0" lang="ko" sz="950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3,459건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3557653" y="3319212"/>
            <a:ext cx="772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1"/>
              <a:buFont typeface="Malgun Gothic"/>
              <a:buNone/>
            </a:pPr>
            <a:r>
              <a:rPr b="0" i="0" lang="ko" sz="9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2539092" y="3567328"/>
            <a:ext cx="1896600" cy="321300"/>
          </a:xfrm>
          <a:prstGeom prst="roundRect">
            <a:avLst>
              <a:gd fmla="val 9000" name="adj"/>
            </a:avLst>
          </a:prstGeom>
          <a:solidFill>
            <a:srgbClr val="FCEAE3"/>
          </a:solidFill>
          <a:ln cap="flat" cmpd="sng" w="7500">
            <a:solidFill>
              <a:srgbClr val="F0C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575" lIns="40575" spcFirstLastPara="1" rIns="40575" wrap="square" tIns="4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</p:txBody>
      </p:sp>
      <p:sp>
        <p:nvSpPr>
          <p:cNvPr id="243" name="Google Shape;243;p34"/>
          <p:cNvSpPr/>
          <p:nvPr/>
        </p:nvSpPr>
        <p:spPr>
          <a:xfrm>
            <a:off x="2662021" y="3686242"/>
            <a:ext cx="91200" cy="83400"/>
          </a:xfrm>
          <a:prstGeom prst="ellipse">
            <a:avLst/>
          </a:prstGeom>
          <a:solidFill>
            <a:srgbClr val="E0654A"/>
          </a:solidFill>
          <a:ln>
            <a:noFill/>
          </a:ln>
        </p:spPr>
        <p:txBody>
          <a:bodyPr anchorCtr="0" anchor="ctr" bIns="40575" lIns="40575" spcFirstLastPara="1" rIns="40575" wrap="square" tIns="4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</p:txBody>
      </p:sp>
      <p:sp>
        <p:nvSpPr>
          <p:cNvPr id="244" name="Google Shape;244;p34"/>
          <p:cNvSpPr/>
          <p:nvPr/>
        </p:nvSpPr>
        <p:spPr>
          <a:xfrm>
            <a:off x="2820074" y="3567328"/>
            <a:ext cx="702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6"/>
              <a:buFont typeface="Malgun Gothic"/>
              <a:buNone/>
            </a:pPr>
            <a:r>
              <a:rPr b="1" i="0" lang="ko" sz="950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4"/>
          <p:cNvSpPr/>
          <p:nvPr/>
        </p:nvSpPr>
        <p:spPr>
          <a:xfrm>
            <a:off x="3557653" y="3612322"/>
            <a:ext cx="7728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86"/>
              <a:buFont typeface="Malgun Gothic"/>
              <a:buNone/>
            </a:pPr>
            <a:r>
              <a:rPr b="1" i="0" lang="ko" sz="95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16,541건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3557653" y="3753089"/>
            <a:ext cx="772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1"/>
              <a:buFont typeface="Malgun Gothic"/>
              <a:buNone/>
            </a:pPr>
            <a:r>
              <a:rPr b="0" i="0" lang="ko" sz="9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83%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587" y="2785912"/>
            <a:ext cx="1483674" cy="148367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4"/>
          <p:cNvSpPr/>
          <p:nvPr/>
        </p:nvSpPr>
        <p:spPr>
          <a:xfrm>
            <a:off x="979699" y="3280470"/>
            <a:ext cx="7269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75" lIns="33050" spcFirstLastPara="1" rIns="33050" wrap="square" tIns="1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29"/>
              <a:buFont typeface="Malgun Gothic"/>
              <a:buNone/>
            </a:pPr>
            <a:r>
              <a:rPr b="1" i="0" lang="ko" sz="52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br>
              <a:rPr b="1" i="0" lang="ko" sz="52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ko" sz="1442" u="none" cap="none" strike="noStrike">
                <a:solidFill>
                  <a:srgbClr val="E06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83%</a:t>
            </a:r>
            <a:br>
              <a:rPr b="1" i="0" lang="ko" sz="1442" u="none" cap="none" strike="noStrike">
                <a:solidFill>
                  <a:srgbClr val="E0654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" sz="481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16,541건</a:t>
            </a:r>
            <a:endParaRPr b="0" i="0" sz="5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6592160" y="4546263"/>
            <a:ext cx="2030700" cy="310200"/>
          </a:xfrm>
          <a:prstGeom prst="rect">
            <a:avLst/>
          </a:prstGeom>
          <a:noFill/>
          <a:ln cap="flat" cmpd="sng" w="35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650" lIns="84650" spcFirstLastPara="1" rIns="84650" wrap="square" tIns="8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6"/>
          </a:p>
        </p:txBody>
      </p:sp>
      <p:sp>
        <p:nvSpPr>
          <p:cNvPr id="250" name="Google Shape;250;p34"/>
          <p:cNvSpPr/>
          <p:nvPr/>
        </p:nvSpPr>
        <p:spPr>
          <a:xfrm>
            <a:off x="2539100" y="3560400"/>
            <a:ext cx="1896600" cy="321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분석 결과, BG 공정 이후 Crack 이 증가하는 경향을 확인했고,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 단독 불량 데이터의 79%가 Crack &gt; 3 일 때임을 확인할 수 있었다.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8" name="Google Shape;258;p35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5"/>
          <p:cNvSpPr/>
          <p:nvPr/>
        </p:nvSpPr>
        <p:spPr>
          <a:xfrm>
            <a:off x="390825" y="723335"/>
            <a:ext cx="4149000" cy="3030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5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전·후 데이터 분석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4677075" y="723335"/>
            <a:ext cx="4080600" cy="3030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5"/>
          <p:cNvSpPr/>
          <p:nvPr/>
        </p:nvSpPr>
        <p:spPr>
          <a:xfrm>
            <a:off x="5294300" y="80753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4882820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5"/>
          <p:cNvSpPr/>
          <p:nvPr/>
        </p:nvSpPr>
        <p:spPr>
          <a:xfrm>
            <a:off x="488282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ko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" name="Google Shape;267;p35"/>
          <p:cNvGraphicFramePr/>
          <p:nvPr/>
        </p:nvGraphicFramePr>
        <p:xfrm>
          <a:off x="4754355" y="2004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{769FC215-DB7B-4295-BFDB-BFC7B4A58080}</a:tableStyleId>
              </a:tblPr>
              <a:tblGrid>
                <a:gridCol w="832825"/>
                <a:gridCol w="1031075"/>
                <a:gridCol w="1031075"/>
                <a:gridCol w="10310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&gt;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≤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&gt; 3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cap="none" strike="noStrik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  (4%)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3C1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 (75%)</a:t>
                      </a:r>
                      <a:endParaRPr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881 (79%)</a:t>
                      </a:r>
                      <a:endParaRPr b="1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≤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cap="none" strike="noStrik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 (21%)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(0%)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(21%)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283(25%)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(75%)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 (100%)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35"/>
          <p:cNvSpPr/>
          <p:nvPr/>
        </p:nvSpPr>
        <p:spPr>
          <a:xfrm>
            <a:off x="4748475" y="2225066"/>
            <a:ext cx="3937800" cy="442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050" y="1670671"/>
            <a:ext cx="3527875" cy="197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5"/>
          <p:cNvSpPr/>
          <p:nvPr/>
        </p:nvSpPr>
        <p:spPr>
          <a:xfrm>
            <a:off x="545625" y="1230063"/>
            <a:ext cx="38394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 Before, After 평균 데이터 분석 (20,000장)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4797675" y="112058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BG_Crack_Scratch Fail Data</a:t>
            </a: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분석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1" lang="ko" sz="1100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Crack &gt; 3 인 경우 가 79% 로 불량에 크게 기인한다.</a:t>
            </a:r>
            <a:endParaRPr b="1"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</a:t>
            </a: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분석 대상 LOT: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BD_Crack_Scratch 인 경우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5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구체적으로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BG 공정 이후 Crack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 분포가 큰 변화가 없는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경향을 확인했고,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 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역시 spec out 웨이퍼들이 여전히 존재하는 것을 볼 수 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3" name="Google Shape;283;p36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36"/>
          <p:cNvSpPr/>
          <p:nvPr/>
        </p:nvSpPr>
        <p:spPr>
          <a:xfrm>
            <a:off x="204900" y="723325"/>
            <a:ext cx="8734200" cy="28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5" name="Google Shape;285;p36"/>
          <p:cNvGrpSpPr/>
          <p:nvPr/>
        </p:nvGrpSpPr>
        <p:grpSpPr>
          <a:xfrm>
            <a:off x="309390" y="1217098"/>
            <a:ext cx="8525220" cy="2251344"/>
            <a:chOff x="704851" y="1213866"/>
            <a:chExt cx="7402292" cy="1954801"/>
          </a:xfrm>
        </p:grpSpPr>
        <p:pic>
          <p:nvPicPr>
            <p:cNvPr id="286" name="Google Shape;28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4851" y="1213866"/>
              <a:ext cx="4947929" cy="195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52782" y="1213866"/>
              <a:ext cx="2454361" cy="1954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36"/>
          <p:cNvSpPr/>
          <p:nvPr/>
        </p:nvSpPr>
        <p:spPr>
          <a:xfrm>
            <a:off x="309395" y="832610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720875" y="820077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전·후 데이터 분석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6"/>
          <p:cNvSpPr/>
          <p:nvPr/>
        </p:nvSpPr>
        <p:spPr>
          <a:xfrm>
            <a:off x="309395" y="83261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불량 분석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8" name="Google Shape;298;p37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7"/>
          <p:cNvSpPr/>
          <p:nvPr/>
        </p:nvSpPr>
        <p:spPr>
          <a:xfrm>
            <a:off x="204900" y="723325"/>
            <a:ext cx="8734200" cy="3202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00" y="1217636"/>
            <a:ext cx="3254872" cy="259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8716" y="1217086"/>
            <a:ext cx="3521554" cy="260097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7"/>
          <p:cNvSpPr/>
          <p:nvPr/>
        </p:nvSpPr>
        <p:spPr>
          <a:xfrm>
            <a:off x="385432" y="4200405"/>
            <a:ext cx="8366700" cy="6534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476053" y="438301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304" name="Google Shape;304;p37"/>
          <p:cNvSpPr/>
          <p:nvPr/>
        </p:nvSpPr>
        <p:spPr>
          <a:xfrm>
            <a:off x="476053" y="4383011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7"/>
          <p:cNvSpPr/>
          <p:nvPr/>
        </p:nvSpPr>
        <p:spPr>
          <a:xfrm>
            <a:off x="309395" y="832610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7"/>
          <p:cNvSpPr/>
          <p:nvPr/>
        </p:nvSpPr>
        <p:spPr>
          <a:xfrm>
            <a:off x="720875" y="820077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공정 </a:t>
            </a: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이후 공정 평가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309395" y="83261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7"/>
          <p:cNvSpPr/>
          <p:nvPr/>
        </p:nvSpPr>
        <p:spPr>
          <a:xfrm>
            <a:off x="390825" y="4200300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또한,  Crack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 수가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초과한 웨이퍼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는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4015장으로 20%에 달하며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TTV의 Cpk 역시 0.15로 즉시 공정 수정이 필요한 수준으로 확인했다.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Crack &amp; Scratch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4" name="Google Shape;314;p38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38"/>
          <p:cNvSpPr/>
          <p:nvPr/>
        </p:nvSpPr>
        <p:spPr>
          <a:xfrm>
            <a:off x="390825" y="723335"/>
            <a:ext cx="4149000" cy="3030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8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8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4677075" y="723335"/>
            <a:ext cx="4080600" cy="3030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8"/>
          <p:cNvSpPr/>
          <p:nvPr/>
        </p:nvSpPr>
        <p:spPr>
          <a:xfrm>
            <a:off x="5294300" y="807533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8"/>
          <p:cNvSpPr/>
          <p:nvPr/>
        </p:nvSpPr>
        <p:spPr>
          <a:xfrm>
            <a:off x="4882820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8"/>
          <p:cNvSpPr/>
          <p:nvPr/>
        </p:nvSpPr>
        <p:spPr>
          <a:xfrm>
            <a:off x="488282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ko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3" name="Google Shape;323;p38"/>
          <p:cNvGraphicFramePr/>
          <p:nvPr/>
        </p:nvGraphicFramePr>
        <p:xfrm>
          <a:off x="4754355" y="2004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{769FC215-DB7B-4295-BFDB-BFC7B4A58080}</a:tableStyleId>
              </a:tblPr>
              <a:tblGrid>
                <a:gridCol w="832825"/>
                <a:gridCol w="1031075"/>
                <a:gridCol w="1031075"/>
                <a:gridCol w="10310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&gt;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 ≤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&gt; 3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cap="none" strike="noStrik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  (4%)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3C1D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 (75%)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881 (79%)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 ≤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E"/>
                        </a:buClr>
                        <a:buSzPts val="1100"/>
                        <a:buFont typeface="Calibri"/>
                        <a:buNone/>
                      </a:pPr>
                      <a:r>
                        <a:rPr lang="ko" sz="1000" u="none" cap="none" strike="noStrike">
                          <a:solidFill>
                            <a:srgbClr val="1A1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 (21%)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" sz="10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(0%)</a:t>
                      </a:r>
                      <a:endParaRPr b="1" sz="1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 (21%)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합계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283(25%)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832 (75%)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1115 (100%)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324" name="Google Shape;324;p38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8"/>
          <p:cNvSpPr/>
          <p:nvPr/>
        </p:nvSpPr>
        <p:spPr>
          <a:xfrm>
            <a:off x="4797675" y="112058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BG_Crack_Scratch Fail Data를 분석해보면,</a:t>
            </a:r>
            <a:endParaRPr sz="11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1" lang="ko" sz="1100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 Crack &amp; Scatch </a:t>
            </a:r>
            <a:r>
              <a:rPr b="1" lang="ko" sz="1000">
                <a:solidFill>
                  <a:srgbClr val="E0654A"/>
                </a:solidFill>
                <a:latin typeface="Calibri"/>
                <a:ea typeface="Calibri"/>
                <a:cs typeface="Calibri"/>
                <a:sym typeface="Calibri"/>
              </a:rPr>
              <a:t>≤</a:t>
            </a:r>
            <a:r>
              <a:rPr b="1" lang="ko" sz="1100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 3 인 경우, </a:t>
            </a:r>
            <a:r>
              <a:rPr b="1" lang="ko" sz="1100">
                <a:solidFill>
                  <a:srgbClr val="CC4125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비율이 0%이다.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p38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327" name="Google Shape;327;p38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8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BG_Crack_Scratch 인 경우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6618250" y="2691425"/>
            <a:ext cx="1031100" cy="466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8"/>
          <p:cNvSpPr/>
          <p:nvPr/>
        </p:nvSpPr>
        <p:spPr>
          <a:xfrm>
            <a:off x="619624" y="2714185"/>
            <a:ext cx="149700" cy="87000"/>
          </a:xfrm>
          <a:prstGeom prst="rect">
            <a:avLst/>
          </a:prstGeom>
          <a:solidFill>
            <a:srgbClr val="D64533"/>
          </a:solidFill>
          <a:ln>
            <a:noFill/>
          </a:ln>
        </p:spPr>
        <p:txBody>
          <a:bodyPr anchorCtr="0" anchor="ctr" bIns="62300" lIns="62300" spcFirstLastPara="1" rIns="62300" wrap="square" tIns="6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8"/>
          <p:cNvSpPr/>
          <p:nvPr/>
        </p:nvSpPr>
        <p:spPr>
          <a:xfrm>
            <a:off x="806722" y="2688872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b="1" i="0" lang="ko" sz="907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1336833" y="2714185"/>
            <a:ext cx="149700" cy="87000"/>
          </a:xfrm>
          <a:prstGeom prst="rect">
            <a:avLst/>
          </a:prstGeom>
          <a:solidFill>
            <a:srgbClr val="27AE73"/>
          </a:solidFill>
          <a:ln>
            <a:noFill/>
          </a:ln>
        </p:spPr>
        <p:txBody>
          <a:bodyPr anchorCtr="0" anchor="ctr" bIns="62300" lIns="62300" spcFirstLastPara="1" rIns="62300" wrap="square" tIns="6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"/>
          <p:cNvSpPr/>
          <p:nvPr/>
        </p:nvSpPr>
        <p:spPr>
          <a:xfrm>
            <a:off x="1523931" y="2688872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b="1" i="0" lang="ko" sz="907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545599" y="2911953"/>
            <a:ext cx="1110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70"/>
              <a:buFont typeface="Malgun Gothic"/>
              <a:buNone/>
            </a:pPr>
            <a:r>
              <a:rPr b="1" lang="ko" sz="1270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Scratch</a:t>
            </a:r>
            <a:r>
              <a:rPr b="1" i="0" lang="ko" sz="1270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&gt; 3</a:t>
            </a:r>
            <a:br>
              <a:rPr b="1" i="0" lang="ko" sz="1270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" sz="907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</a:t>
            </a:r>
            <a:r>
              <a:rPr lang="ko" sz="907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0" i="0" lang="ko" sz="907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" sz="907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238</a:t>
            </a:r>
            <a:r>
              <a:rPr b="0" i="0" lang="ko" sz="907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(6%)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791545" y="2911958"/>
            <a:ext cx="2593500" cy="415800"/>
          </a:xfrm>
          <a:prstGeom prst="roundRect">
            <a:avLst>
              <a:gd fmla="val 5217" name="adj"/>
            </a:avLst>
          </a:prstGeom>
          <a:solidFill>
            <a:srgbClr val="D64533"/>
          </a:solidFill>
          <a:ln>
            <a:noFill/>
          </a:ln>
        </p:spPr>
        <p:txBody>
          <a:bodyPr anchorCtr="0" anchor="ctr" bIns="62300" lIns="62300" spcFirstLastPara="1" rIns="62300" wrap="square" tIns="6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8"/>
          <p:cNvSpPr/>
          <p:nvPr/>
        </p:nvSpPr>
        <p:spPr>
          <a:xfrm>
            <a:off x="1895830" y="2911958"/>
            <a:ext cx="2340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3"/>
              <a:buFont typeface="Malgun Gothic"/>
              <a:buNone/>
            </a:pPr>
            <a:r>
              <a:rPr b="1" i="0" lang="ko" sz="1633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100.0%</a:t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1921427" y="2911958"/>
            <a:ext cx="24345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E9E3"/>
              </a:buClr>
              <a:buSzPts val="998"/>
              <a:buFont typeface="Malgun Gothic"/>
              <a:buNone/>
            </a:pPr>
            <a:r>
              <a:rPr b="1" lang="ko" sz="998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1" i="0" lang="ko" sz="998" u="none" cap="none" strike="noStrik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b="1" lang="ko" sz="998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238</a:t>
            </a:r>
            <a:r>
              <a:rPr b="1" i="0" lang="ko" sz="998" u="none" cap="none" strike="noStrik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 ·  Pass 0장</a:t>
            </a: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8"/>
          <p:cNvSpPr/>
          <p:nvPr/>
        </p:nvSpPr>
        <p:spPr>
          <a:xfrm>
            <a:off x="619624" y="1996652"/>
            <a:ext cx="149700" cy="87000"/>
          </a:xfrm>
          <a:prstGeom prst="rect">
            <a:avLst/>
          </a:prstGeom>
          <a:solidFill>
            <a:srgbClr val="D64533"/>
          </a:solidFill>
          <a:ln>
            <a:noFill/>
          </a:ln>
        </p:spPr>
        <p:txBody>
          <a:bodyPr anchorCtr="0" anchor="ctr" bIns="62300" lIns="62300" spcFirstLastPara="1" rIns="62300" wrap="square" tIns="6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8"/>
          <p:cNvSpPr/>
          <p:nvPr/>
        </p:nvSpPr>
        <p:spPr>
          <a:xfrm>
            <a:off x="806722" y="1971340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b="1" i="0" lang="ko" sz="907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8"/>
          <p:cNvSpPr/>
          <p:nvPr/>
        </p:nvSpPr>
        <p:spPr>
          <a:xfrm>
            <a:off x="1336833" y="1996652"/>
            <a:ext cx="149700" cy="87000"/>
          </a:xfrm>
          <a:prstGeom prst="rect">
            <a:avLst/>
          </a:prstGeom>
          <a:solidFill>
            <a:srgbClr val="27AE73"/>
          </a:solidFill>
          <a:ln>
            <a:noFill/>
          </a:ln>
        </p:spPr>
        <p:txBody>
          <a:bodyPr anchorCtr="0" anchor="ctr" bIns="62300" lIns="62300" spcFirstLastPara="1" rIns="62300" wrap="square" tIns="6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8"/>
          <p:cNvSpPr/>
          <p:nvPr/>
        </p:nvSpPr>
        <p:spPr>
          <a:xfrm>
            <a:off x="1523931" y="1971340"/>
            <a:ext cx="7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907"/>
              <a:buFont typeface="Malgun Gothic"/>
              <a:buNone/>
            </a:pPr>
            <a:r>
              <a:rPr b="1" i="0" lang="ko" sz="907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8"/>
          <p:cNvSpPr/>
          <p:nvPr/>
        </p:nvSpPr>
        <p:spPr>
          <a:xfrm>
            <a:off x="545599" y="2194421"/>
            <a:ext cx="1110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270"/>
              <a:buFont typeface="Malgun Gothic"/>
              <a:buNone/>
            </a:pPr>
            <a:r>
              <a:rPr b="1" i="0" lang="ko" sz="1270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Crack &gt; 3</a:t>
            </a:r>
            <a:br>
              <a:rPr b="1" i="0" lang="ko" sz="1270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" sz="907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4,015장 (20%)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1791545" y="2194426"/>
            <a:ext cx="2593500" cy="415800"/>
          </a:xfrm>
          <a:prstGeom prst="roundRect">
            <a:avLst>
              <a:gd fmla="val 5217" name="adj"/>
            </a:avLst>
          </a:prstGeom>
          <a:solidFill>
            <a:srgbClr val="D64533"/>
          </a:solidFill>
          <a:ln>
            <a:noFill/>
          </a:ln>
        </p:spPr>
        <p:txBody>
          <a:bodyPr anchorCtr="0" anchor="ctr" bIns="62300" lIns="62300" spcFirstLastPara="1" rIns="62300" wrap="square" tIns="6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/>
          </a:p>
        </p:txBody>
      </p:sp>
      <p:sp>
        <p:nvSpPr>
          <p:cNvPr id="344" name="Google Shape;344;p38"/>
          <p:cNvSpPr/>
          <p:nvPr/>
        </p:nvSpPr>
        <p:spPr>
          <a:xfrm>
            <a:off x="1895830" y="2194426"/>
            <a:ext cx="2340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3"/>
              <a:buFont typeface="Malgun Gothic"/>
              <a:buNone/>
            </a:pPr>
            <a:r>
              <a:rPr b="1" i="0" lang="ko" sz="1633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100.0%</a:t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1921427" y="2194426"/>
            <a:ext cx="24345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50" lIns="62300" spcFirstLastPara="1" rIns="62300" wrap="square" tIns="311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E9E3"/>
              </a:buClr>
              <a:buSzPts val="998"/>
              <a:buFont typeface="Malgun Gothic"/>
              <a:buNone/>
            </a:pPr>
            <a:r>
              <a:rPr b="1" i="0" lang="ko" sz="998" u="none" cap="none" strike="noStrike">
                <a:solidFill>
                  <a:srgbClr val="FFE9E3"/>
                </a:solidFill>
                <a:latin typeface="Malgun Gothic"/>
                <a:ea typeface="Malgun Gothic"/>
                <a:cs typeface="Malgun Gothic"/>
                <a:sym typeface="Malgun Gothic"/>
              </a:rPr>
              <a:t>4,015장  ·  Pass 0장</a:t>
            </a: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545625" y="1230063"/>
            <a:ext cx="38394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BG After Crack, Scratch 데이터 분석 (20,000장)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8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Crack &amp; Scratch 스크리닝 임계값을 “</a:t>
            </a:r>
            <a:r>
              <a:rPr b="1"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3” 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으로 설정하여 BG 불량 선별·차단할 필요가 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TTV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3" name="Google Shape;353;p39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9"/>
          <p:cNvSpPr/>
          <p:nvPr/>
        </p:nvSpPr>
        <p:spPr>
          <a:xfrm>
            <a:off x="390825" y="723325"/>
            <a:ext cx="5538300" cy="3030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9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9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9"/>
          <p:cNvSpPr/>
          <p:nvPr/>
        </p:nvSpPr>
        <p:spPr>
          <a:xfrm>
            <a:off x="6048750" y="723325"/>
            <a:ext cx="2709000" cy="3030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9"/>
          <p:cNvSpPr/>
          <p:nvPr/>
        </p:nvSpPr>
        <p:spPr>
          <a:xfrm>
            <a:off x="6511660" y="807522"/>
            <a:ext cx="2185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BG 단독 불량 데이터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9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9"/>
          <p:cNvSpPr/>
          <p:nvPr/>
        </p:nvSpPr>
        <p:spPr>
          <a:xfrm>
            <a:off x="6141892" y="832598"/>
            <a:ext cx="288000" cy="288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9"/>
          <p:cNvSpPr/>
          <p:nvPr/>
        </p:nvSpPr>
        <p:spPr>
          <a:xfrm>
            <a:off x="6141892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ko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9"/>
          <p:cNvSpPr/>
          <p:nvPr/>
        </p:nvSpPr>
        <p:spPr>
          <a:xfrm>
            <a:off x="385432" y="3917030"/>
            <a:ext cx="8366700" cy="6534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9"/>
          <p:cNvSpPr/>
          <p:nvPr/>
        </p:nvSpPr>
        <p:spPr>
          <a:xfrm>
            <a:off x="386137" y="1132927"/>
            <a:ext cx="38394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</a:t>
            </a: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</a:t>
            </a: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 (20,000장)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p39"/>
          <p:cNvSpPr/>
          <p:nvPr/>
        </p:nvSpPr>
        <p:spPr>
          <a:xfrm>
            <a:off x="476053" y="4099636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476053" y="40996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9"/>
          <p:cNvSpPr/>
          <p:nvPr/>
        </p:nvSpPr>
        <p:spPr>
          <a:xfrm>
            <a:off x="2564009" y="1159497"/>
            <a:ext cx="3365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TTV NG 데이터 분석 (4,972장)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i="1" lang="ko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(TTV &gt; 3</a:t>
            </a:r>
            <a:r>
              <a:rPr i="1" lang="ko" sz="1150">
                <a:solidFill>
                  <a:srgbClr val="424242"/>
                </a:solidFill>
                <a:highlight>
                  <a:srgbClr val="FFFFFF"/>
                </a:highlight>
              </a:rPr>
              <a:t>μ</a:t>
            </a:r>
            <a:r>
              <a:rPr i="1" lang="ko" sz="1150">
                <a:solidFill>
                  <a:srgbClr val="42424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ko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이면 NG)</a:t>
            </a:r>
            <a:endParaRPr i="1"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ko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TTV_After가 3μm 초과(NG)이면</a:t>
            </a:r>
            <a:r>
              <a:rPr b="0" i="0" lang="ko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ko" sz="110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99.8%가 Fail</a:t>
            </a:r>
            <a:endParaRPr sz="11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ko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사실상 전수 불량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6111" y="2256588"/>
            <a:ext cx="1362555" cy="118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9"/>
          <p:cNvSpPr/>
          <p:nvPr/>
        </p:nvSpPr>
        <p:spPr>
          <a:xfrm>
            <a:off x="3888667" y="2414325"/>
            <a:ext cx="1887600" cy="373200"/>
          </a:xfrm>
          <a:prstGeom prst="roundRect">
            <a:avLst>
              <a:gd fmla="val 8571" name="adj"/>
            </a:avLst>
          </a:prstGeom>
          <a:solidFill>
            <a:srgbClr val="FCEAE3"/>
          </a:solidFill>
          <a:ln cap="flat" cmpd="sng" w="6575">
            <a:solidFill>
              <a:srgbClr val="F0C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575" lIns="35575" spcFirstLastPara="1" rIns="35575" wrap="square" tIns="3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9"/>
          <p:cNvSpPr/>
          <p:nvPr/>
        </p:nvSpPr>
        <p:spPr>
          <a:xfrm>
            <a:off x="4013327" y="2554660"/>
            <a:ext cx="92700" cy="92400"/>
          </a:xfrm>
          <a:prstGeom prst="ellipse">
            <a:avLst/>
          </a:prstGeom>
          <a:solidFill>
            <a:srgbClr val="D64533"/>
          </a:solidFill>
          <a:ln>
            <a:noFill/>
          </a:ln>
        </p:spPr>
        <p:txBody>
          <a:bodyPr anchorCtr="0" anchor="ctr" bIns="35575" lIns="35575" spcFirstLastPara="1" rIns="35575" wrap="square" tIns="3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4173603" y="2414325"/>
            <a:ext cx="8547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1"/>
              <a:buFont typeface="Malgun Gothic"/>
              <a:buNone/>
            </a:pPr>
            <a:r>
              <a:rPr b="1" i="0" lang="ko" sz="881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</a:t>
            </a:r>
            <a:r>
              <a:rPr lang="ko" sz="704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4,964장</a:t>
            </a:r>
            <a:endParaRPr b="0" i="0" sz="8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4957176" y="2414325"/>
            <a:ext cx="747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36"/>
              <a:buFont typeface="Malgun Gothic"/>
              <a:buNone/>
            </a:pPr>
            <a:r>
              <a:rPr b="1" i="0" lang="ko" sz="1036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99.8%</a:t>
            </a:r>
            <a:endParaRPr b="0" i="0" sz="10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9"/>
          <p:cNvSpPr/>
          <p:nvPr/>
        </p:nvSpPr>
        <p:spPr>
          <a:xfrm>
            <a:off x="3888667" y="2911716"/>
            <a:ext cx="1887600" cy="373200"/>
          </a:xfrm>
          <a:prstGeom prst="roundRect">
            <a:avLst>
              <a:gd fmla="val 8571" name="adj"/>
            </a:avLst>
          </a:prstGeom>
          <a:solidFill>
            <a:srgbClr val="F0F7F2"/>
          </a:solidFill>
          <a:ln cap="flat" cmpd="sng" w="6575">
            <a:solidFill>
              <a:srgbClr val="CDE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575" lIns="35575" spcFirstLastPara="1" rIns="35575" wrap="square" tIns="3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4013327" y="3052051"/>
            <a:ext cx="92700" cy="92400"/>
          </a:xfrm>
          <a:prstGeom prst="ellipse">
            <a:avLst/>
          </a:prstGeom>
          <a:solidFill>
            <a:srgbClr val="27AE73"/>
          </a:solidFill>
          <a:ln>
            <a:noFill/>
          </a:ln>
        </p:spPr>
        <p:txBody>
          <a:bodyPr anchorCtr="0" anchor="ctr" bIns="35575" lIns="35575" spcFirstLastPara="1" rIns="35575" wrap="square" tIns="3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4173603" y="2911716"/>
            <a:ext cx="8547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881"/>
              <a:buFont typeface="Malgun Gothic"/>
              <a:buNone/>
            </a:pPr>
            <a:r>
              <a:rPr b="1" i="0" lang="ko" sz="881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</a:t>
            </a:r>
            <a:r>
              <a:rPr lang="ko" sz="704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 = 8장</a:t>
            </a:r>
            <a:endParaRPr b="0" i="0" sz="8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9"/>
          <p:cNvSpPr/>
          <p:nvPr/>
        </p:nvSpPr>
        <p:spPr>
          <a:xfrm>
            <a:off x="4957176" y="2911716"/>
            <a:ext cx="747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8E5A"/>
              </a:buClr>
              <a:buSzPts val="1036"/>
              <a:buFont typeface="Malgun Gothic"/>
              <a:buNone/>
            </a:pPr>
            <a:r>
              <a:rPr b="1" i="0" lang="ko" sz="1036" u="none" cap="none" strike="noStrike">
                <a:solidFill>
                  <a:srgbClr val="1E8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0.2%</a:t>
            </a:r>
            <a:endParaRPr b="0" i="0" sz="10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04" y="1693288"/>
            <a:ext cx="1261443" cy="126144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9"/>
          <p:cNvSpPr/>
          <p:nvPr/>
        </p:nvSpPr>
        <p:spPr>
          <a:xfrm>
            <a:off x="1046281" y="2113771"/>
            <a:ext cx="618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050" lIns="28075" spcFirstLastPara="1" rIns="28075" wrap="square" tIns="14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50"/>
              <a:buFont typeface="Malgun Gothic"/>
              <a:buNone/>
            </a:pPr>
            <a:r>
              <a:rPr b="1" i="0" lang="ko" sz="4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NG</a:t>
            </a:r>
            <a:br>
              <a:rPr b="1" i="0" lang="ko" sz="4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ko" sz="1226" u="none" cap="none" strike="noStrike">
                <a:solidFill>
                  <a:srgbClr val="D645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24.8%</a:t>
            </a:r>
            <a:br>
              <a:rPr b="1" i="0" lang="ko" sz="1226" u="none" cap="none" strike="noStrike">
                <a:solidFill>
                  <a:srgbClr val="D64533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" sz="40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4,964장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9"/>
          <p:cNvSpPr/>
          <p:nvPr/>
        </p:nvSpPr>
        <p:spPr>
          <a:xfrm>
            <a:off x="596576" y="3026985"/>
            <a:ext cx="1517700" cy="280500"/>
          </a:xfrm>
          <a:prstGeom prst="roundRect">
            <a:avLst>
              <a:gd fmla="val 900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28075" lIns="28075" spcFirstLastPara="1" rIns="28075" wrap="square" tIns="2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694934" y="3130704"/>
            <a:ext cx="73200" cy="7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28075" lIns="28075" spcFirstLastPara="1" rIns="28075" wrap="square" tIns="2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9"/>
          <p:cNvSpPr/>
          <p:nvPr/>
        </p:nvSpPr>
        <p:spPr>
          <a:xfrm>
            <a:off x="821394" y="3026985"/>
            <a:ext cx="561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613"/>
              <a:buFont typeface="Malgun Gothic"/>
              <a:buNone/>
            </a:pPr>
            <a:r>
              <a:rPr b="1" i="0" lang="ko" sz="613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OK</a:t>
            </a:r>
            <a:endParaRPr b="0" i="0" sz="6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9"/>
          <p:cNvSpPr/>
          <p:nvPr/>
        </p:nvSpPr>
        <p:spPr>
          <a:xfrm>
            <a:off x="1411543" y="3066230"/>
            <a:ext cx="6183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613"/>
              <a:buFont typeface="Malgun Gothic"/>
              <a:buNone/>
            </a:pPr>
            <a:r>
              <a:rPr b="1" i="0" lang="ko" sz="613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15,036장</a:t>
            </a:r>
            <a:endParaRPr b="0" i="0" sz="6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9"/>
          <p:cNvSpPr/>
          <p:nvPr/>
        </p:nvSpPr>
        <p:spPr>
          <a:xfrm>
            <a:off x="1411543" y="3167146"/>
            <a:ext cx="618300" cy="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09"/>
              <a:buFont typeface="Malgun Gothic"/>
              <a:buNone/>
            </a:pPr>
            <a:r>
              <a:rPr b="0" i="0" lang="ko" sz="40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75.2%</a:t>
            </a:r>
            <a:endParaRPr b="0" i="0" sz="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9"/>
          <p:cNvSpPr/>
          <p:nvPr/>
        </p:nvSpPr>
        <p:spPr>
          <a:xfrm>
            <a:off x="596576" y="3405419"/>
            <a:ext cx="1517700" cy="280500"/>
          </a:xfrm>
          <a:prstGeom prst="roundRect">
            <a:avLst>
              <a:gd fmla="val 9000" name="adj"/>
            </a:avLst>
          </a:prstGeom>
          <a:solidFill>
            <a:srgbClr val="FCEAE3"/>
          </a:solidFill>
          <a:ln cap="flat" cmpd="sng" w="13000">
            <a:solidFill>
              <a:srgbClr val="E0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075" lIns="28075" spcFirstLastPara="1" rIns="28075" wrap="square" tIns="2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9"/>
          <p:cNvSpPr/>
          <p:nvPr/>
        </p:nvSpPr>
        <p:spPr>
          <a:xfrm>
            <a:off x="694934" y="3509138"/>
            <a:ext cx="73200" cy="72900"/>
          </a:xfrm>
          <a:prstGeom prst="ellipse">
            <a:avLst/>
          </a:prstGeom>
          <a:solidFill>
            <a:srgbClr val="E0654A"/>
          </a:solidFill>
          <a:ln>
            <a:noFill/>
          </a:ln>
        </p:spPr>
        <p:txBody>
          <a:bodyPr anchorCtr="0" anchor="ctr" bIns="28075" lIns="28075" spcFirstLastPara="1" rIns="28075" wrap="square" tIns="2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9"/>
          <p:cNvSpPr/>
          <p:nvPr/>
        </p:nvSpPr>
        <p:spPr>
          <a:xfrm>
            <a:off x="821394" y="3405419"/>
            <a:ext cx="561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542"/>
              </a:buClr>
              <a:buSzPts val="613"/>
              <a:buFont typeface="Malgun Gothic"/>
              <a:buNone/>
            </a:pPr>
            <a:r>
              <a:rPr b="1" i="0" lang="ko" sz="613" u="none" cap="none" strike="noStrike">
                <a:solidFill>
                  <a:srgbClr val="2C3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NG</a:t>
            </a:r>
            <a:endParaRPr b="0" i="0" sz="6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9"/>
          <p:cNvSpPr/>
          <p:nvPr/>
        </p:nvSpPr>
        <p:spPr>
          <a:xfrm>
            <a:off x="1411543" y="3444664"/>
            <a:ext cx="6183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613"/>
              <a:buFont typeface="Malgun Gothic"/>
              <a:buNone/>
            </a:pPr>
            <a:r>
              <a:rPr b="1" i="0" lang="ko" sz="613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4,964장</a:t>
            </a:r>
            <a:endParaRPr b="0" i="0" sz="6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9"/>
          <p:cNvSpPr/>
          <p:nvPr/>
        </p:nvSpPr>
        <p:spPr>
          <a:xfrm>
            <a:off x="1411543" y="3545580"/>
            <a:ext cx="618300" cy="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409"/>
              <a:buFont typeface="Malgun Gothic"/>
              <a:buNone/>
            </a:pPr>
            <a:r>
              <a:rPr b="0" i="0" lang="ko" sz="40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24.8%</a:t>
            </a:r>
            <a:endParaRPr b="0" i="0" sz="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39"/>
          <p:cNvCxnSpPr/>
          <p:nvPr/>
        </p:nvCxnSpPr>
        <p:spPr>
          <a:xfrm>
            <a:off x="6690463" y="1949100"/>
            <a:ext cx="0" cy="1139400"/>
          </a:xfrm>
          <a:prstGeom prst="straightConnector1">
            <a:avLst/>
          </a:prstGeom>
          <a:noFill/>
          <a:ln cap="flat" cmpd="sng" w="85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39"/>
          <p:cNvSpPr/>
          <p:nvPr/>
        </p:nvSpPr>
        <p:spPr>
          <a:xfrm>
            <a:off x="6134800" y="2056871"/>
            <a:ext cx="51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39"/>
              <a:buFont typeface="Malgun Gothic"/>
              <a:buNone/>
            </a:pPr>
            <a:r>
              <a:rPr b="1" i="0" lang="ko" sz="1039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 웨이퍼</a:t>
            </a:r>
            <a:endParaRPr b="1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9"/>
          <p:cNvSpPr/>
          <p:nvPr/>
        </p:nvSpPr>
        <p:spPr>
          <a:xfrm>
            <a:off x="6690463" y="2056871"/>
            <a:ext cx="1188900" cy="292500"/>
          </a:xfrm>
          <a:prstGeom prst="roundRect">
            <a:avLst>
              <a:gd fmla="val 5263" name="adj"/>
            </a:avLst>
          </a:prstGeom>
          <a:solidFill>
            <a:srgbClr val="4A90D9"/>
          </a:solidFill>
          <a:ln>
            <a:noFill/>
          </a:ln>
        </p:spPr>
        <p:txBody>
          <a:bodyPr anchorCtr="0" anchor="ctr" bIns="30850" lIns="30850" spcFirstLastPara="1" rIns="30850" wrap="square" tIns="3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9"/>
          <p:cNvSpPr/>
          <p:nvPr/>
        </p:nvSpPr>
        <p:spPr>
          <a:xfrm>
            <a:off x="7499833" y="2056871"/>
            <a:ext cx="33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b="1" i="0" lang="ko" sz="1263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1.53</a:t>
            </a:r>
            <a:endParaRPr b="1" i="0" sz="1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9"/>
          <p:cNvSpPr/>
          <p:nvPr/>
        </p:nvSpPr>
        <p:spPr>
          <a:xfrm>
            <a:off x="6134800" y="2549536"/>
            <a:ext cx="51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539"/>
              <a:buFont typeface="Malgun Gothic"/>
              <a:buNone/>
            </a:pPr>
            <a:r>
              <a:rPr b="1" i="0" lang="ko" sz="1039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Fail 웨이퍼</a:t>
            </a:r>
            <a:endParaRPr b="1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9"/>
          <p:cNvSpPr/>
          <p:nvPr/>
        </p:nvSpPr>
        <p:spPr>
          <a:xfrm>
            <a:off x="6690463" y="2549536"/>
            <a:ext cx="1919100" cy="292500"/>
          </a:xfrm>
          <a:prstGeom prst="roundRect">
            <a:avLst>
              <a:gd fmla="val 5263" name="adj"/>
            </a:avLst>
          </a:prstGeom>
          <a:solidFill>
            <a:srgbClr val="E0654A"/>
          </a:solidFill>
          <a:ln>
            <a:noFill/>
          </a:ln>
        </p:spPr>
        <p:txBody>
          <a:bodyPr anchorCtr="0" anchor="ctr" bIns="30850" lIns="30850" spcFirstLastPara="1" rIns="30850" wrap="square" tIns="3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9"/>
          <p:cNvSpPr/>
          <p:nvPr/>
        </p:nvSpPr>
        <p:spPr>
          <a:xfrm>
            <a:off x="8230236" y="2549536"/>
            <a:ext cx="33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b="1" i="0" lang="ko" sz="1263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2.47</a:t>
            </a:r>
            <a:endParaRPr b="1" i="0" sz="1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9"/>
          <p:cNvSpPr/>
          <p:nvPr/>
        </p:nvSpPr>
        <p:spPr>
          <a:xfrm>
            <a:off x="6094650" y="1208150"/>
            <a:ext cx="26172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Pass/Fail </a:t>
            </a: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</a:t>
            </a: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TTV After </a:t>
            </a: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평균값 비교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6" name="Google Shape;396;p39"/>
          <p:cNvCxnSpPr/>
          <p:nvPr/>
        </p:nvCxnSpPr>
        <p:spPr>
          <a:xfrm>
            <a:off x="8110358" y="1759621"/>
            <a:ext cx="6900" cy="13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7" name="Google Shape;397;p39"/>
          <p:cNvSpPr/>
          <p:nvPr/>
        </p:nvSpPr>
        <p:spPr>
          <a:xfrm>
            <a:off x="8058275" y="1668600"/>
            <a:ext cx="3387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3"/>
              <a:buFont typeface="Malgun Gothic"/>
              <a:buNone/>
            </a:pPr>
            <a:r>
              <a:rPr b="1" lang="ko" sz="1263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1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9"/>
          <p:cNvSpPr/>
          <p:nvPr/>
        </p:nvSpPr>
        <p:spPr>
          <a:xfrm>
            <a:off x="545625" y="4598746"/>
            <a:ext cx="79554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※ 분석 대상 LOT: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좌: 전체 LOT 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ko" sz="1000">
                <a:solidFill>
                  <a:srgbClr val="1B7A52"/>
                </a:solidFill>
                <a:latin typeface="Calibri"/>
                <a:ea typeface="Calibri"/>
                <a:cs typeface="Calibri"/>
                <a:sym typeface="Calibri"/>
              </a:rPr>
              <a:t>우: Primary Failure이 BG_Crack_Scratch 인 경우</a:t>
            </a:r>
            <a:endParaRPr i="1" sz="1000">
              <a:solidFill>
                <a:srgbClr val="1B7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9"/>
          <p:cNvSpPr/>
          <p:nvPr/>
        </p:nvSpPr>
        <p:spPr>
          <a:xfrm>
            <a:off x="390825" y="3916925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데이터 분석 결과, TTV 스크리닝 임계값을 “&lt; </a:t>
            </a:r>
            <a:r>
              <a:rPr b="1"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2μm” </a:t>
            </a: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으로 설정하여 BG 불량 선별·차단할 필요가 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/>
          <p:nvPr/>
        </p:nvSpPr>
        <p:spPr>
          <a:xfrm>
            <a:off x="390825" y="723325"/>
            <a:ext cx="8366700" cy="34947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0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및 분석 - After_Crack, TTV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6" name="Google Shape;406;p40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40"/>
          <p:cNvSpPr txBox="1"/>
          <p:nvPr/>
        </p:nvSpPr>
        <p:spPr>
          <a:xfrm>
            <a:off x="9931675" y="3391700"/>
            <a:ext cx="18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08" name="Google Shape;4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9952" y="1141675"/>
            <a:ext cx="4079473" cy="302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925" y="1224738"/>
            <a:ext cx="3262219" cy="2860098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0"/>
          <p:cNvSpPr/>
          <p:nvPr/>
        </p:nvSpPr>
        <p:spPr>
          <a:xfrm>
            <a:off x="385432" y="4348505"/>
            <a:ext cx="8366700" cy="6534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0"/>
          <p:cNvSpPr/>
          <p:nvPr/>
        </p:nvSpPr>
        <p:spPr>
          <a:xfrm>
            <a:off x="476053" y="453111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412" name="Google Shape;412;p40"/>
          <p:cNvSpPr/>
          <p:nvPr/>
        </p:nvSpPr>
        <p:spPr>
          <a:xfrm>
            <a:off x="476053" y="4531111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0"/>
          <p:cNvSpPr/>
          <p:nvPr/>
        </p:nvSpPr>
        <p:spPr>
          <a:xfrm>
            <a:off x="596570" y="832598"/>
            <a:ext cx="288000" cy="2880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0"/>
          <p:cNvSpPr/>
          <p:nvPr/>
        </p:nvSpPr>
        <p:spPr>
          <a:xfrm>
            <a:off x="1008050" y="820065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lang="ko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상관관계 분석</a:t>
            </a:r>
            <a:endParaRPr b="1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0"/>
          <p:cNvSpPr/>
          <p:nvPr/>
        </p:nvSpPr>
        <p:spPr>
          <a:xfrm>
            <a:off x="596570" y="83259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0"/>
          <p:cNvSpPr/>
          <p:nvPr/>
        </p:nvSpPr>
        <p:spPr>
          <a:xfrm>
            <a:off x="390825" y="4348400"/>
            <a:ext cx="83667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TTV / Crack After Scatter 간 상관계수: </a:t>
            </a:r>
            <a:r>
              <a:rPr b="1" lang="ko" sz="1200">
                <a:solidFill>
                  <a:srgbClr val="D64533"/>
                </a:solidFill>
                <a:latin typeface="Calibri"/>
                <a:ea typeface="Calibri"/>
                <a:cs typeface="Calibri"/>
                <a:sym typeface="Calibri"/>
              </a:rPr>
              <a:t>0.694</a:t>
            </a:r>
            <a:endParaRPr b="1" sz="1200">
              <a:solidFill>
                <a:srgbClr val="D645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크랙이 TTV 불량을 일으킨다는 인과관계가 아니라, 동일 근본원인 공유 (척 평탄·휠 마모·테이프)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"/>
          <p:cNvSpPr/>
          <p:nvPr/>
        </p:nvSpPr>
        <p:spPr>
          <a:xfrm>
            <a:off x="198400" y="3624950"/>
            <a:ext cx="8745900" cy="13014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198400" y="807591"/>
            <a:ext cx="8745900" cy="24726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AA0B5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i="0" lang="ko" sz="2300" u="none" cap="none" strike="noStrik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원인 - Rough Grinding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41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41"/>
          <p:cNvSpPr/>
          <p:nvPr/>
        </p:nvSpPr>
        <p:spPr>
          <a:xfrm>
            <a:off x="415289" y="1105178"/>
            <a:ext cx="2578200" cy="1851600"/>
          </a:xfrm>
          <a:prstGeom prst="roundRect">
            <a:avLst>
              <a:gd fmla="val 3704" name="adj"/>
            </a:avLst>
          </a:prstGeom>
          <a:solidFill>
            <a:srgbClr val="F6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635295" y="1324634"/>
            <a:ext cx="453900" cy="4527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635295" y="1324634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</a:rPr>
              <a:t>✓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1205937" y="1338350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E5A"/>
              </a:buClr>
              <a:buSzPts val="800"/>
              <a:buFont typeface="Malgun Gothic"/>
              <a:buNone/>
            </a:pPr>
            <a:r>
              <a:rPr b="1" i="0" lang="ko" sz="800" u="none" cap="none" strike="noStrike">
                <a:solidFill>
                  <a:srgbClr val="1E8E5A"/>
                </a:solidFill>
              </a:rPr>
              <a:t>STEP 1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429" name="Google Shape;429;p41"/>
          <p:cNvSpPr/>
          <p:nvPr/>
        </p:nvSpPr>
        <p:spPr>
          <a:xfrm>
            <a:off x="1205937" y="1489225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b="1" lang="ko" sz="1100">
                <a:solidFill>
                  <a:srgbClr val="1F3A5F"/>
                </a:solidFill>
              </a:rPr>
              <a:t>Scratch</a:t>
            </a:r>
            <a:r>
              <a:rPr b="1" i="0" lang="ko" sz="1100" u="none" cap="none" strike="noStrike">
                <a:solidFill>
                  <a:srgbClr val="1F3A5F"/>
                </a:solidFill>
              </a:rPr>
              <a:t>는 이미 개선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30" name="Google Shape;430;p41"/>
          <p:cNvSpPr/>
          <p:nvPr/>
        </p:nvSpPr>
        <p:spPr>
          <a:xfrm>
            <a:off x="649046" y="1996718"/>
            <a:ext cx="2131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BG 후 </a:t>
            </a:r>
            <a:r>
              <a:rPr lang="ko" sz="900">
                <a:solidFill>
                  <a:srgbClr val="3A424E"/>
                </a:solidFill>
              </a:rPr>
              <a:t>Scratch</a:t>
            </a:r>
            <a:r>
              <a:rPr i="0" lang="ko" sz="900" u="none" cap="none" strike="noStrike">
                <a:solidFill>
                  <a:srgbClr val="3A424E"/>
                </a:solidFill>
              </a:rPr>
              <a:t> 평균 2.93 → 1.24 감소.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Fine Grinding 상태가 상대적으로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안정적이라는 신호.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431" name="Google Shape;431;p41"/>
          <p:cNvSpPr/>
          <p:nvPr/>
        </p:nvSpPr>
        <p:spPr>
          <a:xfrm>
            <a:off x="3282247" y="1105178"/>
            <a:ext cx="2578200" cy="1851600"/>
          </a:xfrm>
          <a:prstGeom prst="roundRect">
            <a:avLst>
              <a:gd fmla="val 3704" name="adj"/>
            </a:avLst>
          </a:prstGeom>
          <a:solidFill>
            <a:srgbClr val="F6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32" name="Google Shape;432;p41"/>
          <p:cNvSpPr/>
          <p:nvPr/>
        </p:nvSpPr>
        <p:spPr>
          <a:xfrm>
            <a:off x="3502253" y="1324634"/>
            <a:ext cx="453900" cy="45270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33" name="Google Shape;433;p41"/>
          <p:cNvSpPr/>
          <p:nvPr/>
        </p:nvSpPr>
        <p:spPr>
          <a:xfrm>
            <a:off x="3502250" y="1324625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</a:rPr>
              <a:t>▶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434" name="Google Shape;434;p41"/>
          <p:cNvSpPr/>
          <p:nvPr/>
        </p:nvSpPr>
        <p:spPr>
          <a:xfrm>
            <a:off x="4072895" y="1338350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FB5"/>
              </a:buClr>
              <a:buSzPts val="800"/>
              <a:buFont typeface="Malgun Gothic"/>
              <a:buNone/>
            </a:pPr>
            <a:r>
              <a:rPr b="1" i="0" lang="ko" sz="800" u="none" cap="none" strike="noStrike">
                <a:solidFill>
                  <a:srgbClr val="2F6FB5"/>
                </a:solidFill>
              </a:rPr>
              <a:t>STEP 2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4072895" y="1489225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b="1" i="0" lang="ko" sz="1100" u="none" cap="none" strike="noStrike">
                <a:solidFill>
                  <a:srgbClr val="1F3A5F"/>
                </a:solidFill>
              </a:rPr>
              <a:t>Rough Grinding 우선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3516004" y="1996718"/>
            <a:ext cx="2131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Fine 개선 우선순위는 뒤로.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남은 과제인 </a:t>
            </a:r>
            <a:r>
              <a:rPr lang="ko" sz="900">
                <a:solidFill>
                  <a:srgbClr val="3A424E"/>
                </a:solidFill>
              </a:rPr>
              <a:t>Crack</a:t>
            </a:r>
            <a:r>
              <a:rPr i="0" lang="ko" sz="900" u="none" cap="none" strike="noStrike">
                <a:solidFill>
                  <a:srgbClr val="3A424E"/>
                </a:solidFill>
              </a:rPr>
              <a:t> 저감을 위해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Rough 단계를 우선 개선.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6149205" y="1105178"/>
            <a:ext cx="2578200" cy="1851600"/>
          </a:xfrm>
          <a:prstGeom prst="roundRect">
            <a:avLst>
              <a:gd fmla="val 3704" name="adj"/>
            </a:avLst>
          </a:prstGeom>
          <a:solidFill>
            <a:srgbClr val="F6F8FA"/>
          </a:solidFill>
          <a:ln cap="flat" cmpd="sng" w="12700">
            <a:solidFill>
              <a:srgbClr val="E2E6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6369212" y="1324634"/>
            <a:ext cx="453900" cy="4527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39" name="Google Shape;439;p41"/>
          <p:cNvSpPr/>
          <p:nvPr/>
        </p:nvSpPr>
        <p:spPr>
          <a:xfrm>
            <a:off x="6369212" y="1324634"/>
            <a:ext cx="453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</a:rPr>
              <a:t>＝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440" name="Google Shape;440;p41"/>
          <p:cNvSpPr/>
          <p:nvPr/>
        </p:nvSpPr>
        <p:spPr>
          <a:xfrm>
            <a:off x="6939853" y="1338350"/>
            <a:ext cx="168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Malgun Gothic"/>
              <a:buNone/>
            </a:pPr>
            <a:r>
              <a:rPr b="1" i="0" lang="ko" sz="800" u="none" cap="none" strike="noStrike">
                <a:solidFill>
                  <a:srgbClr val="C0392B"/>
                </a:solidFill>
              </a:rPr>
              <a:t>STEP 3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441" name="Google Shape;441;p41"/>
          <p:cNvSpPr/>
          <p:nvPr/>
        </p:nvSpPr>
        <p:spPr>
          <a:xfrm>
            <a:off x="6939853" y="1489225"/>
            <a:ext cx="165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b="1" lang="ko" sz="1100">
                <a:solidFill>
                  <a:srgbClr val="1F3A5F"/>
                </a:solidFill>
              </a:rPr>
              <a:t>Crack, </a:t>
            </a:r>
            <a:r>
              <a:rPr b="1" i="0" lang="ko" sz="1100" u="none" cap="none" strike="noStrike">
                <a:solidFill>
                  <a:srgbClr val="1F3A5F"/>
                </a:solidFill>
              </a:rPr>
              <a:t>TTV</a:t>
            </a:r>
            <a:endParaRPr b="1" sz="1100">
              <a:solidFill>
                <a:srgbClr val="1F3A5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00"/>
              <a:buFont typeface="Malgun Gothic"/>
              <a:buNone/>
            </a:pPr>
            <a:r>
              <a:rPr b="1" i="0" lang="ko" sz="1100" u="none" cap="none" strike="noStrike">
                <a:solidFill>
                  <a:srgbClr val="1F3A5F"/>
                </a:solidFill>
              </a:rPr>
              <a:t>동반 개선 기대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42" name="Google Shape;442;p41"/>
          <p:cNvSpPr/>
          <p:nvPr/>
        </p:nvSpPr>
        <p:spPr>
          <a:xfrm>
            <a:off x="6266049" y="1996725"/>
            <a:ext cx="234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Rough의 잔류응력이 </a:t>
            </a:r>
            <a:r>
              <a:rPr lang="ko" sz="900">
                <a:solidFill>
                  <a:srgbClr val="3A424E"/>
                </a:solidFill>
              </a:rPr>
              <a:t>Crack</a:t>
            </a:r>
            <a:r>
              <a:rPr i="0" lang="ko" sz="900" u="none" cap="none" strike="noStrike">
                <a:solidFill>
                  <a:srgbClr val="3A424E"/>
                </a:solidFill>
              </a:rPr>
              <a:t>·TTV 공통 기점.</a:t>
            </a:r>
            <a:endParaRPr i="0" sz="900" u="none" cap="none" strike="noStrike">
              <a:solidFill>
                <a:srgbClr val="3A424E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900"/>
              <a:buFont typeface="Malgun Gothic"/>
              <a:buNone/>
            </a:pPr>
            <a:r>
              <a:rPr i="0" lang="ko" sz="900" u="none" cap="none" strike="noStrike">
                <a:solidFill>
                  <a:srgbClr val="3A424E"/>
                </a:solidFill>
              </a:rPr>
              <a:t>응력 저감 → </a:t>
            </a:r>
            <a:r>
              <a:rPr lang="ko" sz="900">
                <a:solidFill>
                  <a:srgbClr val="3A424E"/>
                </a:solidFill>
              </a:rPr>
              <a:t>Crack</a:t>
            </a:r>
            <a:r>
              <a:rPr i="0" lang="ko" sz="900" u="none" cap="none" strike="noStrike">
                <a:solidFill>
                  <a:srgbClr val="3A424E"/>
                </a:solidFill>
              </a:rPr>
              <a:t>·TTV 동시 개선.</a:t>
            </a:r>
            <a:endParaRPr i="0" sz="900" u="none" cap="none" strike="noStrike">
              <a:solidFill>
                <a:srgbClr val="3A424E"/>
              </a:solidFill>
            </a:endParaRPr>
          </a:p>
        </p:txBody>
      </p:sp>
      <p:sp>
        <p:nvSpPr>
          <p:cNvPr id="443" name="Google Shape;443;p41"/>
          <p:cNvSpPr/>
          <p:nvPr/>
        </p:nvSpPr>
        <p:spPr>
          <a:xfrm>
            <a:off x="724200" y="3739252"/>
            <a:ext cx="77001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b="1" i="0" lang="ko" sz="1600" u="none" cap="none" strike="noStrike">
                <a:solidFill>
                  <a:srgbClr val="C0392B"/>
                </a:solidFill>
              </a:rPr>
              <a:t>결론</a:t>
            </a:r>
            <a:endParaRPr b="1" i="0" sz="1600" u="none" cap="none" strike="noStrike">
              <a:solidFill>
                <a:srgbClr val="C0392B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lang="ko" sz="1200">
                <a:solidFill>
                  <a:srgbClr val="2C3542"/>
                </a:solidFill>
              </a:rPr>
              <a:t>Crack</a:t>
            </a:r>
            <a:r>
              <a:rPr i="0" lang="ko" sz="1200" u="none" cap="none" strike="noStrike">
                <a:solidFill>
                  <a:srgbClr val="2C3542"/>
                </a:solidFill>
              </a:rPr>
              <a:t>·TTV를 줄이고 관리하는 방향으로 공정을 개선하되,</a:t>
            </a:r>
            <a:endParaRPr sz="1200">
              <a:solidFill>
                <a:srgbClr val="2C3542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lang="ko" sz="1200">
                <a:solidFill>
                  <a:srgbClr val="2C3542"/>
                </a:solidFill>
              </a:rPr>
              <a:t>Scratch</a:t>
            </a:r>
            <a:r>
              <a:rPr i="0" lang="ko" sz="1200" u="none" cap="none" strike="noStrike">
                <a:solidFill>
                  <a:srgbClr val="2C3542"/>
                </a:solidFill>
              </a:rPr>
              <a:t>는 이미 개선된 만큼 Fine이 아닌 </a:t>
            </a:r>
            <a:r>
              <a:rPr b="1" i="0" lang="ko" sz="1200" u="none" cap="none" strike="noStrike">
                <a:solidFill>
                  <a:srgbClr val="C0392B"/>
                </a:solidFill>
              </a:rPr>
              <a:t>Rough Grinding 단계를 우선 개선</a:t>
            </a:r>
            <a:r>
              <a:rPr i="0" lang="ko" sz="1200" u="none" cap="none" strike="noStrike">
                <a:solidFill>
                  <a:srgbClr val="2C3542"/>
                </a:solidFill>
              </a:rPr>
              <a:t>한다.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44" name="Google Shape;444;p41"/>
          <p:cNvSpPr/>
          <p:nvPr/>
        </p:nvSpPr>
        <p:spPr>
          <a:xfrm>
            <a:off x="2953754" y="1105178"/>
            <a:ext cx="2889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2BD"/>
              </a:buClr>
              <a:buSzPts val="1700"/>
              <a:buFont typeface="Malgun Gothic"/>
              <a:buNone/>
            </a:pPr>
            <a:r>
              <a:rPr b="1" i="0" lang="ko" sz="1700" u="none" cap="none" strike="noStrike">
                <a:solidFill>
                  <a:srgbClr val="AAB2BD"/>
                </a:solidFill>
              </a:rPr>
              <a:t>→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445" name="Google Shape;445;p41"/>
          <p:cNvSpPr/>
          <p:nvPr/>
        </p:nvSpPr>
        <p:spPr>
          <a:xfrm>
            <a:off x="5820712" y="1105178"/>
            <a:ext cx="2889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2BD"/>
              </a:buClr>
              <a:buSzPts val="1700"/>
              <a:buFont typeface="Malgun Gothic"/>
              <a:buNone/>
            </a:pPr>
            <a:r>
              <a:rPr b="1" i="0" lang="ko" sz="1700" u="none" cap="none" strike="noStrike">
                <a:solidFill>
                  <a:srgbClr val="AAB2BD"/>
                </a:solidFill>
              </a:rPr>
              <a:t>→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i="0" lang="ko" sz="2300" u="none" cap="none" strike="noStrik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 이상 원인 분석 (Fishbone Diagram)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2"/>
          <p:cNvSpPr/>
          <p:nvPr/>
        </p:nvSpPr>
        <p:spPr>
          <a:xfrm>
            <a:off x="7728785" y="2338225"/>
            <a:ext cx="1340700" cy="1062900"/>
          </a:xfrm>
          <a:prstGeom prst="roundRect">
            <a:avLst>
              <a:gd fmla="val 5161" name="adj"/>
            </a:avLst>
          </a:prstGeom>
          <a:solidFill>
            <a:srgbClr val="1B3A5E"/>
          </a:solidFill>
          <a:ln>
            <a:noFill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7728785" y="2338225"/>
            <a:ext cx="13407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</a:t>
            </a:r>
            <a:b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발생</a:t>
            </a:r>
            <a:b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" sz="800" u="none" cap="none" strike="noStrik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(Crack, Scratch)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091" y="891187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5" name="Google Shape;45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4955" y="891187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6" name="Google Shape;456;p4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42"/>
          <p:cNvSpPr/>
          <p:nvPr/>
        </p:nvSpPr>
        <p:spPr>
          <a:xfrm>
            <a:off x="1334850" y="4464205"/>
            <a:ext cx="1684500" cy="534900"/>
          </a:xfrm>
          <a:prstGeom prst="roundRect">
            <a:avLst>
              <a:gd fmla="val 11538" name="adj"/>
            </a:avLst>
          </a:prstGeom>
          <a:solidFill>
            <a:srgbClr val="1B3A5E"/>
          </a:solidFill>
          <a:ln cap="flat" cmpd="sng" w="9525">
            <a:solidFill>
              <a:srgbClr val="1B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8" name="Google Shape;45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8603" y="459450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2"/>
          <p:cNvSpPr/>
          <p:nvPr/>
        </p:nvSpPr>
        <p:spPr>
          <a:xfrm>
            <a:off x="1712986" y="4464205"/>
            <a:ext cx="1272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Material</a:t>
            </a:r>
            <a:br>
              <a:rPr b="1" i="0" lang="ko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" sz="800" u="none" cap="none" strike="noStrik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(자재)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2"/>
          <p:cNvSpPr/>
          <p:nvPr/>
        </p:nvSpPr>
        <p:spPr>
          <a:xfrm>
            <a:off x="4772450" y="4464205"/>
            <a:ext cx="1890600" cy="534900"/>
          </a:xfrm>
          <a:prstGeom prst="roundRect">
            <a:avLst>
              <a:gd fmla="val 11538" name="adj"/>
            </a:avLst>
          </a:prstGeom>
          <a:solidFill>
            <a:srgbClr val="1B3A5E"/>
          </a:solidFill>
          <a:ln cap="flat" cmpd="sng" w="9525">
            <a:solidFill>
              <a:srgbClr val="1B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75" lIns="68675" spcFirstLastPara="1" rIns="68675" wrap="square" tIns="6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1" name="Google Shape;461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6203" y="459450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2"/>
          <p:cNvSpPr/>
          <p:nvPr/>
        </p:nvSpPr>
        <p:spPr>
          <a:xfrm>
            <a:off x="5150585" y="4464205"/>
            <a:ext cx="1478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Environment</a:t>
            </a:r>
            <a:br>
              <a:rPr b="1" i="0" lang="ko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" sz="800" u="none" cap="none" strike="noStrike">
                <a:solidFill>
                  <a:srgbClr val="D6DCE5"/>
                </a:solidFill>
                <a:latin typeface="Malgun Gothic"/>
                <a:ea typeface="Malgun Gothic"/>
                <a:cs typeface="Malgun Gothic"/>
                <a:sym typeface="Malgun Gothic"/>
              </a:rPr>
              <a:t>(환경)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42"/>
          <p:cNvCxnSpPr/>
          <p:nvPr/>
        </p:nvCxnSpPr>
        <p:spPr>
          <a:xfrm flipH="1" rot="10800000">
            <a:off x="5597577" y="2873005"/>
            <a:ext cx="893700" cy="1591200"/>
          </a:xfrm>
          <a:prstGeom prst="straightConnector1">
            <a:avLst/>
          </a:prstGeom>
          <a:noFill/>
          <a:ln cap="flat" cmpd="sng" w="34925">
            <a:solidFill>
              <a:srgbClr val="1B3A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42"/>
          <p:cNvSpPr/>
          <p:nvPr/>
        </p:nvSpPr>
        <p:spPr>
          <a:xfrm>
            <a:off x="3927487" y="3462536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Particle 유입</a:t>
            </a:r>
            <a:endParaRPr b="0" i="0" sz="1000" u="none" cap="none" strike="noStrike">
              <a:solidFill>
                <a:srgbClr val="1B3A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42"/>
          <p:cNvCxnSpPr/>
          <p:nvPr/>
        </p:nvCxnSpPr>
        <p:spPr>
          <a:xfrm>
            <a:off x="5680663" y="3651086"/>
            <a:ext cx="343800" cy="0"/>
          </a:xfrm>
          <a:prstGeom prst="straightConnector1">
            <a:avLst/>
          </a:prstGeom>
          <a:noFill/>
          <a:ln cap="flat" cmpd="sng" w="25400">
            <a:solidFill>
              <a:srgbClr val="1B3A5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6" name="Google Shape;466;p42"/>
          <p:cNvSpPr/>
          <p:nvPr/>
        </p:nvSpPr>
        <p:spPr>
          <a:xfrm>
            <a:off x="4198752" y="2956542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진동 유입</a:t>
            </a:r>
            <a:endParaRPr b="0" i="0" sz="1000" u="none" cap="none" strike="noStrike">
              <a:solidFill>
                <a:srgbClr val="1B3A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42"/>
          <p:cNvCxnSpPr/>
          <p:nvPr/>
        </p:nvCxnSpPr>
        <p:spPr>
          <a:xfrm>
            <a:off x="5951928" y="3145092"/>
            <a:ext cx="343800" cy="0"/>
          </a:xfrm>
          <a:prstGeom prst="straightConnector1">
            <a:avLst/>
          </a:prstGeom>
          <a:noFill/>
          <a:ln cap="flat" cmpd="sng" w="25400">
            <a:solidFill>
              <a:srgbClr val="1B3A5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8" name="Google Shape;468;p42"/>
          <p:cNvCxnSpPr/>
          <p:nvPr/>
        </p:nvCxnSpPr>
        <p:spPr>
          <a:xfrm flipH="1" rot="10800000">
            <a:off x="1953826" y="2873005"/>
            <a:ext cx="893700" cy="1591200"/>
          </a:xfrm>
          <a:prstGeom prst="straightConnector1">
            <a:avLst/>
          </a:prstGeom>
          <a:noFill/>
          <a:ln cap="flat" cmpd="sng" w="34925">
            <a:solidFill>
              <a:srgbClr val="1B3A5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9" name="Google Shape;469;p42"/>
          <p:cNvGrpSpPr/>
          <p:nvPr/>
        </p:nvGrpSpPr>
        <p:grpSpPr>
          <a:xfrm>
            <a:off x="-10275" y="2956542"/>
            <a:ext cx="2662251" cy="1389089"/>
            <a:chOff x="-73212" y="2847167"/>
            <a:chExt cx="2662251" cy="1389089"/>
          </a:xfrm>
        </p:grpSpPr>
        <p:sp>
          <p:nvSpPr>
            <p:cNvPr id="470" name="Google Shape;470;p42"/>
            <p:cNvSpPr/>
            <p:nvPr/>
          </p:nvSpPr>
          <p:spPr>
            <a:xfrm>
              <a:off x="-73212" y="3859156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냉각수 품질 저하</a:t>
              </a:r>
              <a:endParaRPr b="0" i="0" sz="1000" u="none" cap="none" strike="noStrike">
                <a:solidFill>
                  <a:srgbClr val="1B3A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1" name="Google Shape;471;p42"/>
            <p:cNvCxnSpPr/>
            <p:nvPr/>
          </p:nvCxnSpPr>
          <p:spPr>
            <a:xfrm>
              <a:off x="1679964" y="4047706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2" name="Google Shape;472;p42"/>
            <p:cNvSpPr/>
            <p:nvPr/>
          </p:nvSpPr>
          <p:spPr>
            <a:xfrm>
              <a:off x="220798" y="3353161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ko" sz="1000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Wafer 자체 결함</a:t>
              </a:r>
              <a:endParaRPr sz="1000">
                <a:solidFill>
                  <a:srgbClr val="1B3A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3" name="Google Shape;473;p42"/>
            <p:cNvCxnSpPr/>
            <p:nvPr/>
          </p:nvCxnSpPr>
          <p:spPr>
            <a:xfrm>
              <a:off x="1973974" y="3541711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4" name="Google Shape;474;p42"/>
            <p:cNvSpPr/>
            <p:nvPr/>
          </p:nvSpPr>
          <p:spPr>
            <a:xfrm>
              <a:off x="492063" y="2847167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ko" sz="1000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BG Tape 이상</a:t>
              </a:r>
              <a:endParaRPr sz="1100">
                <a:solidFill>
                  <a:schemeClr val="dk1"/>
                </a:solidFill>
              </a:endParaRPr>
            </a:p>
          </p:txBody>
        </p:sp>
        <p:cxnSp>
          <p:nvCxnSpPr>
            <p:cNvPr id="475" name="Google Shape;475;p42"/>
            <p:cNvCxnSpPr/>
            <p:nvPr/>
          </p:nvCxnSpPr>
          <p:spPr>
            <a:xfrm>
              <a:off x="2245239" y="3035717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76" name="Google Shape;476;p42"/>
          <p:cNvGrpSpPr/>
          <p:nvPr/>
        </p:nvGrpSpPr>
        <p:grpSpPr>
          <a:xfrm>
            <a:off x="-79235" y="760885"/>
            <a:ext cx="7773708" cy="2126124"/>
            <a:chOff x="-142172" y="651510"/>
            <a:chExt cx="7773708" cy="2126124"/>
          </a:xfrm>
        </p:grpSpPr>
        <p:cxnSp>
          <p:nvCxnSpPr>
            <p:cNvPr id="477" name="Google Shape;477;p42"/>
            <p:cNvCxnSpPr/>
            <p:nvPr/>
          </p:nvCxnSpPr>
          <p:spPr>
            <a:xfrm>
              <a:off x="378136" y="2777490"/>
              <a:ext cx="7253400" cy="0"/>
            </a:xfrm>
            <a:prstGeom prst="straightConnector1">
              <a:avLst/>
            </a:prstGeom>
            <a:noFill/>
            <a:ln cap="flat" cmpd="sng" w="889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8" name="Google Shape;478;p42"/>
            <p:cNvSpPr/>
            <p:nvPr/>
          </p:nvSpPr>
          <p:spPr>
            <a:xfrm>
              <a:off x="859400" y="651510"/>
              <a:ext cx="1890600" cy="534900"/>
            </a:xfrm>
            <a:prstGeom prst="roundRect">
              <a:avLst>
                <a:gd fmla="val 11538" name="adj"/>
              </a:avLst>
            </a:prstGeom>
            <a:solidFill>
              <a:srgbClr val="1B3A5E"/>
            </a:solidFill>
            <a:ln>
              <a:noFill/>
            </a:ln>
          </p:spPr>
          <p:txBody>
            <a:bodyPr anchorCtr="0" anchor="ctr" bIns="68675" lIns="68675" spcFirstLastPara="1" rIns="68675" wrap="square" tIns="68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479" name="Google Shape;47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3153" y="78181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2"/>
            <p:cNvSpPr/>
            <p:nvPr/>
          </p:nvSpPr>
          <p:spPr>
            <a:xfrm>
              <a:off x="1237536" y="651510"/>
              <a:ext cx="147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325" lIns="68675" spcFirstLastPara="1" rIns="68675" wrap="square" tIns="3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b="1" i="0" lang="ko" sz="12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Man / Method</a:t>
              </a:r>
              <a:br>
                <a:rPr b="1" i="0" lang="ko" sz="12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" sz="800" u="none" cap="none" strike="noStrike">
                  <a:solidFill>
                    <a:srgbClr val="D6DCE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(작업·공정)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4778263" y="651510"/>
              <a:ext cx="1753200" cy="534900"/>
            </a:xfrm>
            <a:prstGeom prst="roundRect">
              <a:avLst>
                <a:gd fmla="val 11538" name="adj"/>
              </a:avLst>
            </a:prstGeom>
            <a:solidFill>
              <a:srgbClr val="1B3A5E"/>
            </a:solidFill>
            <a:ln>
              <a:noFill/>
            </a:ln>
          </p:spPr>
          <p:txBody>
            <a:bodyPr anchorCtr="0" anchor="ctr" bIns="68675" lIns="68675" spcFirstLastPara="1" rIns="68675" wrap="square" tIns="68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482" name="Google Shape;482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02017" y="781812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2"/>
            <p:cNvSpPr/>
            <p:nvPr/>
          </p:nvSpPr>
          <p:spPr>
            <a:xfrm>
              <a:off x="5156399" y="651510"/>
              <a:ext cx="1340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325" lIns="68675" spcFirstLastPara="1" rIns="68675" wrap="square" tIns="34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b="1" i="0" lang="ko" sz="12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Machine</a:t>
              </a:r>
              <a:br>
                <a:rPr b="1" i="0" lang="ko" sz="12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" sz="800" u="none" cap="none" strike="noStrike">
                  <a:solidFill>
                    <a:srgbClr val="D6DCE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(장비)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4" name="Google Shape;484;p42"/>
            <p:cNvCxnSpPr/>
            <p:nvPr/>
          </p:nvCxnSpPr>
          <p:spPr>
            <a:xfrm>
              <a:off x="1821928" y="1186434"/>
              <a:ext cx="893700" cy="1591200"/>
            </a:xfrm>
            <a:prstGeom prst="straightConnector1">
              <a:avLst/>
            </a:prstGeom>
            <a:noFill/>
            <a:ln cap="flat" cmpd="sng" w="34925">
              <a:solidFill>
                <a:srgbClr val="1B3A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42"/>
            <p:cNvCxnSpPr/>
            <p:nvPr/>
          </p:nvCxnSpPr>
          <p:spPr>
            <a:xfrm>
              <a:off x="5672039" y="1186434"/>
              <a:ext cx="893700" cy="1591200"/>
            </a:xfrm>
            <a:prstGeom prst="straightConnector1">
              <a:avLst/>
            </a:prstGeom>
            <a:noFill/>
            <a:ln cap="flat" cmpd="sng" w="34925">
              <a:solidFill>
                <a:srgbClr val="1B3A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6" name="Google Shape;486;p42"/>
            <p:cNvSpPr/>
            <p:nvPr/>
          </p:nvSpPr>
          <p:spPr>
            <a:xfrm>
              <a:off x="-142172" y="1305008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연삭 조건 과다</a:t>
              </a:r>
              <a:b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(Feed Rate, 연삭량, 압력 과다)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7" name="Google Shape;487;p42"/>
            <p:cNvCxnSpPr/>
            <p:nvPr/>
          </p:nvCxnSpPr>
          <p:spPr>
            <a:xfrm>
              <a:off x="1611004" y="1493558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88" name="Google Shape;488;p42"/>
            <p:cNvSpPr/>
            <p:nvPr/>
          </p:nvSpPr>
          <p:spPr>
            <a:xfrm>
              <a:off x="151838" y="1811002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Recipe </a:t>
              </a:r>
              <a:r>
                <a:rPr b="1" lang="ko" sz="1000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 </a:t>
              </a: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미흡</a:t>
              </a:r>
              <a:b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(Grinding, 냉각, 세정, 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압력</a:t>
              </a: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9" name="Google Shape;489;p42"/>
            <p:cNvCxnSpPr/>
            <p:nvPr/>
          </p:nvCxnSpPr>
          <p:spPr>
            <a:xfrm>
              <a:off x="1905014" y="1999552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0" name="Google Shape;490;p42"/>
            <p:cNvSpPr/>
            <p:nvPr/>
          </p:nvSpPr>
          <p:spPr>
            <a:xfrm>
              <a:off x="423103" y="2316997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작업 관리 미흡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1" name="Google Shape;491;p42"/>
            <p:cNvCxnSpPr/>
            <p:nvPr/>
          </p:nvCxnSpPr>
          <p:spPr>
            <a:xfrm>
              <a:off x="2176279" y="2505547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2" name="Google Shape;492;p42"/>
            <p:cNvSpPr/>
            <p:nvPr/>
          </p:nvSpPr>
          <p:spPr>
            <a:xfrm>
              <a:off x="3719732" y="1305008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Grinding Wheel 이상</a:t>
              </a:r>
              <a:b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(Wheel 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메쉬 크기,</a:t>
              </a: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마모, 오염)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3" name="Google Shape;493;p42"/>
            <p:cNvCxnSpPr/>
            <p:nvPr/>
          </p:nvCxnSpPr>
          <p:spPr>
            <a:xfrm>
              <a:off x="5472908" y="1493558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4" name="Google Shape;494;p42"/>
            <p:cNvSpPr/>
            <p:nvPr/>
          </p:nvSpPr>
          <p:spPr>
            <a:xfrm>
              <a:off x="4002344" y="1811002"/>
              <a:ext cx="17187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Wafer Chuck 이상</a:t>
              </a:r>
              <a:b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회전 속도 이상, </a:t>
              </a: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평탄도 불량)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5" name="Google Shape;495;p42"/>
            <p:cNvCxnSpPr/>
            <p:nvPr/>
          </p:nvCxnSpPr>
          <p:spPr>
            <a:xfrm>
              <a:off x="5755519" y="1999552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6" name="Google Shape;496;p42"/>
            <p:cNvSpPr/>
            <p:nvPr/>
          </p:nvSpPr>
          <p:spPr>
            <a:xfrm>
              <a:off x="4104149" y="2316997"/>
              <a:ext cx="18906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5E"/>
                </a:buClr>
                <a:buSzPts val="1000"/>
                <a:buFont typeface="Malgun Gothic"/>
                <a:buNone/>
              </a:pPr>
              <a: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센서 정밀도 · Calibration 이상</a:t>
              </a:r>
              <a:br>
                <a:rPr b="1" i="0" lang="ko" sz="1000" u="none" cap="none" strike="noStrike">
                  <a:solidFill>
                    <a:srgbClr val="1B3A5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(인라인 게이지, 냉</a:t>
              </a:r>
              <a:r>
                <a:rPr lang="ko" sz="800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각</a:t>
              </a:r>
              <a:r>
                <a:rPr b="0" i="0" lang="ko" sz="800" u="none" cap="none" strike="noStrike">
                  <a:solidFill>
                    <a:srgbClr val="5A647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계)</a:t>
              </a:r>
              <a:endParaRPr b="1" i="0" sz="1000" u="none" cap="none" strike="noStrik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97" name="Google Shape;497;p42"/>
            <p:cNvCxnSpPr/>
            <p:nvPr/>
          </p:nvCxnSpPr>
          <p:spPr>
            <a:xfrm>
              <a:off x="6029333" y="2505547"/>
              <a:ext cx="343800" cy="0"/>
            </a:xfrm>
            <a:prstGeom prst="straightConnector1">
              <a:avLst/>
            </a:prstGeom>
            <a:noFill/>
            <a:ln cap="flat" cmpd="sng" w="25400">
              <a:solidFill>
                <a:srgbClr val="1B3A5E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98" name="Google Shape;498;p42"/>
          <p:cNvSpPr/>
          <p:nvPr/>
        </p:nvSpPr>
        <p:spPr>
          <a:xfrm>
            <a:off x="3653347" y="3963374"/>
            <a:ext cx="1718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ko" sz="10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중 열 변형</a:t>
            </a:r>
            <a:endParaRPr b="1" sz="10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9" name="Google Shape;499;p42"/>
          <p:cNvCxnSpPr/>
          <p:nvPr/>
        </p:nvCxnSpPr>
        <p:spPr>
          <a:xfrm>
            <a:off x="5406523" y="4151924"/>
            <a:ext cx="343800" cy="0"/>
          </a:xfrm>
          <a:prstGeom prst="straightConnector1">
            <a:avLst/>
          </a:prstGeom>
          <a:noFill/>
          <a:ln cap="flat" cmpd="sng" w="25400">
            <a:solidFill>
              <a:srgbClr val="1B3A5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0" name="Google Shape;500;p42"/>
          <p:cNvSpPr/>
          <p:nvPr/>
        </p:nvSpPr>
        <p:spPr>
          <a:xfrm>
            <a:off x="4198763" y="1848475"/>
            <a:ext cx="2097000" cy="480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2"/>
          <p:cNvSpPr/>
          <p:nvPr/>
        </p:nvSpPr>
        <p:spPr>
          <a:xfrm>
            <a:off x="62938" y="1361375"/>
            <a:ext cx="2097000" cy="480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2"/>
          <p:cNvSpPr/>
          <p:nvPr/>
        </p:nvSpPr>
        <p:spPr>
          <a:xfrm>
            <a:off x="272363" y="1869371"/>
            <a:ext cx="2097000" cy="480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4233145" y="2353518"/>
            <a:ext cx="2249400" cy="480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3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원인 분석 - Rough Grinding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43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43"/>
          <p:cNvSpPr/>
          <p:nvPr/>
        </p:nvSpPr>
        <p:spPr>
          <a:xfrm>
            <a:off x="616638" y="1571827"/>
            <a:ext cx="1785900" cy="2616600"/>
          </a:xfrm>
          <a:prstGeom prst="roundRect">
            <a:avLst>
              <a:gd fmla="val 3200" name="adj"/>
            </a:avLst>
          </a:prstGeom>
          <a:solidFill>
            <a:srgbClr val="F4F7FA"/>
          </a:solidFill>
          <a:ln cap="flat" cmpd="sng" w="9525">
            <a:solidFill>
              <a:srgbClr val="B313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1" name="Google Shape;511;p43"/>
          <p:cNvSpPr/>
          <p:nvPr/>
        </p:nvSpPr>
        <p:spPr>
          <a:xfrm>
            <a:off x="773800" y="1802082"/>
            <a:ext cx="342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B3132E"/>
                </a:solidFill>
              </a:rPr>
              <a:t>01</a:t>
            </a:r>
            <a:endParaRPr sz="1300"/>
          </a:p>
        </p:txBody>
      </p:sp>
      <p:sp>
        <p:nvSpPr>
          <p:cNvPr id="512" name="Google Shape;512;p43"/>
          <p:cNvSpPr/>
          <p:nvPr/>
        </p:nvSpPr>
        <p:spPr>
          <a:xfrm>
            <a:off x="788087" y="2255587"/>
            <a:ext cx="1443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173657"/>
                </a:solidFill>
              </a:rPr>
              <a:t>Rough Grinding 조건</a:t>
            </a:r>
            <a:endParaRPr sz="1500"/>
          </a:p>
        </p:txBody>
      </p:sp>
      <p:sp>
        <p:nvSpPr>
          <p:cNvPr id="513" name="Google Shape;513;p43"/>
          <p:cNvSpPr/>
          <p:nvPr/>
        </p:nvSpPr>
        <p:spPr>
          <a:xfrm>
            <a:off x="616663" y="2841687"/>
            <a:ext cx="17859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173657"/>
                </a:solidFill>
              </a:rPr>
              <a:t>Feed Rate·RPM·가공압력</a:t>
            </a:r>
            <a:endParaRPr b="0" sz="1100">
              <a:solidFill>
                <a:srgbClr val="173657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173657"/>
                </a:solidFill>
              </a:rPr>
              <a:t>과다/불균일</a:t>
            </a:r>
            <a:endParaRPr/>
          </a:p>
        </p:txBody>
      </p:sp>
      <p:sp>
        <p:nvSpPr>
          <p:cNvPr id="514" name="Google Shape;514;p43"/>
          <p:cNvSpPr/>
          <p:nvPr/>
        </p:nvSpPr>
        <p:spPr>
          <a:xfrm>
            <a:off x="888099" y="3741852"/>
            <a:ext cx="1242900" cy="3351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B313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5" name="Google Shape;515;p43"/>
          <p:cNvSpPr/>
          <p:nvPr/>
        </p:nvSpPr>
        <p:spPr>
          <a:xfrm>
            <a:off x="945250" y="3741849"/>
            <a:ext cx="1128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B3132E"/>
                </a:solidFill>
              </a:rPr>
              <a:t>영향: Crack, TTV</a:t>
            </a:r>
            <a:endParaRPr sz="1300"/>
          </a:p>
        </p:txBody>
      </p:sp>
      <p:sp>
        <p:nvSpPr>
          <p:cNvPr id="516" name="Google Shape;516;p43"/>
          <p:cNvSpPr/>
          <p:nvPr/>
        </p:nvSpPr>
        <p:spPr>
          <a:xfrm>
            <a:off x="2659746" y="1571827"/>
            <a:ext cx="1785900" cy="2616600"/>
          </a:xfrm>
          <a:prstGeom prst="roundRect">
            <a:avLst>
              <a:gd fmla="val 3200" name="adj"/>
            </a:avLst>
          </a:prstGeom>
          <a:solidFill>
            <a:srgbClr val="F4F7FA"/>
          </a:solidFill>
          <a:ln cap="flat" cmpd="sng" w="9525">
            <a:solidFill>
              <a:srgbClr val="16B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7" name="Google Shape;517;p43"/>
          <p:cNvSpPr/>
          <p:nvPr/>
        </p:nvSpPr>
        <p:spPr>
          <a:xfrm>
            <a:off x="2816908" y="1802082"/>
            <a:ext cx="342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6BFA0"/>
                </a:solidFill>
              </a:rPr>
              <a:t>02</a:t>
            </a:r>
            <a:endParaRPr sz="1300"/>
          </a:p>
        </p:txBody>
      </p:sp>
      <p:sp>
        <p:nvSpPr>
          <p:cNvPr id="518" name="Google Shape;518;p43"/>
          <p:cNvSpPr/>
          <p:nvPr/>
        </p:nvSpPr>
        <p:spPr>
          <a:xfrm>
            <a:off x="2831195" y="2255587"/>
            <a:ext cx="1443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173657"/>
                </a:solidFill>
              </a:rPr>
              <a:t>Wafer Chuck 상태</a:t>
            </a:r>
            <a:endParaRPr sz="1500"/>
          </a:p>
        </p:txBody>
      </p:sp>
      <p:sp>
        <p:nvSpPr>
          <p:cNvPr id="519" name="Google Shape;519;p43"/>
          <p:cNvSpPr/>
          <p:nvPr/>
        </p:nvSpPr>
        <p:spPr>
          <a:xfrm>
            <a:off x="2845483" y="2841689"/>
            <a:ext cx="14145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173657"/>
                </a:solidFill>
              </a:rPr>
              <a:t>이물, 평탄도, Vacuum 이상</a:t>
            </a:r>
            <a:endParaRPr/>
          </a:p>
        </p:txBody>
      </p:sp>
      <p:sp>
        <p:nvSpPr>
          <p:cNvPr id="520" name="Google Shape;520;p43"/>
          <p:cNvSpPr/>
          <p:nvPr/>
        </p:nvSpPr>
        <p:spPr>
          <a:xfrm>
            <a:off x="2931208" y="3741852"/>
            <a:ext cx="1242900" cy="3351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16B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1" name="Google Shape;521;p43"/>
          <p:cNvSpPr/>
          <p:nvPr/>
        </p:nvSpPr>
        <p:spPr>
          <a:xfrm>
            <a:off x="2988358" y="3741849"/>
            <a:ext cx="1128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6BFA0"/>
                </a:solidFill>
              </a:rPr>
              <a:t>영향: TTV, Scratch</a:t>
            </a:r>
            <a:endParaRPr sz="1300"/>
          </a:p>
        </p:txBody>
      </p:sp>
      <p:sp>
        <p:nvSpPr>
          <p:cNvPr id="522" name="Google Shape;522;p43"/>
          <p:cNvSpPr/>
          <p:nvPr/>
        </p:nvSpPr>
        <p:spPr>
          <a:xfrm>
            <a:off x="4702854" y="1571827"/>
            <a:ext cx="1785900" cy="2616600"/>
          </a:xfrm>
          <a:prstGeom prst="roundRect">
            <a:avLst>
              <a:gd fmla="val 3200" name="adj"/>
            </a:avLst>
          </a:prstGeom>
          <a:solidFill>
            <a:srgbClr val="F4F7FA"/>
          </a:solidFill>
          <a:ln cap="flat" cmpd="sng" w="9525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3" name="Google Shape;523;p43"/>
          <p:cNvSpPr/>
          <p:nvPr/>
        </p:nvSpPr>
        <p:spPr>
          <a:xfrm>
            <a:off x="4860016" y="1802082"/>
            <a:ext cx="342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2A51A"/>
                </a:solidFill>
              </a:rPr>
              <a:t>03</a:t>
            </a:r>
            <a:endParaRPr sz="1300"/>
          </a:p>
        </p:txBody>
      </p:sp>
      <p:sp>
        <p:nvSpPr>
          <p:cNvPr id="524" name="Google Shape;524;p43"/>
          <p:cNvSpPr/>
          <p:nvPr/>
        </p:nvSpPr>
        <p:spPr>
          <a:xfrm>
            <a:off x="4874304" y="2255587"/>
            <a:ext cx="1443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173657"/>
                </a:solidFill>
              </a:rPr>
              <a:t>Set-Actual 편차</a:t>
            </a:r>
            <a:endParaRPr sz="1500"/>
          </a:p>
        </p:txBody>
      </p:sp>
      <p:sp>
        <p:nvSpPr>
          <p:cNvPr id="525" name="Google Shape;525;p43"/>
          <p:cNvSpPr/>
          <p:nvPr/>
        </p:nvSpPr>
        <p:spPr>
          <a:xfrm>
            <a:off x="4888591" y="2841689"/>
            <a:ext cx="14145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173657"/>
                </a:solidFill>
              </a:rPr>
              <a:t>Recipe Set과</a:t>
            </a:r>
            <a:endParaRPr sz="1100">
              <a:solidFill>
                <a:srgbClr val="173657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173657"/>
                </a:solidFill>
              </a:rPr>
              <a:t>장비 Actual 불일치</a:t>
            </a:r>
            <a:endParaRPr/>
          </a:p>
        </p:txBody>
      </p:sp>
      <p:sp>
        <p:nvSpPr>
          <p:cNvPr id="526" name="Google Shape;526;p43"/>
          <p:cNvSpPr/>
          <p:nvPr/>
        </p:nvSpPr>
        <p:spPr>
          <a:xfrm>
            <a:off x="4974316" y="3741852"/>
            <a:ext cx="1242900" cy="3351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7" name="Google Shape;527;p43"/>
          <p:cNvSpPr/>
          <p:nvPr/>
        </p:nvSpPr>
        <p:spPr>
          <a:xfrm>
            <a:off x="5031467" y="3741849"/>
            <a:ext cx="1128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F2A51A"/>
                </a:solidFill>
              </a:rPr>
              <a:t>영향: Crack, TTV</a:t>
            </a:r>
            <a:endParaRPr sz="1300"/>
          </a:p>
        </p:txBody>
      </p:sp>
      <p:sp>
        <p:nvSpPr>
          <p:cNvPr id="528" name="Google Shape;528;p43"/>
          <p:cNvSpPr/>
          <p:nvPr/>
        </p:nvSpPr>
        <p:spPr>
          <a:xfrm>
            <a:off x="6745963" y="1571827"/>
            <a:ext cx="1785900" cy="2616600"/>
          </a:xfrm>
          <a:prstGeom prst="roundRect">
            <a:avLst>
              <a:gd fmla="val 3200" name="adj"/>
            </a:avLst>
          </a:prstGeom>
          <a:solidFill>
            <a:srgbClr val="F4F7FA"/>
          </a:solidFill>
          <a:ln cap="flat" cmpd="sng" w="9525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9" name="Google Shape;529;p43"/>
          <p:cNvSpPr/>
          <p:nvPr/>
        </p:nvSpPr>
        <p:spPr>
          <a:xfrm>
            <a:off x="6903125" y="1802082"/>
            <a:ext cx="3429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2C79B7"/>
                </a:solidFill>
              </a:rPr>
              <a:t>04</a:t>
            </a:r>
            <a:endParaRPr sz="1300"/>
          </a:p>
        </p:txBody>
      </p:sp>
      <p:sp>
        <p:nvSpPr>
          <p:cNvPr id="530" name="Google Shape;530;p43"/>
          <p:cNvSpPr/>
          <p:nvPr/>
        </p:nvSpPr>
        <p:spPr>
          <a:xfrm>
            <a:off x="6917412" y="2255587"/>
            <a:ext cx="1443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173657"/>
                </a:solidFill>
              </a:rPr>
              <a:t>Sensor Calibration</a:t>
            </a:r>
            <a:endParaRPr sz="1500"/>
          </a:p>
        </p:txBody>
      </p:sp>
      <p:sp>
        <p:nvSpPr>
          <p:cNvPr id="531" name="Google Shape;531;p43"/>
          <p:cNvSpPr/>
          <p:nvPr/>
        </p:nvSpPr>
        <p:spPr>
          <a:xfrm>
            <a:off x="6931700" y="2841689"/>
            <a:ext cx="14145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173657"/>
                </a:solidFill>
              </a:rPr>
              <a:t>측정 Drift 또는</a:t>
            </a:r>
            <a:endParaRPr sz="1100">
              <a:solidFill>
                <a:srgbClr val="173657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173657"/>
                </a:solidFill>
              </a:rPr>
              <a:t>계측 신뢰성 저하</a:t>
            </a:r>
            <a:endParaRPr/>
          </a:p>
        </p:txBody>
      </p:sp>
      <p:sp>
        <p:nvSpPr>
          <p:cNvPr id="532" name="Google Shape;532;p43"/>
          <p:cNvSpPr/>
          <p:nvPr/>
        </p:nvSpPr>
        <p:spPr>
          <a:xfrm>
            <a:off x="7017424" y="3741852"/>
            <a:ext cx="1242900" cy="3351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3" name="Google Shape;533;p43"/>
          <p:cNvSpPr/>
          <p:nvPr/>
        </p:nvSpPr>
        <p:spPr>
          <a:xfrm>
            <a:off x="7074575" y="3741849"/>
            <a:ext cx="1128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C79B7"/>
                </a:solidFill>
              </a:rPr>
              <a:t>영향: TTV 오판</a:t>
            </a:r>
            <a:endParaRPr sz="1300"/>
          </a:p>
        </p:txBody>
      </p:sp>
      <p:sp>
        <p:nvSpPr>
          <p:cNvPr id="534" name="Google Shape;534;p43"/>
          <p:cNvSpPr/>
          <p:nvPr/>
        </p:nvSpPr>
        <p:spPr>
          <a:xfrm>
            <a:off x="6745975" y="3330288"/>
            <a:ext cx="1785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73657"/>
                </a:solidFill>
              </a:rPr>
              <a:t>(</a:t>
            </a:r>
            <a:r>
              <a:rPr lang="ko" sz="9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냉각계 온도 센서, 압력 센서,</a:t>
            </a:r>
            <a:endParaRPr sz="900">
              <a:solidFill>
                <a:srgbClr val="1A1D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In-line 두께 계측기)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"/>
          <p:cNvSpPr/>
          <p:nvPr/>
        </p:nvSpPr>
        <p:spPr>
          <a:xfrm>
            <a:off x="614363" y="1557338"/>
            <a:ext cx="2428875" cy="2271713"/>
          </a:xfrm>
          <a:prstGeom prst="roundRect">
            <a:avLst>
              <a:gd fmla="val 2516" name="adj"/>
            </a:avLst>
          </a:prstGeom>
          <a:solidFill>
            <a:srgbClr val="EAF3FA"/>
          </a:solidFill>
          <a:ln cap="flat" cmpd="sng" w="9525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4"/>
          <p:cNvSpPr/>
          <p:nvPr/>
        </p:nvSpPr>
        <p:spPr>
          <a:xfrm>
            <a:off x="785813" y="1608652"/>
            <a:ext cx="614400" cy="214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4"/>
          <p:cNvSpPr/>
          <p:nvPr/>
        </p:nvSpPr>
        <p:spPr>
          <a:xfrm>
            <a:off x="842975" y="1601200"/>
            <a:ext cx="50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2C79B7"/>
                </a:solidFill>
              </a:rPr>
              <a:t>단기</a:t>
            </a:r>
            <a:endParaRPr sz="1100"/>
          </a:p>
        </p:txBody>
      </p:sp>
      <p:sp>
        <p:nvSpPr>
          <p:cNvPr id="543" name="Google Shape;543;p44"/>
          <p:cNvSpPr/>
          <p:nvPr/>
        </p:nvSpPr>
        <p:spPr>
          <a:xfrm>
            <a:off x="842963" y="1834292"/>
            <a:ext cx="19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173657"/>
                </a:solidFill>
              </a:rPr>
              <a:t>즉시 점검</a:t>
            </a:r>
            <a:endParaRPr sz="1100"/>
          </a:p>
        </p:txBody>
      </p:sp>
      <p:sp>
        <p:nvSpPr>
          <p:cNvPr id="544" name="Google Shape;544;p44"/>
          <p:cNvSpPr/>
          <p:nvPr/>
        </p:nvSpPr>
        <p:spPr>
          <a:xfrm>
            <a:off x="857250" y="2137032"/>
            <a:ext cx="1943100" cy="3000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4"/>
          <p:cNvSpPr/>
          <p:nvPr/>
        </p:nvSpPr>
        <p:spPr>
          <a:xfrm>
            <a:off x="942825" y="2147575"/>
            <a:ext cx="177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Recipe set - Actual 교차 검증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46" name="Google Shape;546;p44"/>
          <p:cNvSpPr/>
          <p:nvPr/>
        </p:nvSpPr>
        <p:spPr>
          <a:xfrm>
            <a:off x="857250" y="2914650"/>
            <a:ext cx="1943100" cy="300038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4"/>
          <p:cNvSpPr/>
          <p:nvPr/>
        </p:nvSpPr>
        <p:spPr>
          <a:xfrm>
            <a:off x="942975" y="300751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800">
                <a:solidFill>
                  <a:srgbClr val="173657"/>
                </a:solidFill>
              </a:rPr>
              <a:t>Chuck 세정·평탄도/Vacuum 점검</a:t>
            </a:r>
            <a:endParaRPr sz="1100"/>
          </a:p>
        </p:txBody>
      </p:sp>
      <p:sp>
        <p:nvSpPr>
          <p:cNvPr id="548" name="Google Shape;548;p44"/>
          <p:cNvSpPr/>
          <p:nvPr/>
        </p:nvSpPr>
        <p:spPr>
          <a:xfrm>
            <a:off x="857250" y="3314700"/>
            <a:ext cx="1943100" cy="4611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4"/>
          <p:cNvSpPr/>
          <p:nvPr/>
        </p:nvSpPr>
        <p:spPr>
          <a:xfrm>
            <a:off x="942975" y="3301702"/>
            <a:ext cx="17718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주요 Parameter 점검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Feed Rate/RPM/가공압력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50" name="Google Shape;550;p44"/>
          <p:cNvSpPr/>
          <p:nvPr/>
        </p:nvSpPr>
        <p:spPr>
          <a:xfrm>
            <a:off x="3093244" y="2586038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A5B2C1"/>
                </a:solidFill>
              </a:rPr>
              <a:t>→</a:t>
            </a:r>
            <a:endParaRPr sz="1100"/>
          </a:p>
        </p:txBody>
      </p:sp>
      <p:sp>
        <p:nvSpPr>
          <p:cNvPr id="551" name="Google Shape;551;p44"/>
          <p:cNvSpPr/>
          <p:nvPr/>
        </p:nvSpPr>
        <p:spPr>
          <a:xfrm>
            <a:off x="3343275" y="1557338"/>
            <a:ext cx="2428875" cy="2271713"/>
          </a:xfrm>
          <a:prstGeom prst="roundRect">
            <a:avLst>
              <a:gd fmla="val 2516" name="adj"/>
            </a:avLst>
          </a:prstGeom>
          <a:solidFill>
            <a:srgbClr val="FFF5DF"/>
          </a:solidFill>
          <a:ln cap="flat" cmpd="sng" w="9525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4"/>
          <p:cNvSpPr/>
          <p:nvPr/>
        </p:nvSpPr>
        <p:spPr>
          <a:xfrm>
            <a:off x="3514725" y="1608652"/>
            <a:ext cx="614400" cy="214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4"/>
          <p:cNvSpPr/>
          <p:nvPr/>
        </p:nvSpPr>
        <p:spPr>
          <a:xfrm>
            <a:off x="3571875" y="1601352"/>
            <a:ext cx="50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F2A51A"/>
                </a:solidFill>
              </a:rPr>
              <a:t>중기</a:t>
            </a:r>
            <a:endParaRPr sz="1100"/>
          </a:p>
        </p:txBody>
      </p:sp>
      <p:sp>
        <p:nvSpPr>
          <p:cNvPr id="554" name="Google Shape;554;p44"/>
          <p:cNvSpPr/>
          <p:nvPr/>
        </p:nvSpPr>
        <p:spPr>
          <a:xfrm>
            <a:off x="3571875" y="1834292"/>
            <a:ext cx="19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173657"/>
                </a:solidFill>
              </a:rPr>
              <a:t>기준화·검증</a:t>
            </a:r>
            <a:endParaRPr sz="1100"/>
          </a:p>
        </p:txBody>
      </p:sp>
      <p:sp>
        <p:nvSpPr>
          <p:cNvPr id="555" name="Google Shape;555;p44"/>
          <p:cNvSpPr/>
          <p:nvPr/>
        </p:nvSpPr>
        <p:spPr>
          <a:xfrm>
            <a:off x="3586163" y="2137032"/>
            <a:ext cx="1943100" cy="3000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4"/>
          <p:cNvSpPr/>
          <p:nvPr/>
        </p:nvSpPr>
        <p:spPr>
          <a:xfrm>
            <a:off x="3671888" y="2229901"/>
            <a:ext cx="1771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800">
                <a:solidFill>
                  <a:schemeClr val="dk1"/>
                </a:solidFill>
              </a:rPr>
              <a:t>허용 편차 기준 설정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3586163" y="2914650"/>
            <a:ext cx="1943100" cy="300038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4"/>
          <p:cNvSpPr/>
          <p:nvPr/>
        </p:nvSpPr>
        <p:spPr>
          <a:xfrm>
            <a:off x="3671825" y="2980475"/>
            <a:ext cx="17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800">
                <a:solidFill>
                  <a:srgbClr val="173657"/>
                </a:solidFill>
              </a:rPr>
              <a:t>Rough 조건별 Crack·TTV 영향 검증</a:t>
            </a:r>
            <a:endParaRPr sz="1100"/>
          </a:p>
        </p:txBody>
      </p:sp>
      <p:sp>
        <p:nvSpPr>
          <p:cNvPr id="559" name="Google Shape;559;p44"/>
          <p:cNvSpPr/>
          <p:nvPr/>
        </p:nvSpPr>
        <p:spPr>
          <a:xfrm>
            <a:off x="3586175" y="3314700"/>
            <a:ext cx="1943100" cy="4611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4"/>
          <p:cNvSpPr/>
          <p:nvPr/>
        </p:nvSpPr>
        <p:spPr>
          <a:xfrm>
            <a:off x="3671888" y="3407569"/>
            <a:ext cx="177165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800">
                <a:solidFill>
                  <a:schemeClr val="dk1"/>
                </a:solidFill>
              </a:rPr>
              <a:t>Rough Grinding 조건별 TTV-Crack 영향 검증 및 최적화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61" name="Google Shape;561;p44"/>
          <p:cNvSpPr/>
          <p:nvPr/>
        </p:nvSpPr>
        <p:spPr>
          <a:xfrm>
            <a:off x="5822156" y="2586038"/>
            <a:ext cx="20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A5B2C1"/>
                </a:solidFill>
              </a:rPr>
              <a:t>→</a:t>
            </a:r>
            <a:endParaRPr sz="1100"/>
          </a:p>
        </p:txBody>
      </p:sp>
      <p:sp>
        <p:nvSpPr>
          <p:cNvPr id="562" name="Google Shape;562;p44"/>
          <p:cNvSpPr/>
          <p:nvPr/>
        </p:nvSpPr>
        <p:spPr>
          <a:xfrm>
            <a:off x="6072188" y="1557338"/>
            <a:ext cx="2428875" cy="2271713"/>
          </a:xfrm>
          <a:prstGeom prst="roundRect">
            <a:avLst>
              <a:gd fmla="val 2516" name="adj"/>
            </a:avLst>
          </a:prstGeom>
          <a:solidFill>
            <a:srgbClr val="E7F7F2"/>
          </a:solidFill>
          <a:ln cap="flat" cmpd="sng" w="9525">
            <a:solidFill>
              <a:srgbClr val="16B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4"/>
          <p:cNvSpPr/>
          <p:nvPr/>
        </p:nvSpPr>
        <p:spPr>
          <a:xfrm>
            <a:off x="6243638" y="1608652"/>
            <a:ext cx="614400" cy="214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16B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4"/>
          <p:cNvSpPr/>
          <p:nvPr/>
        </p:nvSpPr>
        <p:spPr>
          <a:xfrm>
            <a:off x="6300800" y="1630375"/>
            <a:ext cx="5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16BFA0"/>
                </a:solidFill>
              </a:rPr>
              <a:t>장기</a:t>
            </a:r>
            <a:endParaRPr sz="1100"/>
          </a:p>
        </p:txBody>
      </p:sp>
      <p:sp>
        <p:nvSpPr>
          <p:cNvPr id="565" name="Google Shape;565;p44"/>
          <p:cNvSpPr/>
          <p:nvPr/>
        </p:nvSpPr>
        <p:spPr>
          <a:xfrm>
            <a:off x="6300788" y="1834292"/>
            <a:ext cx="19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173657"/>
                </a:solidFill>
              </a:rPr>
              <a:t>예방관리</a:t>
            </a:r>
            <a:endParaRPr sz="1100"/>
          </a:p>
        </p:txBody>
      </p:sp>
      <p:sp>
        <p:nvSpPr>
          <p:cNvPr id="566" name="Google Shape;566;p44"/>
          <p:cNvSpPr/>
          <p:nvPr/>
        </p:nvSpPr>
        <p:spPr>
          <a:xfrm>
            <a:off x="6315075" y="2137032"/>
            <a:ext cx="1943100" cy="3000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4"/>
          <p:cNvSpPr/>
          <p:nvPr/>
        </p:nvSpPr>
        <p:spPr>
          <a:xfrm>
            <a:off x="6400800" y="2140225"/>
            <a:ext cx="177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자동 모니터링 체계 구축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68" name="Google Shape;568;p44"/>
          <p:cNvSpPr/>
          <p:nvPr/>
        </p:nvSpPr>
        <p:spPr>
          <a:xfrm>
            <a:off x="6315075" y="2914650"/>
            <a:ext cx="1943100" cy="300038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4"/>
          <p:cNvSpPr/>
          <p:nvPr/>
        </p:nvSpPr>
        <p:spPr>
          <a:xfrm>
            <a:off x="6400800" y="2952125"/>
            <a:ext cx="17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설비 Predictive Maintenance 구축</a:t>
            </a:r>
            <a:endParaRPr sz="800"/>
          </a:p>
        </p:txBody>
      </p:sp>
      <p:sp>
        <p:nvSpPr>
          <p:cNvPr id="570" name="Google Shape;570;p44"/>
          <p:cNvSpPr/>
          <p:nvPr/>
        </p:nvSpPr>
        <p:spPr>
          <a:xfrm>
            <a:off x="6315075" y="3314700"/>
            <a:ext cx="1943100" cy="4611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4"/>
          <p:cNvSpPr/>
          <p:nvPr/>
        </p:nvSpPr>
        <p:spPr>
          <a:xfrm>
            <a:off x="6400800" y="3394349"/>
            <a:ext cx="1771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800">
                <a:solidFill>
                  <a:schemeClr val="dk1"/>
                </a:solidFill>
              </a:rPr>
              <a:t>SPC 기반 이상 감지 체계 구축 - Parameter Trend/관리한계 관리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857250" y="4100513"/>
            <a:ext cx="7429500" cy="300038"/>
          </a:xfrm>
          <a:prstGeom prst="roundRect">
            <a:avLst>
              <a:gd fmla="val 14286" name="adj"/>
            </a:avLst>
          </a:prstGeom>
          <a:solidFill>
            <a:srgbClr val="FCECEF"/>
          </a:solidFill>
          <a:ln cap="flat" cmpd="sng" w="9525">
            <a:solidFill>
              <a:srgbClr val="F4C7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4"/>
          <p:cNvSpPr/>
          <p:nvPr/>
        </p:nvSpPr>
        <p:spPr>
          <a:xfrm>
            <a:off x="1045000" y="4100538"/>
            <a:ext cx="64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B3132E"/>
                </a:solidFill>
              </a:rPr>
              <a:t>선정 기준</a:t>
            </a:r>
            <a:endParaRPr sz="1100"/>
          </a:p>
        </p:txBody>
      </p:sp>
      <p:sp>
        <p:nvSpPr>
          <p:cNvPr id="574" name="Google Shape;574;p44"/>
          <p:cNvSpPr/>
          <p:nvPr/>
        </p:nvSpPr>
        <p:spPr>
          <a:xfrm>
            <a:off x="1800225" y="4097300"/>
            <a:ext cx="54291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800">
                <a:solidFill>
                  <a:srgbClr val="173657"/>
                </a:solidFill>
              </a:rPr>
              <a:t>초록색/강조 항목은 실행 가능성과 개선 효율을 고려해 우선 실행 대상으로 선정</a:t>
            </a:r>
            <a:endParaRPr sz="1100"/>
          </a:p>
        </p:txBody>
      </p:sp>
      <p:sp>
        <p:nvSpPr>
          <p:cNvPr id="575" name="Google Shape;575;p44"/>
          <p:cNvSpPr/>
          <p:nvPr/>
        </p:nvSpPr>
        <p:spPr>
          <a:xfrm>
            <a:off x="863772" y="2517861"/>
            <a:ext cx="1943100" cy="3000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4"/>
          <p:cNvSpPr/>
          <p:nvPr/>
        </p:nvSpPr>
        <p:spPr>
          <a:xfrm>
            <a:off x="949497" y="2610730"/>
            <a:ext cx="1771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800">
                <a:solidFill>
                  <a:srgbClr val="173657"/>
                </a:solidFill>
              </a:rPr>
              <a:t>Sensor Calibration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77" name="Google Shape;577;p44"/>
          <p:cNvSpPr/>
          <p:nvPr/>
        </p:nvSpPr>
        <p:spPr>
          <a:xfrm>
            <a:off x="3592684" y="2517861"/>
            <a:ext cx="1943100" cy="3000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4"/>
          <p:cNvSpPr/>
          <p:nvPr/>
        </p:nvSpPr>
        <p:spPr>
          <a:xfrm>
            <a:off x="3671825" y="2576700"/>
            <a:ext cx="17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800">
                <a:solidFill>
                  <a:srgbClr val="173657"/>
                </a:solidFill>
              </a:rPr>
              <a:t>Parameter별 허용편차 설정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79" name="Google Shape;579;p44"/>
          <p:cNvSpPr/>
          <p:nvPr/>
        </p:nvSpPr>
        <p:spPr>
          <a:xfrm>
            <a:off x="6321597" y="2517861"/>
            <a:ext cx="1943100" cy="3000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4"/>
          <p:cNvSpPr/>
          <p:nvPr/>
        </p:nvSpPr>
        <p:spPr>
          <a:xfrm>
            <a:off x="6400700" y="2577000"/>
            <a:ext cx="17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173657"/>
                </a:solidFill>
              </a:rPr>
              <a:t>SPC 기반 이상감지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3592551" y="2122974"/>
            <a:ext cx="1930200" cy="300000"/>
          </a:xfrm>
          <a:prstGeom prst="rect">
            <a:avLst/>
          </a:prstGeom>
          <a:solidFill>
            <a:srgbClr val="E4F5F1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허용 편차 기준 설정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3573898" y="3327027"/>
            <a:ext cx="1943100" cy="448800"/>
          </a:xfrm>
          <a:prstGeom prst="rect">
            <a:avLst/>
          </a:prstGeom>
          <a:solidFill>
            <a:srgbClr val="E4F5F1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Rough Grinding 조건별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TTV-Crack 영향 검증 및 최적화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83" name="Google Shape;583;p44"/>
          <p:cNvSpPr/>
          <p:nvPr/>
        </p:nvSpPr>
        <p:spPr>
          <a:xfrm>
            <a:off x="863777" y="2919518"/>
            <a:ext cx="1930200" cy="300000"/>
          </a:xfrm>
          <a:prstGeom prst="rect">
            <a:avLst/>
          </a:prstGeom>
          <a:solidFill>
            <a:srgbClr val="E4F5F1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800">
                <a:solidFill>
                  <a:srgbClr val="173657"/>
                </a:solidFill>
              </a:rPr>
              <a:t>Chuck 세정·평탄도/Vacuum 점검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84" name="Google Shape;584;p44"/>
          <p:cNvSpPr/>
          <p:nvPr/>
        </p:nvSpPr>
        <p:spPr>
          <a:xfrm>
            <a:off x="863775" y="2525825"/>
            <a:ext cx="1930200" cy="300000"/>
          </a:xfrm>
          <a:prstGeom prst="rect">
            <a:avLst/>
          </a:prstGeom>
          <a:solidFill>
            <a:srgbClr val="E4F5F1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800">
                <a:solidFill>
                  <a:srgbClr val="173657"/>
                </a:solidFill>
              </a:rPr>
              <a:t>Sensor Calibration</a:t>
            </a:r>
            <a:endParaRPr sz="800">
              <a:solidFill>
                <a:srgbClr val="173657"/>
              </a:solidFill>
            </a:endParaRPr>
          </a:p>
        </p:txBody>
      </p:sp>
      <p:sp>
        <p:nvSpPr>
          <p:cNvPr id="585" name="Google Shape;585;p4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도출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" name="Google Shape;586;p4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5"/>
          <p:cNvSpPr/>
          <p:nvPr/>
        </p:nvSpPr>
        <p:spPr>
          <a:xfrm>
            <a:off x="414337" y="257175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C79B7"/>
                </a:solidFill>
              </a:rPr>
              <a:t>BG 개선안</a:t>
            </a:r>
            <a:endParaRPr sz="1100"/>
          </a:p>
        </p:txBody>
      </p:sp>
      <p:sp>
        <p:nvSpPr>
          <p:cNvPr id="593" name="Google Shape;593;p45"/>
          <p:cNvSpPr/>
          <p:nvPr/>
        </p:nvSpPr>
        <p:spPr>
          <a:xfrm>
            <a:off x="414338" y="542925"/>
            <a:ext cx="75009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rgbClr val="173657"/>
                </a:solidFill>
              </a:rPr>
              <a:t>개선안 </a:t>
            </a:r>
            <a:r>
              <a:rPr b="1" lang="ko" sz="1900">
                <a:solidFill>
                  <a:srgbClr val="173657"/>
                </a:solidFill>
              </a:rPr>
              <a:t>비교</a:t>
            </a:r>
            <a:endParaRPr sz="1100"/>
          </a:p>
        </p:txBody>
      </p:sp>
      <p:sp>
        <p:nvSpPr>
          <p:cNvPr id="594" name="Google Shape;594;p45"/>
          <p:cNvSpPr/>
          <p:nvPr/>
        </p:nvSpPr>
        <p:spPr>
          <a:xfrm>
            <a:off x="414338" y="914400"/>
            <a:ext cx="7858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800">
                <a:solidFill>
                  <a:srgbClr val="173657"/>
                </a:solidFill>
              </a:rPr>
              <a:t>개선안은 효과와 리스크를 함께 보고 실행 순서를 정한다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87481"/>
              </a:solidFill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500063" y="1471613"/>
            <a:ext cx="7858125" cy="2486025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5"/>
          <p:cNvSpPr/>
          <p:nvPr/>
        </p:nvSpPr>
        <p:spPr>
          <a:xfrm>
            <a:off x="500063" y="1471613"/>
            <a:ext cx="7858125" cy="314325"/>
          </a:xfrm>
          <a:prstGeom prst="rect">
            <a:avLst/>
          </a:prstGeom>
          <a:solidFill>
            <a:srgbClr val="1F456B"/>
          </a:solidFill>
          <a:ln cap="flat" cmpd="sng" w="9525">
            <a:solidFill>
              <a:srgbClr val="1F4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5"/>
          <p:cNvSpPr/>
          <p:nvPr/>
        </p:nvSpPr>
        <p:spPr>
          <a:xfrm>
            <a:off x="557213" y="1557338"/>
            <a:ext cx="145732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개선안</a:t>
            </a:r>
            <a:endParaRPr sz="1100"/>
          </a:p>
        </p:txBody>
      </p:sp>
      <p:sp>
        <p:nvSpPr>
          <p:cNvPr id="598" name="Google Shape;598;p45"/>
          <p:cNvSpPr/>
          <p:nvPr/>
        </p:nvSpPr>
        <p:spPr>
          <a:xfrm>
            <a:off x="2128838" y="1557338"/>
            <a:ext cx="1671638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기대 효과</a:t>
            </a:r>
            <a:endParaRPr sz="1100"/>
          </a:p>
        </p:txBody>
      </p:sp>
      <p:sp>
        <p:nvSpPr>
          <p:cNvPr id="599" name="Google Shape;599;p45"/>
          <p:cNvSpPr/>
          <p:nvPr/>
        </p:nvSpPr>
        <p:spPr>
          <a:xfrm>
            <a:off x="3914775" y="1557338"/>
            <a:ext cx="814388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효과</a:t>
            </a:r>
            <a:endParaRPr sz="1100"/>
          </a:p>
        </p:txBody>
      </p:sp>
      <p:sp>
        <p:nvSpPr>
          <p:cNvPr id="600" name="Google Shape;600;p45"/>
          <p:cNvSpPr/>
          <p:nvPr/>
        </p:nvSpPr>
        <p:spPr>
          <a:xfrm>
            <a:off x="4843463" y="1557338"/>
            <a:ext cx="814388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난이도</a:t>
            </a:r>
            <a:endParaRPr sz="1100"/>
          </a:p>
        </p:txBody>
      </p:sp>
      <p:sp>
        <p:nvSpPr>
          <p:cNvPr id="601" name="Google Shape;601;p45"/>
          <p:cNvSpPr/>
          <p:nvPr/>
        </p:nvSpPr>
        <p:spPr>
          <a:xfrm>
            <a:off x="5772150" y="1557338"/>
            <a:ext cx="2528888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리스크/주의점</a:t>
            </a:r>
            <a:endParaRPr sz="1100"/>
          </a:p>
        </p:txBody>
      </p:sp>
      <p:sp>
        <p:nvSpPr>
          <p:cNvPr id="602" name="Google Shape;602;p45"/>
          <p:cNvSpPr/>
          <p:nvPr/>
        </p:nvSpPr>
        <p:spPr>
          <a:xfrm>
            <a:off x="500063" y="1785938"/>
            <a:ext cx="7858125" cy="542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5"/>
          <p:cNvSpPr/>
          <p:nvPr/>
        </p:nvSpPr>
        <p:spPr>
          <a:xfrm>
            <a:off x="571500" y="1785975"/>
            <a:ext cx="14289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2A51A"/>
                </a:solidFill>
              </a:rPr>
              <a:t>Recipe Set-Actual</a:t>
            </a:r>
            <a:endParaRPr sz="1100"/>
          </a:p>
        </p:txBody>
      </p:sp>
      <p:sp>
        <p:nvSpPr>
          <p:cNvPr id="604" name="Google Shape;604;p45"/>
          <p:cNvSpPr/>
          <p:nvPr/>
        </p:nvSpPr>
        <p:spPr>
          <a:xfrm>
            <a:off x="2143128" y="1785975"/>
            <a:ext cx="16431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공정조건 안정화</a:t>
            </a:r>
            <a:endParaRPr sz="1100"/>
          </a:p>
        </p:txBody>
      </p:sp>
      <p:sp>
        <p:nvSpPr>
          <p:cNvPr id="605" name="Google Shape;605;p45"/>
          <p:cNvSpPr/>
          <p:nvPr/>
        </p:nvSpPr>
        <p:spPr>
          <a:xfrm>
            <a:off x="3929070" y="1785975"/>
            <a:ext cx="7857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낮음</a:t>
            </a:r>
            <a:endParaRPr sz="1100"/>
          </a:p>
        </p:txBody>
      </p:sp>
      <p:sp>
        <p:nvSpPr>
          <p:cNvPr id="606" name="Google Shape;606;p45"/>
          <p:cNvSpPr/>
          <p:nvPr/>
        </p:nvSpPr>
        <p:spPr>
          <a:xfrm>
            <a:off x="4857759" y="1785975"/>
            <a:ext cx="7857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낮음</a:t>
            </a:r>
            <a:endParaRPr sz="1100"/>
          </a:p>
        </p:txBody>
      </p:sp>
      <p:sp>
        <p:nvSpPr>
          <p:cNvPr id="607" name="Google Shape;607;p45"/>
          <p:cNvSpPr/>
          <p:nvPr/>
        </p:nvSpPr>
        <p:spPr>
          <a:xfrm>
            <a:off x="5786449" y="1785975"/>
            <a:ext cx="25002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공정 유연성 저하 가능</a:t>
            </a:r>
            <a:endParaRPr sz="1100"/>
          </a:p>
        </p:txBody>
      </p:sp>
      <p:sp>
        <p:nvSpPr>
          <p:cNvPr id="608" name="Google Shape;608;p45"/>
          <p:cNvSpPr/>
          <p:nvPr/>
        </p:nvSpPr>
        <p:spPr>
          <a:xfrm>
            <a:off x="500063" y="2328863"/>
            <a:ext cx="7858125" cy="542925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5"/>
          <p:cNvSpPr/>
          <p:nvPr/>
        </p:nvSpPr>
        <p:spPr>
          <a:xfrm>
            <a:off x="571500" y="2336925"/>
            <a:ext cx="14289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C79B7"/>
                </a:solidFill>
              </a:rPr>
              <a:t>Sensor Calibration</a:t>
            </a:r>
            <a:endParaRPr sz="1100"/>
          </a:p>
        </p:txBody>
      </p:sp>
      <p:sp>
        <p:nvSpPr>
          <p:cNvPr id="610" name="Google Shape;610;p45"/>
          <p:cNvSpPr/>
          <p:nvPr/>
        </p:nvSpPr>
        <p:spPr>
          <a:xfrm>
            <a:off x="2143128" y="2336925"/>
            <a:ext cx="16431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측정 신뢰성 확보</a:t>
            </a:r>
            <a:endParaRPr sz="1100"/>
          </a:p>
        </p:txBody>
      </p:sp>
      <p:sp>
        <p:nvSpPr>
          <p:cNvPr id="611" name="Google Shape;611;p45"/>
          <p:cNvSpPr/>
          <p:nvPr/>
        </p:nvSpPr>
        <p:spPr>
          <a:xfrm>
            <a:off x="3929068" y="2336925"/>
            <a:ext cx="785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낮음</a:t>
            </a:r>
            <a:endParaRPr sz="1100"/>
          </a:p>
        </p:txBody>
      </p:sp>
      <p:sp>
        <p:nvSpPr>
          <p:cNvPr id="612" name="Google Shape;612;p45"/>
          <p:cNvSpPr/>
          <p:nvPr/>
        </p:nvSpPr>
        <p:spPr>
          <a:xfrm>
            <a:off x="4857757" y="2336925"/>
            <a:ext cx="785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중간</a:t>
            </a:r>
            <a:endParaRPr sz="1100"/>
          </a:p>
        </p:txBody>
      </p:sp>
      <p:sp>
        <p:nvSpPr>
          <p:cNvPr id="613" name="Google Shape;613;p45"/>
          <p:cNvSpPr/>
          <p:nvPr/>
        </p:nvSpPr>
        <p:spPr>
          <a:xfrm>
            <a:off x="5786446" y="2336925"/>
            <a:ext cx="250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교정 중 설비 사용 제한</a:t>
            </a:r>
            <a:endParaRPr sz="1100"/>
          </a:p>
        </p:txBody>
      </p:sp>
      <p:sp>
        <p:nvSpPr>
          <p:cNvPr id="614" name="Google Shape;614;p45"/>
          <p:cNvSpPr/>
          <p:nvPr/>
        </p:nvSpPr>
        <p:spPr>
          <a:xfrm>
            <a:off x="500063" y="2871788"/>
            <a:ext cx="7858125" cy="542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5"/>
          <p:cNvSpPr/>
          <p:nvPr/>
        </p:nvSpPr>
        <p:spPr>
          <a:xfrm>
            <a:off x="571500" y="2872050"/>
            <a:ext cx="14289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6BFA0"/>
                </a:solidFill>
              </a:rPr>
              <a:t>Chuck 점검</a:t>
            </a:r>
            <a:endParaRPr sz="1100"/>
          </a:p>
        </p:txBody>
      </p:sp>
      <p:sp>
        <p:nvSpPr>
          <p:cNvPr id="616" name="Google Shape;616;p45"/>
          <p:cNvSpPr/>
          <p:nvPr/>
        </p:nvSpPr>
        <p:spPr>
          <a:xfrm>
            <a:off x="2143128" y="2872050"/>
            <a:ext cx="16431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국부 응력·TTV/Scratch 완화</a:t>
            </a:r>
            <a:endParaRPr sz="1100"/>
          </a:p>
        </p:txBody>
      </p:sp>
      <p:sp>
        <p:nvSpPr>
          <p:cNvPr id="617" name="Google Shape;617;p45"/>
          <p:cNvSpPr/>
          <p:nvPr/>
        </p:nvSpPr>
        <p:spPr>
          <a:xfrm>
            <a:off x="3929068" y="2872050"/>
            <a:ext cx="785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중간</a:t>
            </a:r>
            <a:endParaRPr sz="1100"/>
          </a:p>
        </p:txBody>
      </p:sp>
      <p:sp>
        <p:nvSpPr>
          <p:cNvPr id="618" name="Google Shape;618;p45"/>
          <p:cNvSpPr/>
          <p:nvPr/>
        </p:nvSpPr>
        <p:spPr>
          <a:xfrm>
            <a:off x="4857757" y="2872050"/>
            <a:ext cx="785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중간</a:t>
            </a:r>
            <a:endParaRPr sz="1100"/>
          </a:p>
        </p:txBody>
      </p:sp>
      <p:sp>
        <p:nvSpPr>
          <p:cNvPr id="619" name="Google Shape;619;p45"/>
          <p:cNvSpPr/>
          <p:nvPr/>
        </p:nvSpPr>
        <p:spPr>
          <a:xfrm>
            <a:off x="5786446" y="2872050"/>
            <a:ext cx="250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세정/부품 교체 비용 가능</a:t>
            </a:r>
            <a:endParaRPr sz="1100"/>
          </a:p>
        </p:txBody>
      </p:sp>
      <p:sp>
        <p:nvSpPr>
          <p:cNvPr id="620" name="Google Shape;620;p45"/>
          <p:cNvSpPr/>
          <p:nvPr/>
        </p:nvSpPr>
        <p:spPr>
          <a:xfrm>
            <a:off x="500063" y="3414713"/>
            <a:ext cx="7858125" cy="542925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5"/>
          <p:cNvSpPr/>
          <p:nvPr/>
        </p:nvSpPr>
        <p:spPr>
          <a:xfrm>
            <a:off x="571500" y="3414975"/>
            <a:ext cx="14289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B3132E"/>
                </a:solidFill>
              </a:rPr>
              <a:t>Rough 조건 DOE</a:t>
            </a:r>
            <a:endParaRPr sz="1100"/>
          </a:p>
        </p:txBody>
      </p:sp>
      <p:sp>
        <p:nvSpPr>
          <p:cNvPr id="622" name="Google Shape;622;p45"/>
          <p:cNvSpPr/>
          <p:nvPr/>
        </p:nvSpPr>
        <p:spPr>
          <a:xfrm>
            <a:off x="2143128" y="3414975"/>
            <a:ext cx="16431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Crack 직접 저감 가능성 큼</a:t>
            </a:r>
            <a:endParaRPr sz="1100"/>
          </a:p>
        </p:txBody>
      </p:sp>
      <p:sp>
        <p:nvSpPr>
          <p:cNvPr id="623" name="Google Shape;623;p45"/>
          <p:cNvSpPr/>
          <p:nvPr/>
        </p:nvSpPr>
        <p:spPr>
          <a:xfrm>
            <a:off x="3929068" y="3414975"/>
            <a:ext cx="785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높음</a:t>
            </a:r>
            <a:endParaRPr sz="1100"/>
          </a:p>
        </p:txBody>
      </p:sp>
      <p:sp>
        <p:nvSpPr>
          <p:cNvPr id="624" name="Google Shape;624;p45"/>
          <p:cNvSpPr/>
          <p:nvPr/>
        </p:nvSpPr>
        <p:spPr>
          <a:xfrm>
            <a:off x="4857757" y="3414975"/>
            <a:ext cx="785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높음</a:t>
            </a:r>
            <a:endParaRPr sz="1100"/>
          </a:p>
        </p:txBody>
      </p:sp>
      <p:sp>
        <p:nvSpPr>
          <p:cNvPr id="625" name="Google Shape;625;p45"/>
          <p:cNvSpPr/>
          <p:nvPr/>
        </p:nvSpPr>
        <p:spPr>
          <a:xfrm>
            <a:off x="5786446" y="3414975"/>
            <a:ext cx="250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173657"/>
                </a:solidFill>
              </a:rPr>
              <a:t>TTV/생산성 영향, Wafer 투입 필요</a:t>
            </a:r>
            <a:endParaRPr sz="1100"/>
          </a:p>
        </p:txBody>
      </p:sp>
      <p:sp>
        <p:nvSpPr>
          <p:cNvPr id="626" name="Google Shape;626;p45"/>
          <p:cNvSpPr/>
          <p:nvPr/>
        </p:nvSpPr>
        <p:spPr>
          <a:xfrm>
            <a:off x="842963" y="4214813"/>
            <a:ext cx="7458075" cy="300038"/>
          </a:xfrm>
          <a:prstGeom prst="roundRect">
            <a:avLst>
              <a:gd fmla="val 14286" name="adj"/>
            </a:avLst>
          </a:prstGeom>
          <a:solidFill>
            <a:srgbClr val="E7F7F2"/>
          </a:solidFill>
          <a:ln cap="flat" cmpd="sng" w="9525">
            <a:solidFill>
              <a:srgbClr val="BEE7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5"/>
          <p:cNvSpPr/>
          <p:nvPr/>
        </p:nvSpPr>
        <p:spPr>
          <a:xfrm>
            <a:off x="1028700" y="4221948"/>
            <a:ext cx="642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6BFA0"/>
                </a:solidFill>
              </a:rPr>
              <a:t>실행 순서</a:t>
            </a:r>
            <a:endParaRPr sz="1100"/>
          </a:p>
        </p:txBody>
      </p:sp>
      <p:sp>
        <p:nvSpPr>
          <p:cNvPr id="628" name="Google Shape;628;p45"/>
          <p:cNvSpPr/>
          <p:nvPr/>
        </p:nvSpPr>
        <p:spPr>
          <a:xfrm>
            <a:off x="1771650" y="4214824"/>
            <a:ext cx="54291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800">
                <a:solidFill>
                  <a:srgbClr val="173657"/>
                </a:solidFill>
              </a:rPr>
              <a:t>Sensor·Chuck 선점검 → Recipe 기준화 → Rough DOE 검증 후 최적조건 표준화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6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계획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46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6"/>
          <p:cNvSpPr/>
          <p:nvPr/>
        </p:nvSpPr>
        <p:spPr>
          <a:xfrm>
            <a:off x="90300" y="876752"/>
            <a:ext cx="8963400" cy="3801600"/>
          </a:xfrm>
          <a:prstGeom prst="roundRect">
            <a:avLst>
              <a:gd fmla="val 2020" name="adj"/>
            </a:avLst>
          </a:prstGeom>
          <a:solidFill>
            <a:srgbClr val="FFFFFF"/>
          </a:solidFill>
          <a:ln cap="flat" cmpd="sng" w="1055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3"/>
          </a:p>
        </p:txBody>
      </p:sp>
      <p:sp>
        <p:nvSpPr>
          <p:cNvPr id="636" name="Google Shape;636;p46"/>
          <p:cNvSpPr/>
          <p:nvPr/>
        </p:nvSpPr>
        <p:spPr>
          <a:xfrm>
            <a:off x="90300" y="876752"/>
            <a:ext cx="8963400" cy="422400"/>
          </a:xfrm>
          <a:prstGeom prst="rect">
            <a:avLst/>
          </a:prstGeom>
          <a:solidFill>
            <a:srgbClr val="1F456B"/>
          </a:solidFill>
          <a:ln cap="flat" cmpd="sng" w="10550">
            <a:solidFill>
              <a:srgbClr val="1F4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3"/>
          </a:p>
        </p:txBody>
      </p:sp>
      <p:sp>
        <p:nvSpPr>
          <p:cNvPr id="637" name="Google Shape;637;p46"/>
          <p:cNvSpPr/>
          <p:nvPr/>
        </p:nvSpPr>
        <p:spPr>
          <a:xfrm>
            <a:off x="153650" y="876766"/>
            <a:ext cx="10926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98">
                <a:solidFill>
                  <a:srgbClr val="FFFFFF"/>
                </a:solidFill>
              </a:rPr>
              <a:t>항목</a:t>
            </a:r>
            <a:endParaRPr sz="1630"/>
          </a:p>
        </p:txBody>
      </p:sp>
      <p:sp>
        <p:nvSpPr>
          <p:cNvPr id="638" name="Google Shape;638;p46"/>
          <p:cNvSpPr/>
          <p:nvPr/>
        </p:nvSpPr>
        <p:spPr>
          <a:xfrm>
            <a:off x="1373031" y="876766"/>
            <a:ext cx="1077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98">
                <a:solidFill>
                  <a:srgbClr val="FFFFFF"/>
                </a:solidFill>
              </a:rPr>
              <a:t>현재 문제</a:t>
            </a:r>
            <a:endParaRPr sz="1630"/>
          </a:p>
        </p:txBody>
      </p:sp>
      <p:sp>
        <p:nvSpPr>
          <p:cNvPr id="639" name="Google Shape;639;p46"/>
          <p:cNvSpPr/>
          <p:nvPr/>
        </p:nvSpPr>
        <p:spPr>
          <a:xfrm>
            <a:off x="2576575" y="876766"/>
            <a:ext cx="13776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98">
                <a:solidFill>
                  <a:srgbClr val="FFFFFF"/>
                </a:solidFill>
              </a:rPr>
              <a:t>원인</a:t>
            </a:r>
            <a:endParaRPr sz="1630"/>
          </a:p>
        </p:txBody>
      </p:sp>
      <p:sp>
        <p:nvSpPr>
          <p:cNvPr id="640" name="Google Shape;640;p46"/>
          <p:cNvSpPr/>
          <p:nvPr/>
        </p:nvSpPr>
        <p:spPr>
          <a:xfrm>
            <a:off x="4081006" y="876766"/>
            <a:ext cx="182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98">
                <a:solidFill>
                  <a:srgbClr val="FFFFFF"/>
                </a:solidFill>
              </a:rPr>
              <a:t>개선안</a:t>
            </a:r>
            <a:endParaRPr sz="1630"/>
          </a:p>
        </p:txBody>
      </p:sp>
      <p:sp>
        <p:nvSpPr>
          <p:cNvPr id="641" name="Google Shape;641;p46"/>
          <p:cNvSpPr/>
          <p:nvPr/>
        </p:nvSpPr>
        <p:spPr>
          <a:xfrm>
            <a:off x="6028847" y="876766"/>
            <a:ext cx="16944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98">
                <a:solidFill>
                  <a:srgbClr val="FFFFFF"/>
                </a:solidFill>
              </a:rPr>
              <a:t>기대효과</a:t>
            </a:r>
            <a:endParaRPr sz="1630"/>
          </a:p>
        </p:txBody>
      </p:sp>
      <p:sp>
        <p:nvSpPr>
          <p:cNvPr id="642" name="Google Shape;642;p46"/>
          <p:cNvSpPr/>
          <p:nvPr/>
        </p:nvSpPr>
        <p:spPr>
          <a:xfrm>
            <a:off x="7850000" y="876766"/>
            <a:ext cx="1140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98">
                <a:solidFill>
                  <a:srgbClr val="FFFFFF"/>
                </a:solidFill>
              </a:rPr>
              <a:t>담당/일정</a:t>
            </a:r>
            <a:endParaRPr sz="1630"/>
          </a:p>
        </p:txBody>
      </p:sp>
      <p:sp>
        <p:nvSpPr>
          <p:cNvPr id="643" name="Google Shape;643;p46"/>
          <p:cNvSpPr/>
          <p:nvPr/>
        </p:nvSpPr>
        <p:spPr>
          <a:xfrm>
            <a:off x="90300" y="1299145"/>
            <a:ext cx="8963400" cy="844800"/>
          </a:xfrm>
          <a:prstGeom prst="rect">
            <a:avLst/>
          </a:prstGeom>
          <a:solidFill>
            <a:srgbClr val="FFFFFF"/>
          </a:solidFill>
          <a:ln cap="flat" cmpd="sng" w="1055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3"/>
          </a:p>
        </p:txBody>
      </p:sp>
      <p:sp>
        <p:nvSpPr>
          <p:cNvPr id="644" name="Google Shape;644;p46"/>
          <p:cNvSpPr/>
          <p:nvPr/>
        </p:nvSpPr>
        <p:spPr>
          <a:xfrm>
            <a:off x="153650" y="1299133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Set-Actual</a:t>
            </a:r>
            <a:endParaRPr sz="16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허용 편차</a:t>
            </a:r>
            <a:endParaRPr sz="1630"/>
          </a:p>
        </p:txBody>
      </p:sp>
      <p:sp>
        <p:nvSpPr>
          <p:cNvPr id="645" name="Google Shape;645;p46"/>
          <p:cNvSpPr/>
          <p:nvPr/>
        </p:nvSpPr>
        <p:spPr>
          <a:xfrm>
            <a:off x="1373027" y="1491141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Crack 증가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TTV 불량</a:t>
            </a:r>
            <a:endParaRPr sz="1430"/>
          </a:p>
        </p:txBody>
      </p:sp>
      <p:sp>
        <p:nvSpPr>
          <p:cNvPr id="646" name="Google Shape;646;p46"/>
          <p:cNvSpPr/>
          <p:nvPr/>
        </p:nvSpPr>
        <p:spPr>
          <a:xfrm>
            <a:off x="2576573" y="1491141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Recipe Set-Actual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편차 가능</a:t>
            </a:r>
            <a:endParaRPr sz="1430"/>
          </a:p>
        </p:txBody>
      </p:sp>
      <p:sp>
        <p:nvSpPr>
          <p:cNvPr id="647" name="Google Shape;647;p46"/>
          <p:cNvSpPr/>
          <p:nvPr/>
        </p:nvSpPr>
        <p:spPr>
          <a:xfrm>
            <a:off x="4081005" y="1414343"/>
            <a:ext cx="1821300" cy="614400"/>
          </a:xfrm>
          <a:prstGeom prst="roundRect">
            <a:avLst>
              <a:gd fmla="val 3125" name="adj"/>
            </a:avLst>
          </a:prstGeom>
          <a:solidFill>
            <a:srgbClr val="E8F7F2"/>
          </a:solidFill>
          <a:ln cap="flat" cmpd="sng" w="10550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주요 Parameter별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98">
                <a:solidFill>
                  <a:srgbClr val="173657"/>
                </a:solidFill>
              </a:rPr>
              <a:t>Set-Actual 허용 편차 </a:t>
            </a:r>
            <a:endParaRPr b="1" sz="998">
              <a:solidFill>
                <a:srgbClr val="17365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기준 설정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648" name="Google Shape;648;p46"/>
          <p:cNvSpPr/>
          <p:nvPr/>
        </p:nvSpPr>
        <p:spPr>
          <a:xfrm>
            <a:off x="6028849" y="1491141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공정조건 안정화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→ Crack/TTV 감소</a:t>
            </a:r>
            <a:endParaRPr sz="1430"/>
          </a:p>
        </p:txBody>
      </p:sp>
      <p:sp>
        <p:nvSpPr>
          <p:cNvPr id="649" name="Google Shape;649;p46"/>
          <p:cNvSpPr/>
          <p:nvPr/>
        </p:nvSpPr>
        <p:spPr>
          <a:xfrm>
            <a:off x="7850000" y="1299133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김OO프로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3주</a:t>
            </a:r>
            <a:endParaRPr sz="1430"/>
          </a:p>
        </p:txBody>
      </p:sp>
      <p:sp>
        <p:nvSpPr>
          <p:cNvPr id="650" name="Google Shape;650;p46"/>
          <p:cNvSpPr/>
          <p:nvPr/>
        </p:nvSpPr>
        <p:spPr>
          <a:xfrm>
            <a:off x="90300" y="2143929"/>
            <a:ext cx="8963400" cy="844800"/>
          </a:xfrm>
          <a:prstGeom prst="rect">
            <a:avLst/>
          </a:prstGeom>
          <a:solidFill>
            <a:srgbClr val="F7FAFC"/>
          </a:solidFill>
          <a:ln cap="flat" cmpd="sng" w="1055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3"/>
          </a:p>
        </p:txBody>
      </p:sp>
      <p:sp>
        <p:nvSpPr>
          <p:cNvPr id="651" name="Google Shape;651;p46"/>
          <p:cNvSpPr/>
          <p:nvPr/>
        </p:nvSpPr>
        <p:spPr>
          <a:xfrm>
            <a:off x="153650" y="2143930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Sensor</a:t>
            </a:r>
            <a:endParaRPr sz="16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Calibration</a:t>
            </a:r>
            <a:endParaRPr sz="1630"/>
          </a:p>
        </p:txBody>
      </p:sp>
      <p:sp>
        <p:nvSpPr>
          <p:cNvPr id="652" name="Google Shape;652;p46"/>
          <p:cNvSpPr/>
          <p:nvPr/>
        </p:nvSpPr>
        <p:spPr>
          <a:xfrm>
            <a:off x="1373027" y="2335926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TTV 측정 이상</a:t>
            </a:r>
            <a:endParaRPr sz="1430"/>
          </a:p>
        </p:txBody>
      </p:sp>
      <p:sp>
        <p:nvSpPr>
          <p:cNvPr id="653" name="Google Shape;653;p46"/>
          <p:cNvSpPr/>
          <p:nvPr/>
        </p:nvSpPr>
        <p:spPr>
          <a:xfrm>
            <a:off x="2576573" y="2335926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Sensor Calibration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이상/Drift 가능</a:t>
            </a:r>
            <a:endParaRPr sz="1430"/>
          </a:p>
        </p:txBody>
      </p:sp>
      <p:sp>
        <p:nvSpPr>
          <p:cNvPr id="654" name="Google Shape;654;p46"/>
          <p:cNvSpPr/>
          <p:nvPr/>
        </p:nvSpPr>
        <p:spPr>
          <a:xfrm>
            <a:off x="4081005" y="2259127"/>
            <a:ext cx="1821300" cy="614400"/>
          </a:xfrm>
          <a:prstGeom prst="roundRect">
            <a:avLst>
              <a:gd fmla="val 3125" name="adj"/>
            </a:avLst>
          </a:prstGeom>
          <a:solidFill>
            <a:srgbClr val="E8F7F2"/>
          </a:solidFill>
          <a:ln cap="flat" cmpd="sng" w="10550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Sensor Calibration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및 측정값 교차검증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655" name="Google Shape;655;p46"/>
          <p:cNvSpPr/>
          <p:nvPr/>
        </p:nvSpPr>
        <p:spPr>
          <a:xfrm>
            <a:off x="6028849" y="2335926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측정 신뢰성 확보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→ TTV 오판 방지</a:t>
            </a:r>
            <a:endParaRPr sz="1430"/>
          </a:p>
        </p:txBody>
      </p:sp>
      <p:sp>
        <p:nvSpPr>
          <p:cNvPr id="656" name="Google Shape;656;p46"/>
          <p:cNvSpPr/>
          <p:nvPr/>
        </p:nvSpPr>
        <p:spPr>
          <a:xfrm>
            <a:off x="7850000" y="2144233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성OO프로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즉시</a:t>
            </a:r>
            <a:endParaRPr sz="1430"/>
          </a:p>
        </p:txBody>
      </p:sp>
      <p:sp>
        <p:nvSpPr>
          <p:cNvPr id="657" name="Google Shape;657;p46"/>
          <p:cNvSpPr/>
          <p:nvPr/>
        </p:nvSpPr>
        <p:spPr>
          <a:xfrm>
            <a:off x="90300" y="2988714"/>
            <a:ext cx="8963400" cy="844800"/>
          </a:xfrm>
          <a:prstGeom prst="rect">
            <a:avLst/>
          </a:prstGeom>
          <a:solidFill>
            <a:srgbClr val="FFFFFF"/>
          </a:solidFill>
          <a:ln cap="flat" cmpd="sng" w="1055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3"/>
          </a:p>
        </p:txBody>
      </p:sp>
      <p:sp>
        <p:nvSpPr>
          <p:cNvPr id="658" name="Google Shape;658;p46"/>
          <p:cNvSpPr/>
          <p:nvPr/>
        </p:nvSpPr>
        <p:spPr>
          <a:xfrm>
            <a:off x="153650" y="2988845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Wafer Chuck</a:t>
            </a:r>
            <a:endParaRPr sz="16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상태 점검</a:t>
            </a:r>
            <a:endParaRPr sz="1630"/>
          </a:p>
        </p:txBody>
      </p:sp>
      <p:sp>
        <p:nvSpPr>
          <p:cNvPr id="659" name="Google Shape;659;p46"/>
          <p:cNvSpPr/>
          <p:nvPr/>
        </p:nvSpPr>
        <p:spPr>
          <a:xfrm>
            <a:off x="1373027" y="3180711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TTV 불량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Scratch 증가</a:t>
            </a:r>
            <a:endParaRPr sz="1430"/>
          </a:p>
        </p:txBody>
      </p:sp>
      <p:sp>
        <p:nvSpPr>
          <p:cNvPr id="660" name="Google Shape;660;p46"/>
          <p:cNvSpPr/>
          <p:nvPr/>
        </p:nvSpPr>
        <p:spPr>
          <a:xfrm>
            <a:off x="2576573" y="3180711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Chuck 이물·평탄도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Vacuum 이상 가능</a:t>
            </a:r>
            <a:endParaRPr sz="1430"/>
          </a:p>
        </p:txBody>
      </p:sp>
      <p:sp>
        <p:nvSpPr>
          <p:cNvPr id="661" name="Google Shape;661;p46"/>
          <p:cNvSpPr/>
          <p:nvPr/>
        </p:nvSpPr>
        <p:spPr>
          <a:xfrm>
            <a:off x="4081005" y="3103912"/>
            <a:ext cx="1821300" cy="614400"/>
          </a:xfrm>
          <a:prstGeom prst="roundRect">
            <a:avLst>
              <a:gd fmla="val 3125" name="adj"/>
            </a:avLst>
          </a:prstGeom>
          <a:solidFill>
            <a:srgbClr val="E8F7F2"/>
          </a:solidFill>
          <a:ln cap="flat" cmpd="sng" w="10550">
            <a:solidFill>
              <a:srgbClr val="19C7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Chuck 세정 및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평탄도/Vacuum 상태 점검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662" name="Google Shape;662;p46"/>
          <p:cNvSpPr/>
          <p:nvPr/>
        </p:nvSpPr>
        <p:spPr>
          <a:xfrm>
            <a:off x="6028849" y="3180711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Wafer 지지 안정화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→ TTV/Scratch 개선</a:t>
            </a:r>
            <a:endParaRPr sz="1430"/>
          </a:p>
        </p:txBody>
      </p:sp>
      <p:sp>
        <p:nvSpPr>
          <p:cNvPr id="663" name="Google Shape;663;p46"/>
          <p:cNvSpPr/>
          <p:nvPr/>
        </p:nvSpPr>
        <p:spPr>
          <a:xfrm>
            <a:off x="7850000" y="2989027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정OO프로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즉시</a:t>
            </a:r>
            <a:endParaRPr sz="1430"/>
          </a:p>
        </p:txBody>
      </p:sp>
      <p:sp>
        <p:nvSpPr>
          <p:cNvPr id="664" name="Google Shape;664;p46"/>
          <p:cNvSpPr/>
          <p:nvPr/>
        </p:nvSpPr>
        <p:spPr>
          <a:xfrm>
            <a:off x="90300" y="3833499"/>
            <a:ext cx="8963400" cy="844800"/>
          </a:xfrm>
          <a:prstGeom prst="rect">
            <a:avLst/>
          </a:prstGeom>
          <a:solidFill>
            <a:srgbClr val="F7FAFC"/>
          </a:solidFill>
          <a:ln cap="flat" cmpd="sng" w="1055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3"/>
          </a:p>
        </p:txBody>
      </p:sp>
      <p:sp>
        <p:nvSpPr>
          <p:cNvPr id="665" name="Google Shape;665;p46"/>
          <p:cNvSpPr/>
          <p:nvPr/>
        </p:nvSpPr>
        <p:spPr>
          <a:xfrm>
            <a:off x="153650" y="3833761"/>
            <a:ext cx="10926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Rough Grinding</a:t>
            </a:r>
            <a:endParaRPr sz="16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7">
                <a:solidFill>
                  <a:srgbClr val="173657"/>
                </a:solidFill>
              </a:rPr>
              <a:t>조건 최적화</a:t>
            </a:r>
            <a:endParaRPr sz="1630"/>
          </a:p>
        </p:txBody>
      </p:sp>
      <p:sp>
        <p:nvSpPr>
          <p:cNvPr id="666" name="Google Shape;666;p46"/>
          <p:cNvSpPr/>
          <p:nvPr/>
        </p:nvSpPr>
        <p:spPr>
          <a:xfrm>
            <a:off x="1373027" y="4025495"/>
            <a:ext cx="1077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Crack 증가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TTV 불량</a:t>
            </a:r>
            <a:endParaRPr sz="1430"/>
          </a:p>
        </p:txBody>
      </p:sp>
      <p:sp>
        <p:nvSpPr>
          <p:cNvPr id="667" name="Google Shape;667;p46"/>
          <p:cNvSpPr/>
          <p:nvPr/>
        </p:nvSpPr>
        <p:spPr>
          <a:xfrm>
            <a:off x="2576573" y="4025495"/>
            <a:ext cx="13776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연삭 조건에 따른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불균일/과도 하중 가능</a:t>
            </a:r>
            <a:endParaRPr sz="1430"/>
          </a:p>
        </p:txBody>
      </p:sp>
      <p:sp>
        <p:nvSpPr>
          <p:cNvPr id="668" name="Google Shape;668;p46"/>
          <p:cNvSpPr/>
          <p:nvPr/>
        </p:nvSpPr>
        <p:spPr>
          <a:xfrm>
            <a:off x="4081005" y="3948697"/>
            <a:ext cx="1821300" cy="614400"/>
          </a:xfrm>
          <a:prstGeom prst="roundRect">
            <a:avLst>
              <a:gd fmla="val 3125" name="adj"/>
            </a:avLst>
          </a:prstGeom>
          <a:solidFill>
            <a:srgbClr val="E8F7F2"/>
          </a:solidFill>
          <a:ln cap="flat" cmpd="sng" w="10550">
            <a:solidFill>
              <a:srgbClr val="B313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00" lIns="76000" spcFirstLastPara="1" rIns="76000" wrap="square" tIns="7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Feed Rate/RPM/압력별</a:t>
            </a:r>
            <a:endParaRPr sz="133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998">
                <a:solidFill>
                  <a:srgbClr val="173657"/>
                </a:solidFill>
              </a:rPr>
              <a:t>영향 검증 및 최적화</a:t>
            </a:r>
            <a:endParaRPr sz="1330">
              <a:solidFill>
                <a:schemeClr val="dk1"/>
              </a:solidFill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6028849" y="4025495"/>
            <a:ext cx="1694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TTV 안정화 및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Crack 감소</a:t>
            </a:r>
            <a:endParaRPr sz="1430"/>
          </a:p>
        </p:txBody>
      </p:sp>
      <p:sp>
        <p:nvSpPr>
          <p:cNvPr id="670" name="Google Shape;670;p46"/>
          <p:cNvSpPr/>
          <p:nvPr/>
        </p:nvSpPr>
        <p:spPr>
          <a:xfrm>
            <a:off x="7850000" y="3833761"/>
            <a:ext cx="11403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00" spcFirstLastPara="1" rIns="76000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한OO프로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이OO프로</a:t>
            </a:r>
            <a:endParaRPr sz="143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98">
                <a:solidFill>
                  <a:srgbClr val="173657"/>
                </a:solidFill>
              </a:rPr>
              <a:t>1개월</a:t>
            </a:r>
            <a:endParaRPr sz="143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5" name="Google Shape;675;p47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47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 </a:t>
            </a: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계획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7" name="Google Shape;677;p47"/>
          <p:cNvGraphicFramePr/>
          <p:nvPr/>
        </p:nvGraphicFramePr>
        <p:xfrm>
          <a:off x="380436" y="753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{769FC215-DB7B-4295-BFDB-BFC7B4A58080}</a:tableStyleId>
              </a:tblPr>
              <a:tblGrid>
                <a:gridCol w="1150650"/>
                <a:gridCol w="648150"/>
                <a:gridCol w="621875"/>
                <a:gridCol w="3082575"/>
                <a:gridCol w="1566850"/>
                <a:gridCol w="1317525"/>
              </a:tblGrid>
              <a:tr h="33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개선</a:t>
                      </a: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일정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 항목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 기준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Follow-up Plan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① Rough Grinding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조건 최적화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한OO프로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이OO프로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~09.10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(30일)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주요 Parameter별 Crack·TTV 영향 검증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Feed Rate (100%, 105%,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RPM (100%, 105%, 110%)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가공압력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(100%, 95%, 90%)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단계별 조정 → Crack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·TTV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변화 측정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Crack·TTV Spec 동시 만족 조건 확보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&lt; 3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TTV &lt;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도출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조건 Recipe 반영·표준화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양산 적용 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Trend 모니터링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② Recipe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Set-Actual 기준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김OO프로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~08.31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(3주)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주요 Parameter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Set값 vs Actual 값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정상/불량군 간 Parameter 편차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Crack·TTV와 Parameter 영향 관계 분석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품질 영향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 식별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Parameter별 허용 편차 기준 수립 및 시스템 등록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편차 초과 시 알람·인터록 연계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주기적 기준 재검토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③ Wafer Chuck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 점검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정OO프로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~08.13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표면 이물·평탄도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점검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Vacuum 흡착압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확인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세정 전후 TTV·Scratch 비교</a:t>
                      </a:r>
                      <a:endParaRPr sz="1200" u="none" cap="none" strike="noStrike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Chuck 위치와 Wafer 이상 위치 Mapping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Chuck 평탄도· Vacuum 관리 기준 만족 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세정 전 대비 TTV/Scratch 개선 확인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정기 세정·점검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주기 표준화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열화 시 재가공/</a:t>
                      </a:r>
                      <a:endParaRPr sz="1200" u="none" cap="none" strike="noStrike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교체 기준 운영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58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④ Sensor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5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0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성OO프로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700"/>
                        <a:buFont typeface="Malgun Gothic"/>
                        <a:buNone/>
                      </a:pPr>
                      <a:r>
                        <a:rPr b="1" lang="ko" sz="12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~08.13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In-line 두께 계측기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Reference Wafer·기준 계측기와 측정값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교정 전후 측정값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편차 비교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TTV </a:t>
                      </a: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측정 오차</a:t>
                      </a: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검증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Reference 대비 측정편차 규격 만족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반복 측정 시 Repeatability 확보</a:t>
                      </a:r>
                      <a:endParaRPr sz="1200">
                        <a:solidFill>
                          <a:srgbClr val="2C354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2"/>
                        </a:buClr>
                        <a:buSzPts val="700"/>
                        <a:buFont typeface="Malgun Gothic"/>
                        <a:buNone/>
                      </a:pPr>
                      <a:r>
                        <a:rPr lang="ko" sz="1200" u="none" cap="none" strike="noStrike">
                          <a:solidFill>
                            <a:srgbClr val="2C35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교정 주기 표준 수립 → 이상 시 재교정·계측기 이중화 검토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8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C79B7"/>
                </a:solidFill>
              </a:rPr>
              <a:t>BG 개선안 / 실행계획</a:t>
            </a:r>
            <a:endParaRPr sz="1100"/>
          </a:p>
        </p:txBody>
      </p:sp>
      <p:sp>
        <p:nvSpPr>
          <p:cNvPr id="684" name="Google Shape;684;p48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3657"/>
                </a:solidFill>
              </a:rPr>
              <a:t>실행계획</a:t>
            </a:r>
            <a:endParaRPr sz="1100"/>
          </a:p>
        </p:txBody>
      </p:sp>
      <p:sp>
        <p:nvSpPr>
          <p:cNvPr id="685" name="Google Shape;685;p48"/>
          <p:cNvSpPr/>
          <p:nvPr/>
        </p:nvSpPr>
        <p:spPr>
          <a:xfrm>
            <a:off x="195079" y="1403813"/>
            <a:ext cx="1943100" cy="2571900"/>
          </a:xfrm>
          <a:prstGeom prst="roundRect">
            <a:avLst>
              <a:gd fmla="val 2941" name="adj"/>
            </a:avLst>
          </a:prstGeom>
          <a:solidFill>
            <a:srgbClr val="F3F6F9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8"/>
          <p:cNvSpPr/>
          <p:nvPr/>
        </p:nvSpPr>
        <p:spPr>
          <a:xfrm>
            <a:off x="195079" y="1403813"/>
            <a:ext cx="1943100" cy="528600"/>
          </a:xfrm>
          <a:prstGeom prst="roundRect">
            <a:avLst>
              <a:gd fmla="val 8108" name="adj"/>
            </a:avLst>
          </a:prstGeom>
          <a:solidFill>
            <a:srgbClr val="1F456B"/>
          </a:solidFill>
          <a:ln cap="flat" cmpd="sng" w="9525">
            <a:solidFill>
              <a:srgbClr val="1F4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48"/>
          <p:cNvSpPr/>
          <p:nvPr/>
        </p:nvSpPr>
        <p:spPr>
          <a:xfrm>
            <a:off x="337954" y="1532400"/>
            <a:ext cx="3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FFFFFF"/>
                </a:solidFill>
              </a:rPr>
              <a:t>01</a:t>
            </a:r>
            <a:endParaRPr sz="1100"/>
          </a:p>
        </p:txBody>
      </p:sp>
      <p:sp>
        <p:nvSpPr>
          <p:cNvPr id="688" name="Google Shape;688;p48"/>
          <p:cNvSpPr/>
          <p:nvPr/>
        </p:nvSpPr>
        <p:spPr>
          <a:xfrm>
            <a:off x="809441" y="1596694"/>
            <a:ext cx="10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FFFF"/>
                </a:solidFill>
              </a:rPr>
              <a:t>즉시~1주</a:t>
            </a:r>
            <a:endParaRPr sz="1300"/>
          </a:p>
        </p:txBody>
      </p:sp>
      <p:sp>
        <p:nvSpPr>
          <p:cNvPr id="689" name="Google Shape;689;p48"/>
          <p:cNvSpPr/>
          <p:nvPr/>
        </p:nvSpPr>
        <p:spPr>
          <a:xfrm>
            <a:off x="195079" y="1902869"/>
            <a:ext cx="1943100" cy="57000"/>
          </a:xfrm>
          <a:prstGeom prst="rect">
            <a:avLst/>
          </a:prstGeom>
          <a:solidFill>
            <a:srgbClr val="2C79B7"/>
          </a:solidFill>
          <a:ln cap="flat" cmpd="sng" w="9525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8"/>
          <p:cNvSpPr/>
          <p:nvPr/>
        </p:nvSpPr>
        <p:spPr>
          <a:xfrm>
            <a:off x="366529" y="2203913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73657"/>
                </a:solidFill>
              </a:rPr>
              <a:t>측정 신뢰성 확보</a:t>
            </a:r>
            <a:endParaRPr sz="1100"/>
          </a:p>
        </p:txBody>
      </p:sp>
      <p:sp>
        <p:nvSpPr>
          <p:cNvPr id="691" name="Google Shape;691;p48"/>
          <p:cNvSpPr/>
          <p:nvPr/>
        </p:nvSpPr>
        <p:spPr>
          <a:xfrm>
            <a:off x="366529" y="2589675"/>
            <a:ext cx="16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Sensor Calibration 및 측정값 교차검증</a:t>
            </a:r>
            <a:endParaRPr sz="1100"/>
          </a:p>
        </p:txBody>
      </p:sp>
      <p:sp>
        <p:nvSpPr>
          <p:cNvPr id="692" name="Google Shape;692;p48"/>
          <p:cNvSpPr/>
          <p:nvPr/>
        </p:nvSpPr>
        <p:spPr>
          <a:xfrm>
            <a:off x="366529" y="3189750"/>
            <a:ext cx="1600200" cy="528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8"/>
          <p:cNvSpPr/>
          <p:nvPr/>
        </p:nvSpPr>
        <p:spPr>
          <a:xfrm>
            <a:off x="495116" y="3289763"/>
            <a:ext cx="71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2C79B7"/>
                </a:solidFill>
              </a:rPr>
              <a:t>확인 KPI</a:t>
            </a:r>
            <a:endParaRPr sz="1100"/>
          </a:p>
        </p:txBody>
      </p:sp>
      <p:sp>
        <p:nvSpPr>
          <p:cNvPr id="694" name="Google Shape;694;p48"/>
          <p:cNvSpPr/>
          <p:nvPr/>
        </p:nvSpPr>
        <p:spPr>
          <a:xfrm>
            <a:off x="495116" y="3461213"/>
            <a:ext cx="1343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6A7280"/>
                </a:solidFill>
              </a:rPr>
              <a:t>TTV 측정 편차 / 센서 Drift</a:t>
            </a:r>
            <a:endParaRPr sz="1100"/>
          </a:p>
        </p:txBody>
      </p:sp>
      <p:sp>
        <p:nvSpPr>
          <p:cNvPr id="695" name="Google Shape;695;p48"/>
          <p:cNvSpPr/>
          <p:nvPr/>
        </p:nvSpPr>
        <p:spPr>
          <a:xfrm>
            <a:off x="2453629" y="1403825"/>
            <a:ext cx="1943100" cy="2571900"/>
          </a:xfrm>
          <a:prstGeom prst="roundRect">
            <a:avLst>
              <a:gd fmla="val 2941" name="adj"/>
            </a:avLst>
          </a:prstGeom>
          <a:solidFill>
            <a:srgbClr val="F3F6F9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8"/>
          <p:cNvSpPr/>
          <p:nvPr/>
        </p:nvSpPr>
        <p:spPr>
          <a:xfrm>
            <a:off x="2453629" y="1403825"/>
            <a:ext cx="1943100" cy="528600"/>
          </a:xfrm>
          <a:prstGeom prst="roundRect">
            <a:avLst>
              <a:gd fmla="val 8108" name="adj"/>
            </a:avLst>
          </a:prstGeom>
          <a:solidFill>
            <a:srgbClr val="1F456B"/>
          </a:solidFill>
          <a:ln cap="flat" cmpd="sng" w="9525">
            <a:solidFill>
              <a:srgbClr val="1F4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8"/>
          <p:cNvSpPr/>
          <p:nvPr/>
        </p:nvSpPr>
        <p:spPr>
          <a:xfrm>
            <a:off x="2596504" y="1532413"/>
            <a:ext cx="3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FFFFFF"/>
                </a:solidFill>
              </a:rPr>
              <a:t>02</a:t>
            </a:r>
            <a:endParaRPr sz="1100"/>
          </a:p>
        </p:txBody>
      </p:sp>
      <p:sp>
        <p:nvSpPr>
          <p:cNvPr id="698" name="Google Shape;698;p48"/>
          <p:cNvSpPr/>
          <p:nvPr/>
        </p:nvSpPr>
        <p:spPr>
          <a:xfrm>
            <a:off x="3067991" y="1596706"/>
            <a:ext cx="10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FFFF"/>
                </a:solidFill>
              </a:rPr>
              <a:t>즉시~1주</a:t>
            </a:r>
            <a:endParaRPr sz="1300"/>
          </a:p>
        </p:txBody>
      </p:sp>
      <p:sp>
        <p:nvSpPr>
          <p:cNvPr id="699" name="Google Shape;699;p48"/>
          <p:cNvSpPr/>
          <p:nvPr/>
        </p:nvSpPr>
        <p:spPr>
          <a:xfrm>
            <a:off x="2453629" y="1902882"/>
            <a:ext cx="1943100" cy="57000"/>
          </a:xfrm>
          <a:prstGeom prst="rect">
            <a:avLst/>
          </a:prstGeom>
          <a:solidFill>
            <a:srgbClr val="19C7A3"/>
          </a:solidFill>
          <a:ln cap="flat" cmpd="sng" w="9525">
            <a:solidFill>
              <a:srgbClr val="19C7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8"/>
          <p:cNvSpPr/>
          <p:nvPr/>
        </p:nvSpPr>
        <p:spPr>
          <a:xfrm>
            <a:off x="2625079" y="220392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73657"/>
                </a:solidFill>
              </a:rPr>
              <a:t>Chuck 상태 안정화</a:t>
            </a:r>
            <a:endParaRPr sz="1100"/>
          </a:p>
        </p:txBody>
      </p:sp>
      <p:sp>
        <p:nvSpPr>
          <p:cNvPr id="701" name="Google Shape;701;p48"/>
          <p:cNvSpPr/>
          <p:nvPr/>
        </p:nvSpPr>
        <p:spPr>
          <a:xfrm>
            <a:off x="2625079" y="2589688"/>
            <a:ext cx="16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Chuck 세정 · 평탄도 · Vacuum 상태 점검</a:t>
            </a:r>
            <a:endParaRPr sz="1100"/>
          </a:p>
        </p:txBody>
      </p:sp>
      <p:sp>
        <p:nvSpPr>
          <p:cNvPr id="702" name="Google Shape;702;p48"/>
          <p:cNvSpPr/>
          <p:nvPr/>
        </p:nvSpPr>
        <p:spPr>
          <a:xfrm>
            <a:off x="2625079" y="3189763"/>
            <a:ext cx="1600200" cy="528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8"/>
          <p:cNvSpPr/>
          <p:nvPr/>
        </p:nvSpPr>
        <p:spPr>
          <a:xfrm>
            <a:off x="2753666" y="3289775"/>
            <a:ext cx="71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19C7A3"/>
                </a:solidFill>
              </a:rPr>
              <a:t>확인 KPI</a:t>
            </a:r>
            <a:endParaRPr sz="1100"/>
          </a:p>
        </p:txBody>
      </p:sp>
      <p:sp>
        <p:nvSpPr>
          <p:cNvPr id="704" name="Google Shape;704;p48"/>
          <p:cNvSpPr/>
          <p:nvPr/>
        </p:nvSpPr>
        <p:spPr>
          <a:xfrm>
            <a:off x="2624979" y="3461225"/>
            <a:ext cx="160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6A7280"/>
                </a:solidFill>
              </a:rPr>
              <a:t>Vacuum 이상 / Chuck 이물 점검 결과</a:t>
            </a:r>
            <a:endParaRPr sz="1100"/>
          </a:p>
        </p:txBody>
      </p:sp>
      <p:sp>
        <p:nvSpPr>
          <p:cNvPr id="705" name="Google Shape;705;p48"/>
          <p:cNvSpPr/>
          <p:nvPr/>
        </p:nvSpPr>
        <p:spPr>
          <a:xfrm>
            <a:off x="4729713" y="1396388"/>
            <a:ext cx="1943100" cy="2571900"/>
          </a:xfrm>
          <a:prstGeom prst="roundRect">
            <a:avLst>
              <a:gd fmla="val 2941" name="adj"/>
            </a:avLst>
          </a:prstGeom>
          <a:solidFill>
            <a:srgbClr val="F3F6F9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8"/>
          <p:cNvSpPr/>
          <p:nvPr/>
        </p:nvSpPr>
        <p:spPr>
          <a:xfrm>
            <a:off x="4729713" y="1396388"/>
            <a:ext cx="1943100" cy="528600"/>
          </a:xfrm>
          <a:prstGeom prst="roundRect">
            <a:avLst>
              <a:gd fmla="val 8108" name="adj"/>
            </a:avLst>
          </a:prstGeom>
          <a:solidFill>
            <a:srgbClr val="1F456B"/>
          </a:solidFill>
          <a:ln cap="flat" cmpd="sng" w="9525">
            <a:solidFill>
              <a:srgbClr val="1F4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8"/>
          <p:cNvSpPr/>
          <p:nvPr/>
        </p:nvSpPr>
        <p:spPr>
          <a:xfrm>
            <a:off x="4871463" y="1521175"/>
            <a:ext cx="3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FFFFFF"/>
                </a:solidFill>
              </a:rPr>
              <a:t>03</a:t>
            </a:r>
            <a:endParaRPr sz="1100"/>
          </a:p>
        </p:txBody>
      </p:sp>
      <p:sp>
        <p:nvSpPr>
          <p:cNvPr id="708" name="Google Shape;708;p48"/>
          <p:cNvSpPr/>
          <p:nvPr/>
        </p:nvSpPr>
        <p:spPr>
          <a:xfrm>
            <a:off x="5344075" y="1589269"/>
            <a:ext cx="10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FFFF"/>
                </a:solidFill>
              </a:rPr>
              <a:t>1~3주</a:t>
            </a:r>
            <a:endParaRPr sz="1300"/>
          </a:p>
        </p:txBody>
      </p:sp>
      <p:sp>
        <p:nvSpPr>
          <p:cNvPr id="709" name="Google Shape;709;p48"/>
          <p:cNvSpPr/>
          <p:nvPr/>
        </p:nvSpPr>
        <p:spPr>
          <a:xfrm>
            <a:off x="4729713" y="1895444"/>
            <a:ext cx="1943100" cy="57000"/>
          </a:xfrm>
          <a:prstGeom prst="rect">
            <a:avLst/>
          </a:prstGeom>
          <a:solidFill>
            <a:srgbClr val="F2A51A"/>
          </a:solidFill>
          <a:ln cap="flat" cmpd="sng" w="9525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8"/>
          <p:cNvSpPr/>
          <p:nvPr/>
        </p:nvSpPr>
        <p:spPr>
          <a:xfrm>
            <a:off x="4901163" y="21964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73657"/>
                </a:solidFill>
              </a:rPr>
              <a:t>Set-Actual 기준화</a:t>
            </a:r>
            <a:endParaRPr sz="1100"/>
          </a:p>
        </p:txBody>
      </p:sp>
      <p:sp>
        <p:nvSpPr>
          <p:cNvPr id="711" name="Google Shape;711;p48"/>
          <p:cNvSpPr/>
          <p:nvPr/>
        </p:nvSpPr>
        <p:spPr>
          <a:xfrm>
            <a:off x="4901163" y="2582250"/>
            <a:ext cx="16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주요 Parameter별 허용 편차 기준 설정</a:t>
            </a:r>
            <a:endParaRPr sz="1100"/>
          </a:p>
        </p:txBody>
      </p:sp>
      <p:sp>
        <p:nvSpPr>
          <p:cNvPr id="712" name="Google Shape;712;p48"/>
          <p:cNvSpPr/>
          <p:nvPr/>
        </p:nvSpPr>
        <p:spPr>
          <a:xfrm>
            <a:off x="4901163" y="3182325"/>
            <a:ext cx="1600200" cy="528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8"/>
          <p:cNvSpPr/>
          <p:nvPr/>
        </p:nvSpPr>
        <p:spPr>
          <a:xfrm>
            <a:off x="5029750" y="3282338"/>
            <a:ext cx="71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F2A51A"/>
                </a:solidFill>
              </a:rPr>
              <a:t>확인 KPI</a:t>
            </a:r>
            <a:endParaRPr sz="1100"/>
          </a:p>
        </p:txBody>
      </p:sp>
      <p:sp>
        <p:nvSpPr>
          <p:cNvPr id="714" name="Google Shape;714;p48"/>
          <p:cNvSpPr/>
          <p:nvPr/>
        </p:nvSpPr>
        <p:spPr>
          <a:xfrm>
            <a:off x="4901062" y="3453788"/>
            <a:ext cx="160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6A7280"/>
                </a:solidFill>
              </a:rPr>
              <a:t>Set-Actual 편차율 / 기준 초과 건수</a:t>
            </a:r>
            <a:endParaRPr sz="1100"/>
          </a:p>
        </p:txBody>
      </p:sp>
      <p:sp>
        <p:nvSpPr>
          <p:cNvPr id="715" name="Google Shape;715;p48"/>
          <p:cNvSpPr/>
          <p:nvPr/>
        </p:nvSpPr>
        <p:spPr>
          <a:xfrm>
            <a:off x="7005830" y="1396413"/>
            <a:ext cx="1943100" cy="2571900"/>
          </a:xfrm>
          <a:prstGeom prst="roundRect">
            <a:avLst>
              <a:gd fmla="val 2941" name="adj"/>
            </a:avLst>
          </a:prstGeom>
          <a:solidFill>
            <a:srgbClr val="F3F6F9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8"/>
          <p:cNvSpPr/>
          <p:nvPr/>
        </p:nvSpPr>
        <p:spPr>
          <a:xfrm>
            <a:off x="7005830" y="1396413"/>
            <a:ext cx="1943100" cy="528600"/>
          </a:xfrm>
          <a:prstGeom prst="roundRect">
            <a:avLst>
              <a:gd fmla="val 8108" name="adj"/>
            </a:avLst>
          </a:prstGeom>
          <a:solidFill>
            <a:srgbClr val="1F456B"/>
          </a:solidFill>
          <a:ln cap="flat" cmpd="sng" w="9525">
            <a:solidFill>
              <a:srgbClr val="1F4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8"/>
          <p:cNvSpPr/>
          <p:nvPr/>
        </p:nvSpPr>
        <p:spPr>
          <a:xfrm>
            <a:off x="7148705" y="1525000"/>
            <a:ext cx="38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FFFFFF"/>
                </a:solidFill>
              </a:rPr>
              <a:t>04</a:t>
            </a:r>
            <a:endParaRPr sz="1100"/>
          </a:p>
        </p:txBody>
      </p:sp>
      <p:sp>
        <p:nvSpPr>
          <p:cNvPr id="718" name="Google Shape;718;p48"/>
          <p:cNvSpPr/>
          <p:nvPr/>
        </p:nvSpPr>
        <p:spPr>
          <a:xfrm>
            <a:off x="7620193" y="1589294"/>
            <a:ext cx="10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FFFF"/>
                </a:solidFill>
              </a:rPr>
              <a:t>3~4주</a:t>
            </a:r>
            <a:endParaRPr sz="1300"/>
          </a:p>
        </p:txBody>
      </p:sp>
      <p:sp>
        <p:nvSpPr>
          <p:cNvPr id="719" name="Google Shape;719;p48"/>
          <p:cNvSpPr/>
          <p:nvPr/>
        </p:nvSpPr>
        <p:spPr>
          <a:xfrm>
            <a:off x="7005830" y="1895469"/>
            <a:ext cx="1943100" cy="57000"/>
          </a:xfrm>
          <a:prstGeom prst="rect">
            <a:avLst/>
          </a:prstGeom>
          <a:solidFill>
            <a:srgbClr val="B3132E"/>
          </a:solidFill>
          <a:ln cap="flat" cmpd="sng" w="9525">
            <a:solidFill>
              <a:srgbClr val="B313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8"/>
          <p:cNvSpPr/>
          <p:nvPr/>
        </p:nvSpPr>
        <p:spPr>
          <a:xfrm>
            <a:off x="7177280" y="2196513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73657"/>
                </a:solidFill>
              </a:rPr>
              <a:t>Rough 조건 최적화</a:t>
            </a:r>
            <a:endParaRPr sz="1100"/>
          </a:p>
        </p:txBody>
      </p:sp>
      <p:sp>
        <p:nvSpPr>
          <p:cNvPr id="721" name="Google Shape;721;p48"/>
          <p:cNvSpPr/>
          <p:nvPr/>
        </p:nvSpPr>
        <p:spPr>
          <a:xfrm>
            <a:off x="7177280" y="2582275"/>
            <a:ext cx="16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Feed Rate · RPM · 가공 압력별 </a:t>
            </a:r>
            <a:r>
              <a:rPr lang="ko" sz="1000">
                <a:solidFill>
                  <a:srgbClr val="173657"/>
                </a:solidFill>
              </a:rPr>
              <a:t>단계적 </a:t>
            </a:r>
            <a:r>
              <a:rPr b="0" lang="ko" sz="1000">
                <a:solidFill>
                  <a:srgbClr val="173657"/>
                </a:solidFill>
              </a:rPr>
              <a:t>영향 검증</a:t>
            </a:r>
            <a:endParaRPr sz="1100"/>
          </a:p>
        </p:txBody>
      </p:sp>
      <p:sp>
        <p:nvSpPr>
          <p:cNvPr id="722" name="Google Shape;722;p48"/>
          <p:cNvSpPr/>
          <p:nvPr/>
        </p:nvSpPr>
        <p:spPr>
          <a:xfrm>
            <a:off x="7177280" y="3182350"/>
            <a:ext cx="1600200" cy="528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8"/>
          <p:cNvSpPr/>
          <p:nvPr/>
        </p:nvSpPr>
        <p:spPr>
          <a:xfrm>
            <a:off x="7305868" y="3282363"/>
            <a:ext cx="71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B3132E"/>
                </a:solidFill>
              </a:rPr>
              <a:t>확인 KPI</a:t>
            </a:r>
            <a:endParaRPr sz="1100"/>
          </a:p>
        </p:txBody>
      </p:sp>
      <p:sp>
        <p:nvSpPr>
          <p:cNvPr id="724" name="Google Shape;724;p48"/>
          <p:cNvSpPr/>
          <p:nvPr/>
        </p:nvSpPr>
        <p:spPr>
          <a:xfrm>
            <a:off x="7191580" y="3453813"/>
            <a:ext cx="160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6A7280"/>
                </a:solidFill>
              </a:rPr>
              <a:t>Crack NG / TTV NG / 동시 Pass</a:t>
            </a:r>
            <a:endParaRPr sz="1100"/>
          </a:p>
        </p:txBody>
      </p:sp>
      <p:sp>
        <p:nvSpPr>
          <p:cNvPr id="725" name="Google Shape;725;p48"/>
          <p:cNvSpPr/>
          <p:nvPr/>
        </p:nvSpPr>
        <p:spPr>
          <a:xfrm>
            <a:off x="2142012" y="2603963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726" name="Google Shape;726;p48"/>
          <p:cNvSpPr/>
          <p:nvPr/>
        </p:nvSpPr>
        <p:spPr>
          <a:xfrm>
            <a:off x="4401570" y="2614768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727" name="Google Shape;727;p48"/>
          <p:cNvSpPr/>
          <p:nvPr/>
        </p:nvSpPr>
        <p:spPr>
          <a:xfrm>
            <a:off x="6659108" y="2629013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9AABB8"/>
                </a:solidFill>
              </a:rPr>
              <a:t>→</a:t>
            </a:r>
            <a:endParaRPr sz="1100"/>
          </a:p>
        </p:txBody>
      </p:sp>
      <p:sp>
        <p:nvSpPr>
          <p:cNvPr id="728" name="Google Shape;728;p48"/>
          <p:cNvSpPr/>
          <p:nvPr/>
        </p:nvSpPr>
        <p:spPr>
          <a:xfrm>
            <a:off x="685800" y="4271963"/>
            <a:ext cx="7772400" cy="357188"/>
          </a:xfrm>
          <a:prstGeom prst="roundRect">
            <a:avLst>
              <a:gd fmla="val 12000" name="adj"/>
            </a:avLst>
          </a:prstGeom>
          <a:solidFill>
            <a:srgbClr val="E8F7F2"/>
          </a:solidFill>
          <a:ln cap="flat" cmpd="sng" w="9525">
            <a:solidFill>
              <a:srgbClr val="BDE7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48"/>
          <p:cNvSpPr/>
          <p:nvPr/>
        </p:nvSpPr>
        <p:spPr>
          <a:xfrm>
            <a:off x="871550" y="4286774"/>
            <a:ext cx="7857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9C7A3"/>
                </a:solidFill>
              </a:rPr>
              <a:t>메시지</a:t>
            </a:r>
            <a:endParaRPr sz="1100"/>
          </a:p>
        </p:txBody>
      </p:sp>
      <p:sp>
        <p:nvSpPr>
          <p:cNvPr id="730" name="Google Shape;730;p48"/>
          <p:cNvSpPr/>
          <p:nvPr/>
        </p:nvSpPr>
        <p:spPr>
          <a:xfrm>
            <a:off x="1757385" y="4271900"/>
            <a:ext cx="6700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센서·Chuck으로 측정과 고정 상태를 먼저 안정화한 뒤, Set-Actual 기준과 Rough 조건 DOE로 Crack/TTV를</a:t>
            </a:r>
            <a:r>
              <a:rPr lang="ko" sz="1000">
                <a:solidFill>
                  <a:srgbClr val="173657"/>
                </a:solidFill>
              </a:rPr>
              <a:t> </a:t>
            </a:r>
            <a:r>
              <a:rPr b="0" lang="ko" sz="1000">
                <a:solidFill>
                  <a:srgbClr val="173657"/>
                </a:solidFill>
              </a:rPr>
              <a:t>낮춘다.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203200" y="1043076"/>
            <a:ext cx="8868900" cy="9138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203200" y="2902849"/>
            <a:ext cx="8868900" cy="9138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7" name="Google Shape;737;p49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49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 실행 계획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9"/>
          <p:cNvSpPr/>
          <p:nvPr/>
        </p:nvSpPr>
        <p:spPr>
          <a:xfrm>
            <a:off x="3087428" y="784325"/>
            <a:ext cx="576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39"/>
              <a:buFont typeface="Malgun Gothic"/>
              <a:buNone/>
            </a:pPr>
            <a:r>
              <a:rPr b="1" i="0" lang="ko" sz="103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8/11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9"/>
          <p:cNvSpPr/>
          <p:nvPr/>
        </p:nvSpPr>
        <p:spPr>
          <a:xfrm>
            <a:off x="4333504" y="784325"/>
            <a:ext cx="576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39"/>
              <a:buFont typeface="Malgun Gothic"/>
              <a:buNone/>
            </a:pPr>
            <a:r>
              <a:rPr b="1" i="0" lang="ko" sz="103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8/18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9"/>
          <p:cNvSpPr/>
          <p:nvPr/>
        </p:nvSpPr>
        <p:spPr>
          <a:xfrm>
            <a:off x="5579580" y="784325"/>
            <a:ext cx="576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39"/>
              <a:buFont typeface="Malgun Gothic"/>
              <a:buNone/>
            </a:pPr>
            <a:r>
              <a:rPr b="1" i="0" lang="ko" sz="103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8/25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9"/>
          <p:cNvSpPr/>
          <p:nvPr/>
        </p:nvSpPr>
        <p:spPr>
          <a:xfrm>
            <a:off x="6825656" y="784325"/>
            <a:ext cx="576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39"/>
              <a:buFont typeface="Malgun Gothic"/>
              <a:buNone/>
            </a:pPr>
            <a:r>
              <a:rPr b="1" i="0" lang="ko" sz="103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9/1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9"/>
          <p:cNvSpPr/>
          <p:nvPr/>
        </p:nvSpPr>
        <p:spPr>
          <a:xfrm>
            <a:off x="8071733" y="784325"/>
            <a:ext cx="576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39"/>
              <a:buFont typeface="Malgun Gothic"/>
              <a:buNone/>
            </a:pPr>
            <a:r>
              <a:rPr b="1" i="0" lang="ko" sz="1039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9/8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49"/>
          <p:cNvCxnSpPr/>
          <p:nvPr/>
        </p:nvCxnSpPr>
        <p:spPr>
          <a:xfrm>
            <a:off x="3375850" y="1043076"/>
            <a:ext cx="0" cy="3760200"/>
          </a:xfrm>
          <a:prstGeom prst="straightConnector1">
            <a:avLst/>
          </a:prstGeom>
          <a:noFill/>
          <a:ln cap="flat" cmpd="sng" w="13325">
            <a:solidFill>
              <a:srgbClr val="AEC6D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5" name="Google Shape;745;p49"/>
          <p:cNvCxnSpPr/>
          <p:nvPr/>
        </p:nvCxnSpPr>
        <p:spPr>
          <a:xfrm>
            <a:off x="4621927" y="1043076"/>
            <a:ext cx="0" cy="3760200"/>
          </a:xfrm>
          <a:prstGeom prst="straightConnector1">
            <a:avLst/>
          </a:prstGeom>
          <a:noFill/>
          <a:ln cap="flat" cmpd="sng" w="13325">
            <a:solidFill>
              <a:srgbClr val="AEC6D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6" name="Google Shape;746;p49"/>
          <p:cNvCxnSpPr/>
          <p:nvPr/>
        </p:nvCxnSpPr>
        <p:spPr>
          <a:xfrm>
            <a:off x="5868003" y="1043076"/>
            <a:ext cx="0" cy="3760200"/>
          </a:xfrm>
          <a:prstGeom prst="straightConnector1">
            <a:avLst/>
          </a:prstGeom>
          <a:noFill/>
          <a:ln cap="flat" cmpd="sng" w="13325">
            <a:solidFill>
              <a:srgbClr val="AEC6D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7" name="Google Shape;747;p49"/>
          <p:cNvCxnSpPr/>
          <p:nvPr/>
        </p:nvCxnSpPr>
        <p:spPr>
          <a:xfrm>
            <a:off x="7114080" y="1043076"/>
            <a:ext cx="0" cy="3760200"/>
          </a:xfrm>
          <a:prstGeom prst="straightConnector1">
            <a:avLst/>
          </a:prstGeom>
          <a:noFill/>
          <a:ln cap="flat" cmpd="sng" w="13325">
            <a:solidFill>
              <a:srgbClr val="AEC6D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8" name="Google Shape;748;p49"/>
          <p:cNvCxnSpPr/>
          <p:nvPr/>
        </p:nvCxnSpPr>
        <p:spPr>
          <a:xfrm>
            <a:off x="8360156" y="1043076"/>
            <a:ext cx="0" cy="3760200"/>
          </a:xfrm>
          <a:prstGeom prst="straightConnector1">
            <a:avLst/>
          </a:prstGeom>
          <a:noFill/>
          <a:ln cap="flat" cmpd="sng" w="13325">
            <a:solidFill>
              <a:srgbClr val="AEC6DC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9" name="Google Shape;749;p49"/>
          <p:cNvCxnSpPr/>
          <p:nvPr/>
        </p:nvCxnSpPr>
        <p:spPr>
          <a:xfrm>
            <a:off x="203200" y="1010732"/>
            <a:ext cx="8868900" cy="0"/>
          </a:xfrm>
          <a:prstGeom prst="straightConnector1">
            <a:avLst/>
          </a:prstGeom>
          <a:noFill/>
          <a:ln cap="flat" cmpd="sng" w="16650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49"/>
          <p:cNvCxnSpPr/>
          <p:nvPr/>
        </p:nvCxnSpPr>
        <p:spPr>
          <a:xfrm>
            <a:off x="2877760" y="1010926"/>
            <a:ext cx="0" cy="3760200"/>
          </a:xfrm>
          <a:prstGeom prst="straightConnector1">
            <a:avLst/>
          </a:prstGeom>
          <a:noFill/>
          <a:ln cap="flat" cmpd="sng" w="16650">
            <a:solidFill>
              <a:srgbClr val="DCE1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1" name="Google Shape;751;p49"/>
          <p:cNvSpPr/>
          <p:nvPr/>
        </p:nvSpPr>
        <p:spPr>
          <a:xfrm>
            <a:off x="203200" y="784325"/>
            <a:ext cx="2884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049"/>
              <a:buFont typeface="Malgun Gothic"/>
              <a:buNone/>
            </a:pPr>
            <a:r>
              <a:rPr b="1" i="0" lang="ko" sz="1149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· 담당 · 검증 핵심</a:t>
            </a:r>
            <a:endParaRPr b="0" i="0" sz="11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9"/>
          <p:cNvSpPr/>
          <p:nvPr/>
        </p:nvSpPr>
        <p:spPr>
          <a:xfrm>
            <a:off x="203200" y="1123936"/>
            <a:ext cx="31005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54"/>
              <a:buFont typeface="Malgun Gothic"/>
              <a:buNone/>
            </a:pPr>
            <a:r>
              <a:rPr b="1" i="0" lang="ko" sz="1154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Wafer Chuck 이상 점검</a:t>
            </a:r>
            <a:endParaRPr b="0" i="0" sz="11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9"/>
          <p:cNvSpPr/>
          <p:nvPr/>
        </p:nvSpPr>
        <p:spPr>
          <a:xfrm>
            <a:off x="203200" y="1382687"/>
            <a:ext cx="3100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44"/>
              <a:buFont typeface="Malgun Gothic"/>
              <a:buNone/>
            </a:pPr>
            <a:r>
              <a:rPr b="1" i="0" lang="ko" sz="944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정OO프로</a:t>
            </a:r>
            <a:endParaRPr b="0" i="0" sz="9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9"/>
          <p:cNvSpPr/>
          <p:nvPr/>
        </p:nvSpPr>
        <p:spPr>
          <a:xfrm>
            <a:off x="203200" y="1609094"/>
            <a:ext cx="3100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3"/>
              </a:buClr>
              <a:buSzPts val="839"/>
              <a:buFont typeface="Malgun Gothic"/>
              <a:buNone/>
            </a:pPr>
            <a:r>
              <a:rPr b="0" i="0" lang="ko" sz="839" u="none" cap="none" strike="noStrike">
                <a:solidFill>
                  <a:srgbClr val="5A647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이물·평탄도·Vacuum·위치 Mapping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9"/>
          <p:cNvSpPr/>
          <p:nvPr/>
        </p:nvSpPr>
        <p:spPr>
          <a:xfrm>
            <a:off x="3375850" y="1237139"/>
            <a:ext cx="356100" cy="274800"/>
          </a:xfrm>
          <a:prstGeom prst="roundRect">
            <a:avLst>
              <a:gd fmla="val 14706" name="adj"/>
            </a:avLst>
          </a:prstGeom>
          <a:solidFill>
            <a:srgbClr val="27AE73"/>
          </a:solidFill>
          <a:ln>
            <a:noFill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9"/>
          <p:cNvSpPr/>
          <p:nvPr/>
        </p:nvSpPr>
        <p:spPr>
          <a:xfrm>
            <a:off x="3789557" y="1237139"/>
            <a:ext cx="8652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73"/>
              </a:buClr>
              <a:buSzPts val="839"/>
              <a:buFont typeface="Malgun Gothic"/>
              <a:buNone/>
            </a:pPr>
            <a:r>
              <a:rPr b="1" i="0" lang="ko" sz="1039" u="none" cap="none" strike="noStrike">
                <a:solidFill>
                  <a:srgbClr val="27AE73"/>
                </a:solidFill>
                <a:latin typeface="Malgun Gothic"/>
                <a:ea typeface="Malgun Gothic"/>
                <a:cs typeface="Malgun Gothic"/>
                <a:sym typeface="Malgun Gothic"/>
              </a:rPr>
              <a:t>~08.13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9"/>
          <p:cNvSpPr/>
          <p:nvPr/>
        </p:nvSpPr>
        <p:spPr>
          <a:xfrm>
            <a:off x="3666977" y="1301827"/>
            <a:ext cx="129900" cy="145200"/>
          </a:xfrm>
          <a:prstGeom prst="diamond">
            <a:avLst/>
          </a:prstGeom>
          <a:solidFill>
            <a:srgbClr val="FFFFFF"/>
          </a:solidFill>
          <a:ln cap="flat" cmpd="sng" w="26650">
            <a:solidFill>
              <a:srgbClr val="27A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9"/>
          <p:cNvSpPr/>
          <p:nvPr/>
        </p:nvSpPr>
        <p:spPr>
          <a:xfrm>
            <a:off x="3375850" y="1528234"/>
            <a:ext cx="4686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839"/>
              <a:buFont typeface="Malgun Gothic"/>
              <a:buNone/>
            </a:pPr>
            <a:r>
              <a:rPr b="0" i="0" lang="ko" sz="1039" u="none" cap="none" strike="noStrik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 평탄도·Vacuum 기준 만족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9"/>
          <p:cNvSpPr/>
          <p:nvPr/>
        </p:nvSpPr>
        <p:spPr>
          <a:xfrm>
            <a:off x="203200" y="2053822"/>
            <a:ext cx="31005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54"/>
              <a:buFont typeface="Malgun Gothic"/>
              <a:buNone/>
            </a:pPr>
            <a:r>
              <a:rPr b="1" i="0" lang="ko" sz="1154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Sensor Calibration</a:t>
            </a:r>
            <a:endParaRPr b="0" i="0" sz="11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9"/>
          <p:cNvSpPr/>
          <p:nvPr/>
        </p:nvSpPr>
        <p:spPr>
          <a:xfrm>
            <a:off x="203200" y="2312573"/>
            <a:ext cx="3100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44"/>
              <a:buFont typeface="Malgun Gothic"/>
              <a:buNone/>
            </a:pPr>
            <a:r>
              <a:rPr b="1" i="0" lang="ko" sz="944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성OO프로</a:t>
            </a:r>
            <a:endParaRPr b="0" i="0" sz="9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9"/>
          <p:cNvSpPr/>
          <p:nvPr/>
        </p:nvSpPr>
        <p:spPr>
          <a:xfrm>
            <a:off x="203200" y="2538980"/>
            <a:ext cx="3100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3"/>
              </a:buClr>
              <a:buSzPts val="839"/>
              <a:buFont typeface="Malgun Gothic"/>
              <a:buNone/>
            </a:pPr>
            <a:r>
              <a:rPr b="0" i="0" lang="ko" sz="839" u="none" cap="none" strike="noStrike">
                <a:solidFill>
                  <a:srgbClr val="5A647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계측기 Calibration·Reference 교차검증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3375850" y="2167026"/>
            <a:ext cx="356100" cy="274800"/>
          </a:xfrm>
          <a:prstGeom prst="roundRect">
            <a:avLst>
              <a:gd fmla="val 14706" name="adj"/>
            </a:avLst>
          </a:prstGeom>
          <a:solidFill>
            <a:srgbClr val="7A5EA6"/>
          </a:solidFill>
          <a:ln>
            <a:noFill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9"/>
          <p:cNvSpPr/>
          <p:nvPr/>
        </p:nvSpPr>
        <p:spPr>
          <a:xfrm>
            <a:off x="3789557" y="2167026"/>
            <a:ext cx="8652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EA6"/>
              </a:buClr>
              <a:buSzPts val="839"/>
              <a:buFont typeface="Malgun Gothic"/>
              <a:buNone/>
            </a:pPr>
            <a:r>
              <a:rPr b="1" i="0" lang="ko" sz="1039" u="none" cap="none" strike="noStrike">
                <a:solidFill>
                  <a:srgbClr val="7A5EA6"/>
                </a:solidFill>
                <a:latin typeface="Malgun Gothic"/>
                <a:ea typeface="Malgun Gothic"/>
                <a:cs typeface="Malgun Gothic"/>
                <a:sym typeface="Malgun Gothic"/>
              </a:rPr>
              <a:t>~08.13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9"/>
          <p:cNvSpPr/>
          <p:nvPr/>
        </p:nvSpPr>
        <p:spPr>
          <a:xfrm>
            <a:off x="3666977" y="2231713"/>
            <a:ext cx="129900" cy="145200"/>
          </a:xfrm>
          <a:prstGeom prst="diamond">
            <a:avLst/>
          </a:prstGeom>
          <a:solidFill>
            <a:srgbClr val="FFFFFF"/>
          </a:solidFill>
          <a:ln cap="flat" cmpd="sng" w="26650">
            <a:solidFill>
              <a:srgbClr val="7A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9"/>
          <p:cNvSpPr/>
          <p:nvPr/>
        </p:nvSpPr>
        <p:spPr>
          <a:xfrm>
            <a:off x="3375850" y="2458121"/>
            <a:ext cx="4686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839"/>
              <a:buFont typeface="Malgun Gothic"/>
              <a:buNone/>
            </a:pPr>
            <a:r>
              <a:rPr b="0" i="0" lang="ko" sz="1039" u="none" cap="none" strike="noStrik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 측정편차 규격·Repeatability 확보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9"/>
          <p:cNvSpPr/>
          <p:nvPr/>
        </p:nvSpPr>
        <p:spPr>
          <a:xfrm>
            <a:off x="203200" y="2983708"/>
            <a:ext cx="31005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54"/>
              <a:buFont typeface="Malgun Gothic"/>
              <a:buNone/>
            </a:pPr>
            <a:r>
              <a:rPr b="1" i="0" lang="ko" sz="1154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Recipe Set-Actual 기준</a:t>
            </a:r>
            <a:endParaRPr b="0" i="0" sz="11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9"/>
          <p:cNvSpPr/>
          <p:nvPr/>
        </p:nvSpPr>
        <p:spPr>
          <a:xfrm>
            <a:off x="203200" y="3242459"/>
            <a:ext cx="3100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44"/>
              <a:buFont typeface="Malgun Gothic"/>
              <a:buNone/>
            </a:pPr>
            <a:r>
              <a:rPr b="1" i="0" lang="ko" sz="944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김OO프로</a:t>
            </a:r>
            <a:endParaRPr b="0" i="0" sz="9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203200" y="3468867"/>
            <a:ext cx="3100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3"/>
              </a:buClr>
              <a:buSzPts val="839"/>
              <a:buFont typeface="Malgun Gothic"/>
              <a:buNone/>
            </a:pPr>
            <a:r>
              <a:rPr b="0" i="0" lang="ko" sz="839" u="none" cap="none" strike="noStrike">
                <a:solidFill>
                  <a:srgbClr val="5A647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 vs Actual 편차·정상/불량군 비교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9"/>
          <p:cNvSpPr/>
          <p:nvPr/>
        </p:nvSpPr>
        <p:spPr>
          <a:xfrm>
            <a:off x="3375850" y="3096912"/>
            <a:ext cx="3560100" cy="274800"/>
          </a:xfrm>
          <a:prstGeom prst="roundRect">
            <a:avLst>
              <a:gd fmla="val 14706" name="adj"/>
            </a:avLst>
          </a:prstGeom>
          <a:solidFill>
            <a:srgbClr val="2F6FB5"/>
          </a:solidFill>
          <a:ln>
            <a:noFill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9"/>
          <p:cNvSpPr/>
          <p:nvPr/>
        </p:nvSpPr>
        <p:spPr>
          <a:xfrm>
            <a:off x="3375850" y="3096912"/>
            <a:ext cx="35601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4"/>
              <a:buFont typeface="Malgun Gothic"/>
              <a:buNone/>
            </a:pPr>
            <a:r>
              <a:rPr b="1" i="0" lang="ko" sz="1144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3주</a:t>
            </a:r>
            <a:endParaRPr b="0" i="0" sz="11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6871174" y="3161600"/>
            <a:ext cx="129900" cy="145200"/>
          </a:xfrm>
          <a:prstGeom prst="diamond">
            <a:avLst/>
          </a:prstGeom>
          <a:solidFill>
            <a:srgbClr val="FFFFFF"/>
          </a:solidFill>
          <a:ln cap="flat" cmpd="sng" w="26650">
            <a:solidFill>
              <a:srgbClr val="2F6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9"/>
          <p:cNvSpPr/>
          <p:nvPr/>
        </p:nvSpPr>
        <p:spPr>
          <a:xfrm>
            <a:off x="3375850" y="3388007"/>
            <a:ext cx="4686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839"/>
              <a:buFont typeface="Malgun Gothic"/>
              <a:buNone/>
            </a:pPr>
            <a:r>
              <a:rPr b="0" i="0" lang="ko" sz="1039" u="none" cap="none" strike="noStrik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 허용편차 기준 수립·시스템 등록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9"/>
          <p:cNvSpPr/>
          <p:nvPr/>
        </p:nvSpPr>
        <p:spPr>
          <a:xfrm>
            <a:off x="203200" y="3913595"/>
            <a:ext cx="31005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ts val="1154"/>
              <a:buFont typeface="Malgun Gothic"/>
              <a:buNone/>
            </a:pPr>
            <a:r>
              <a:rPr b="1" i="0" lang="ko" sz="1154" u="none" cap="none" strike="noStrike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Rough Grinding 조건 최적화</a:t>
            </a:r>
            <a:endParaRPr b="0" i="0" sz="11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9"/>
          <p:cNvSpPr/>
          <p:nvPr/>
        </p:nvSpPr>
        <p:spPr>
          <a:xfrm>
            <a:off x="203200" y="4172346"/>
            <a:ext cx="3100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44"/>
              <a:buFont typeface="Malgun Gothic"/>
              <a:buNone/>
            </a:pPr>
            <a:r>
              <a:rPr b="1" i="0" lang="ko" sz="944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한OO</a:t>
            </a:r>
            <a:r>
              <a:rPr b="1" lang="ko" sz="944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b="1" i="0" lang="ko" sz="944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이OO프로</a:t>
            </a:r>
            <a:endParaRPr b="0" i="0" sz="9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9"/>
          <p:cNvSpPr/>
          <p:nvPr/>
        </p:nvSpPr>
        <p:spPr>
          <a:xfrm>
            <a:off x="203200" y="4398753"/>
            <a:ext cx="3100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3"/>
              </a:buClr>
              <a:buSzPts val="839"/>
              <a:buFont typeface="Malgun Gothic"/>
              <a:buNone/>
            </a:pPr>
            <a:r>
              <a:rPr b="0" i="0" lang="ko" sz="839" u="none" cap="none" strike="noStrike">
                <a:solidFill>
                  <a:srgbClr val="5A6473"/>
                </a:solidFill>
                <a:latin typeface="Malgun Gothic"/>
                <a:ea typeface="Malgun Gothic"/>
                <a:cs typeface="Malgun Gothic"/>
                <a:sym typeface="Malgun Gothic"/>
              </a:rPr>
              <a:t>Feed·RPM·가공압력 DOE → Crack·TTV 최적조건</a:t>
            </a:r>
            <a:endParaRPr b="0" i="0" sz="8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9"/>
          <p:cNvSpPr/>
          <p:nvPr/>
        </p:nvSpPr>
        <p:spPr>
          <a:xfrm>
            <a:off x="3375850" y="4026798"/>
            <a:ext cx="5340300" cy="274800"/>
          </a:xfrm>
          <a:prstGeom prst="roundRect">
            <a:avLst>
              <a:gd fmla="val 1470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9"/>
          <p:cNvSpPr/>
          <p:nvPr/>
        </p:nvSpPr>
        <p:spPr>
          <a:xfrm>
            <a:off x="3375850" y="4026798"/>
            <a:ext cx="53403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4"/>
              <a:buFont typeface="Malgun Gothic"/>
              <a:buNone/>
            </a:pPr>
            <a:r>
              <a:rPr b="1" i="0" lang="ko" sz="1144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30일</a:t>
            </a:r>
            <a:endParaRPr b="0" i="0" sz="11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9"/>
          <p:cNvSpPr/>
          <p:nvPr/>
        </p:nvSpPr>
        <p:spPr>
          <a:xfrm>
            <a:off x="8651283" y="4091486"/>
            <a:ext cx="129900" cy="145200"/>
          </a:xfrm>
          <a:prstGeom prst="diamond">
            <a:avLst/>
          </a:prstGeom>
          <a:solidFill>
            <a:srgbClr val="FFFFFF"/>
          </a:solidFill>
          <a:ln cap="flat" cmpd="sng" w="266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25" lIns="72025" spcFirstLastPara="1" rIns="72025" wrap="square" tIns="7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9"/>
          <p:cNvSpPr/>
          <p:nvPr/>
        </p:nvSpPr>
        <p:spPr>
          <a:xfrm>
            <a:off x="3375850" y="4317893"/>
            <a:ext cx="46869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24E"/>
              </a:buClr>
              <a:buSzPts val="839"/>
              <a:buFont typeface="Malgun Gothic"/>
              <a:buNone/>
            </a:pPr>
            <a:r>
              <a:rPr b="0" i="0" lang="ko" sz="1039" u="none" cap="none" strike="noStrike">
                <a:solidFill>
                  <a:srgbClr val="3A42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 Crack&lt;3 · TTV&lt;2μm 동시 만족</a:t>
            </a:r>
            <a:endParaRPr b="0" i="0" sz="10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0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C79B7"/>
                </a:solidFill>
              </a:rPr>
              <a:t>BG 개선안</a:t>
            </a:r>
            <a:endParaRPr sz="1100"/>
          </a:p>
        </p:txBody>
      </p:sp>
      <p:sp>
        <p:nvSpPr>
          <p:cNvPr id="786" name="Google Shape;786;p50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3657"/>
                </a:solidFill>
              </a:rPr>
              <a:t>기대효과</a:t>
            </a:r>
            <a:endParaRPr sz="1100"/>
          </a:p>
        </p:txBody>
      </p:sp>
      <p:sp>
        <p:nvSpPr>
          <p:cNvPr id="787" name="Google Shape;787;p50"/>
          <p:cNvSpPr/>
          <p:nvPr/>
        </p:nvSpPr>
        <p:spPr>
          <a:xfrm>
            <a:off x="400050" y="885825"/>
            <a:ext cx="771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A7280"/>
                </a:solidFill>
              </a:rPr>
              <a:t>별도로 제작한 몬테카를로 시뮬레이션으로 비교 분석</a:t>
            </a:r>
            <a:endParaRPr sz="1100"/>
          </a:p>
        </p:txBody>
      </p:sp>
      <p:sp>
        <p:nvSpPr>
          <p:cNvPr id="788" name="Google Shape;788;p50"/>
          <p:cNvSpPr/>
          <p:nvPr/>
        </p:nvSpPr>
        <p:spPr>
          <a:xfrm>
            <a:off x="485775" y="1414463"/>
            <a:ext cx="2571750" cy="2657475"/>
          </a:xfrm>
          <a:prstGeom prst="roundRect">
            <a:avLst>
              <a:gd fmla="val 2222" name="adj"/>
            </a:avLst>
          </a:prstGeom>
          <a:solidFill>
            <a:srgbClr val="EAF3FA"/>
          </a:solidFill>
          <a:ln cap="flat" cmpd="sng" w="9525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0"/>
          <p:cNvSpPr/>
          <p:nvPr/>
        </p:nvSpPr>
        <p:spPr>
          <a:xfrm>
            <a:off x="65722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73657"/>
                </a:solidFill>
              </a:rPr>
              <a:t>①만 최적화</a:t>
            </a:r>
            <a:endParaRPr sz="1100"/>
          </a:p>
        </p:txBody>
      </p:sp>
      <p:sp>
        <p:nvSpPr>
          <p:cNvPr id="790" name="Google Shape;790;p50"/>
          <p:cNvSpPr/>
          <p:nvPr/>
        </p:nvSpPr>
        <p:spPr>
          <a:xfrm>
            <a:off x="65722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800">
                <a:solidFill>
                  <a:srgbClr val="6A7280"/>
                </a:solidFill>
              </a:rPr>
              <a:t>Rough Grinding 조건 최적화 중심</a:t>
            </a:r>
            <a:endParaRPr sz="1100"/>
          </a:p>
        </p:txBody>
      </p:sp>
      <p:sp>
        <p:nvSpPr>
          <p:cNvPr id="791" name="Google Shape;791;p50"/>
          <p:cNvSpPr/>
          <p:nvPr/>
        </p:nvSpPr>
        <p:spPr>
          <a:xfrm>
            <a:off x="700087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792" name="Google Shape;792;p50"/>
          <p:cNvSpPr/>
          <p:nvPr/>
        </p:nvSpPr>
        <p:spPr>
          <a:xfrm>
            <a:off x="155733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9B7"/>
                </a:solidFill>
              </a:rPr>
              <a:t>38.3% → 21.7%</a:t>
            </a:r>
            <a:endParaRPr sz="1100"/>
          </a:p>
        </p:txBody>
      </p:sp>
      <p:sp>
        <p:nvSpPr>
          <p:cNvPr id="793" name="Google Shape;793;p50"/>
          <p:cNvSpPr/>
          <p:nvPr/>
        </p:nvSpPr>
        <p:spPr>
          <a:xfrm>
            <a:off x="700088" y="2571750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0"/>
          <p:cNvSpPr/>
          <p:nvPr/>
        </p:nvSpPr>
        <p:spPr>
          <a:xfrm>
            <a:off x="700087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795" name="Google Shape;795;p50"/>
          <p:cNvSpPr/>
          <p:nvPr/>
        </p:nvSpPr>
        <p:spPr>
          <a:xfrm>
            <a:off x="155733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9B7"/>
                </a:solidFill>
              </a:rPr>
              <a:t>+16.6%p</a:t>
            </a:r>
            <a:endParaRPr sz="1100"/>
          </a:p>
        </p:txBody>
      </p:sp>
      <p:sp>
        <p:nvSpPr>
          <p:cNvPr id="796" name="Google Shape;796;p50"/>
          <p:cNvSpPr/>
          <p:nvPr/>
        </p:nvSpPr>
        <p:spPr>
          <a:xfrm>
            <a:off x="700088" y="2943225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50"/>
          <p:cNvSpPr/>
          <p:nvPr/>
        </p:nvSpPr>
        <p:spPr>
          <a:xfrm>
            <a:off x="700087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798" name="Google Shape;798;p50"/>
          <p:cNvSpPr/>
          <p:nvPr/>
        </p:nvSpPr>
        <p:spPr>
          <a:xfrm>
            <a:off x="155733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9B7"/>
                </a:solidFill>
              </a:rPr>
              <a:t>-43.3%</a:t>
            </a:r>
            <a:endParaRPr sz="1100"/>
          </a:p>
        </p:txBody>
      </p:sp>
      <p:sp>
        <p:nvSpPr>
          <p:cNvPr id="799" name="Google Shape;799;p50"/>
          <p:cNvSpPr/>
          <p:nvPr/>
        </p:nvSpPr>
        <p:spPr>
          <a:xfrm>
            <a:off x="700088" y="3314700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0"/>
          <p:cNvSpPr/>
          <p:nvPr/>
        </p:nvSpPr>
        <p:spPr>
          <a:xfrm>
            <a:off x="700087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801" name="Google Shape;801;p50"/>
          <p:cNvSpPr/>
          <p:nvPr/>
        </p:nvSpPr>
        <p:spPr>
          <a:xfrm>
            <a:off x="155733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9B7"/>
                </a:solidFill>
              </a:rPr>
              <a:t>연 83.03억</a:t>
            </a:r>
            <a:endParaRPr sz="1100"/>
          </a:p>
        </p:txBody>
      </p:sp>
      <p:sp>
        <p:nvSpPr>
          <p:cNvPr id="802" name="Google Shape;802;p50"/>
          <p:cNvSpPr/>
          <p:nvPr/>
        </p:nvSpPr>
        <p:spPr>
          <a:xfrm>
            <a:off x="700088" y="3686175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50"/>
          <p:cNvSpPr/>
          <p:nvPr/>
        </p:nvSpPr>
        <p:spPr>
          <a:xfrm>
            <a:off x="78581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2C79B7"/>
                </a:solidFill>
              </a:rPr>
              <a:t>가장 직접적인 Crack/TTV 개선축</a:t>
            </a:r>
            <a:endParaRPr sz="1100">
              <a:solidFill>
                <a:srgbClr val="2C79B7"/>
              </a:solidFill>
            </a:endParaRPr>
          </a:p>
        </p:txBody>
      </p:sp>
      <p:sp>
        <p:nvSpPr>
          <p:cNvPr id="804" name="Google Shape;804;p50"/>
          <p:cNvSpPr/>
          <p:nvPr/>
        </p:nvSpPr>
        <p:spPr>
          <a:xfrm>
            <a:off x="3286125" y="1414463"/>
            <a:ext cx="2571750" cy="2657475"/>
          </a:xfrm>
          <a:prstGeom prst="roundRect">
            <a:avLst>
              <a:gd fmla="val 2222" name="adj"/>
            </a:avLst>
          </a:prstGeom>
          <a:solidFill>
            <a:srgbClr val="FFF6E3"/>
          </a:solidFill>
          <a:ln cap="flat" cmpd="sng" w="9525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0"/>
          <p:cNvSpPr/>
          <p:nvPr/>
        </p:nvSpPr>
        <p:spPr>
          <a:xfrm>
            <a:off x="345757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73657"/>
                </a:solidFill>
              </a:rPr>
              <a:t>②~④ 모두 최적화</a:t>
            </a:r>
            <a:endParaRPr sz="1100"/>
          </a:p>
        </p:txBody>
      </p:sp>
      <p:sp>
        <p:nvSpPr>
          <p:cNvPr id="806" name="Google Shape;806;p50"/>
          <p:cNvSpPr/>
          <p:nvPr/>
        </p:nvSpPr>
        <p:spPr>
          <a:xfrm>
            <a:off x="345757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800">
                <a:solidFill>
                  <a:srgbClr val="6A7280"/>
                </a:solidFill>
              </a:rPr>
              <a:t>측정·Chuck·Set-Actual 보조 개선 중심</a:t>
            </a:r>
            <a:endParaRPr sz="1100"/>
          </a:p>
        </p:txBody>
      </p:sp>
      <p:sp>
        <p:nvSpPr>
          <p:cNvPr id="807" name="Google Shape;807;p50"/>
          <p:cNvSpPr/>
          <p:nvPr/>
        </p:nvSpPr>
        <p:spPr>
          <a:xfrm>
            <a:off x="3500438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808" name="Google Shape;808;p50"/>
          <p:cNvSpPr/>
          <p:nvPr/>
        </p:nvSpPr>
        <p:spPr>
          <a:xfrm>
            <a:off x="435768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2A51A"/>
                </a:solidFill>
              </a:rPr>
              <a:t>38.3</a:t>
            </a:r>
            <a:r>
              <a:rPr b="1" lang="ko" sz="1200">
                <a:solidFill>
                  <a:srgbClr val="F2A51A"/>
                </a:solidFill>
              </a:rPr>
              <a:t>% → 28.8%</a:t>
            </a:r>
            <a:endParaRPr sz="1100"/>
          </a:p>
        </p:txBody>
      </p:sp>
      <p:sp>
        <p:nvSpPr>
          <p:cNvPr id="809" name="Google Shape;809;p50"/>
          <p:cNvSpPr/>
          <p:nvPr/>
        </p:nvSpPr>
        <p:spPr>
          <a:xfrm>
            <a:off x="3500438" y="2571750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50"/>
          <p:cNvSpPr/>
          <p:nvPr/>
        </p:nvSpPr>
        <p:spPr>
          <a:xfrm>
            <a:off x="3500438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811" name="Google Shape;811;p50"/>
          <p:cNvSpPr/>
          <p:nvPr/>
        </p:nvSpPr>
        <p:spPr>
          <a:xfrm>
            <a:off x="435768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2A51A"/>
                </a:solidFill>
              </a:rPr>
              <a:t>+9.5%p</a:t>
            </a:r>
            <a:endParaRPr sz="1100"/>
          </a:p>
        </p:txBody>
      </p:sp>
      <p:sp>
        <p:nvSpPr>
          <p:cNvPr id="812" name="Google Shape;812;p50"/>
          <p:cNvSpPr/>
          <p:nvPr/>
        </p:nvSpPr>
        <p:spPr>
          <a:xfrm>
            <a:off x="3500438" y="2943225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0"/>
          <p:cNvSpPr/>
          <p:nvPr/>
        </p:nvSpPr>
        <p:spPr>
          <a:xfrm>
            <a:off x="3500438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814" name="Google Shape;814;p50"/>
          <p:cNvSpPr/>
          <p:nvPr/>
        </p:nvSpPr>
        <p:spPr>
          <a:xfrm>
            <a:off x="435768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2A51A"/>
                </a:solidFill>
              </a:rPr>
              <a:t>-38.4%</a:t>
            </a:r>
            <a:endParaRPr sz="1100"/>
          </a:p>
        </p:txBody>
      </p:sp>
      <p:sp>
        <p:nvSpPr>
          <p:cNvPr id="815" name="Google Shape;815;p50"/>
          <p:cNvSpPr/>
          <p:nvPr/>
        </p:nvSpPr>
        <p:spPr>
          <a:xfrm>
            <a:off x="3500438" y="3314700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0"/>
          <p:cNvSpPr/>
          <p:nvPr/>
        </p:nvSpPr>
        <p:spPr>
          <a:xfrm>
            <a:off x="3500438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817" name="Google Shape;817;p50"/>
          <p:cNvSpPr/>
          <p:nvPr/>
        </p:nvSpPr>
        <p:spPr>
          <a:xfrm>
            <a:off x="435768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2A51A"/>
                </a:solidFill>
              </a:rPr>
              <a:t>연 47.60억</a:t>
            </a:r>
            <a:endParaRPr sz="1100"/>
          </a:p>
        </p:txBody>
      </p:sp>
      <p:sp>
        <p:nvSpPr>
          <p:cNvPr id="818" name="Google Shape;818;p50"/>
          <p:cNvSpPr/>
          <p:nvPr/>
        </p:nvSpPr>
        <p:spPr>
          <a:xfrm>
            <a:off x="3500438" y="3686175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50"/>
          <p:cNvSpPr/>
          <p:nvPr/>
        </p:nvSpPr>
        <p:spPr>
          <a:xfrm>
            <a:off x="3586163" y="3800475"/>
            <a:ext cx="1971675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F2A51A"/>
                </a:solidFill>
              </a:rPr>
              <a:t>측정 신뢰성과 고정 상태 안정화</a:t>
            </a:r>
            <a:endParaRPr sz="1100">
              <a:solidFill>
                <a:srgbClr val="F2A51A"/>
              </a:solidFill>
            </a:endParaRPr>
          </a:p>
        </p:txBody>
      </p:sp>
      <p:sp>
        <p:nvSpPr>
          <p:cNvPr id="820" name="Google Shape;820;p50"/>
          <p:cNvSpPr/>
          <p:nvPr/>
        </p:nvSpPr>
        <p:spPr>
          <a:xfrm>
            <a:off x="6086475" y="1414463"/>
            <a:ext cx="2571750" cy="2657475"/>
          </a:xfrm>
          <a:prstGeom prst="roundRect">
            <a:avLst>
              <a:gd fmla="val 2222" name="adj"/>
            </a:avLst>
          </a:prstGeom>
          <a:solidFill>
            <a:srgbClr val="E8F7F2"/>
          </a:solidFill>
          <a:ln cap="flat" cmpd="sng" w="9525">
            <a:solidFill>
              <a:srgbClr val="19C7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50"/>
          <p:cNvSpPr/>
          <p:nvPr/>
        </p:nvSpPr>
        <p:spPr>
          <a:xfrm>
            <a:off x="6257925" y="1585913"/>
            <a:ext cx="22288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73657"/>
                </a:solidFill>
              </a:rPr>
              <a:t>①~④ 모두 최적화</a:t>
            </a:r>
            <a:endParaRPr sz="1100"/>
          </a:p>
        </p:txBody>
      </p:sp>
      <p:sp>
        <p:nvSpPr>
          <p:cNvPr id="822" name="Google Shape;822;p50"/>
          <p:cNvSpPr/>
          <p:nvPr/>
        </p:nvSpPr>
        <p:spPr>
          <a:xfrm>
            <a:off x="6257925" y="185737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800">
                <a:solidFill>
                  <a:srgbClr val="6A7280"/>
                </a:solidFill>
              </a:rPr>
              <a:t>Rough 조건 + 보조 개선 전체 적용</a:t>
            </a:r>
            <a:endParaRPr sz="1100"/>
          </a:p>
        </p:txBody>
      </p:sp>
      <p:sp>
        <p:nvSpPr>
          <p:cNvPr id="823" name="Google Shape;823;p50"/>
          <p:cNvSpPr/>
          <p:nvPr/>
        </p:nvSpPr>
        <p:spPr>
          <a:xfrm>
            <a:off x="6300788" y="234315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불량률</a:t>
            </a:r>
            <a:endParaRPr sz="1100"/>
          </a:p>
        </p:txBody>
      </p:sp>
      <p:sp>
        <p:nvSpPr>
          <p:cNvPr id="824" name="Google Shape;824;p50"/>
          <p:cNvSpPr/>
          <p:nvPr/>
        </p:nvSpPr>
        <p:spPr>
          <a:xfrm>
            <a:off x="7158038" y="230028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9C7A3"/>
                </a:solidFill>
              </a:rPr>
              <a:t>38.3% → 9.6%</a:t>
            </a:r>
            <a:endParaRPr sz="1100"/>
          </a:p>
        </p:txBody>
      </p:sp>
      <p:sp>
        <p:nvSpPr>
          <p:cNvPr id="825" name="Google Shape;825;p50"/>
          <p:cNvSpPr/>
          <p:nvPr/>
        </p:nvSpPr>
        <p:spPr>
          <a:xfrm>
            <a:off x="6300788" y="2571750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0"/>
          <p:cNvSpPr/>
          <p:nvPr/>
        </p:nvSpPr>
        <p:spPr>
          <a:xfrm>
            <a:off x="6300788" y="271462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Pass 향상</a:t>
            </a:r>
            <a:endParaRPr sz="1100"/>
          </a:p>
        </p:txBody>
      </p:sp>
      <p:sp>
        <p:nvSpPr>
          <p:cNvPr id="827" name="Google Shape;827;p50"/>
          <p:cNvSpPr/>
          <p:nvPr/>
        </p:nvSpPr>
        <p:spPr>
          <a:xfrm>
            <a:off x="7158038" y="267176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9C7A3"/>
                </a:solidFill>
              </a:rPr>
              <a:t>+28.8%p</a:t>
            </a:r>
            <a:endParaRPr sz="1100"/>
          </a:p>
        </p:txBody>
      </p:sp>
      <p:sp>
        <p:nvSpPr>
          <p:cNvPr id="828" name="Google Shape;828;p50"/>
          <p:cNvSpPr/>
          <p:nvPr/>
        </p:nvSpPr>
        <p:spPr>
          <a:xfrm>
            <a:off x="6300788" y="2943225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0"/>
          <p:cNvSpPr/>
          <p:nvPr/>
        </p:nvSpPr>
        <p:spPr>
          <a:xfrm>
            <a:off x="6300788" y="3086100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재작업/클레임</a:t>
            </a:r>
            <a:endParaRPr sz="1100"/>
          </a:p>
        </p:txBody>
      </p:sp>
      <p:sp>
        <p:nvSpPr>
          <p:cNvPr id="830" name="Google Shape;830;p50"/>
          <p:cNvSpPr/>
          <p:nvPr/>
        </p:nvSpPr>
        <p:spPr>
          <a:xfrm>
            <a:off x="7158038" y="3043238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9C7A3"/>
                </a:solidFill>
              </a:rPr>
              <a:t>-75.1%</a:t>
            </a:r>
            <a:endParaRPr sz="1100"/>
          </a:p>
        </p:txBody>
      </p:sp>
      <p:sp>
        <p:nvSpPr>
          <p:cNvPr id="831" name="Google Shape;831;p50"/>
          <p:cNvSpPr/>
          <p:nvPr/>
        </p:nvSpPr>
        <p:spPr>
          <a:xfrm>
            <a:off x="6300788" y="3314700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0"/>
          <p:cNvSpPr/>
          <p:nvPr/>
        </p:nvSpPr>
        <p:spPr>
          <a:xfrm>
            <a:off x="6300788" y="3457575"/>
            <a:ext cx="8001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6A7280"/>
                </a:solidFill>
              </a:rPr>
              <a:t>Cost saving</a:t>
            </a:r>
            <a:endParaRPr sz="1100"/>
          </a:p>
        </p:txBody>
      </p:sp>
      <p:sp>
        <p:nvSpPr>
          <p:cNvPr id="833" name="Google Shape;833;p50"/>
          <p:cNvSpPr/>
          <p:nvPr/>
        </p:nvSpPr>
        <p:spPr>
          <a:xfrm>
            <a:off x="7158038" y="3414713"/>
            <a:ext cx="128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9C7A3"/>
                </a:solidFill>
              </a:rPr>
              <a:t>연 143.90억</a:t>
            </a:r>
            <a:endParaRPr sz="1100"/>
          </a:p>
        </p:txBody>
      </p:sp>
      <p:sp>
        <p:nvSpPr>
          <p:cNvPr id="834" name="Google Shape;834;p50"/>
          <p:cNvSpPr/>
          <p:nvPr/>
        </p:nvSpPr>
        <p:spPr>
          <a:xfrm>
            <a:off x="6300788" y="3686175"/>
            <a:ext cx="2143125" cy="7144"/>
          </a:xfrm>
          <a:prstGeom prst="rect">
            <a:avLst/>
          </a:prstGeom>
          <a:solidFill>
            <a:srgbClr val="CAD4DF"/>
          </a:solidFill>
          <a:ln cap="flat" cmpd="sng" w="9525">
            <a:solidFill>
              <a:srgbClr val="CAD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0"/>
          <p:cNvSpPr/>
          <p:nvPr/>
        </p:nvSpPr>
        <p:spPr>
          <a:xfrm>
            <a:off x="6386513" y="3800475"/>
            <a:ext cx="19716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19C7A3"/>
                </a:solidFill>
              </a:rPr>
              <a:t>추천안: Crack/TTV와 비용효과 최대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1"/>
          <p:cNvSpPr/>
          <p:nvPr/>
        </p:nvSpPr>
        <p:spPr>
          <a:xfrm>
            <a:off x="400050" y="271463"/>
            <a:ext cx="214312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C79B7"/>
                </a:solidFill>
              </a:rPr>
              <a:t>BG 개선안</a:t>
            </a:r>
            <a:endParaRPr sz="1100"/>
          </a:p>
        </p:txBody>
      </p:sp>
      <p:sp>
        <p:nvSpPr>
          <p:cNvPr id="842" name="Google Shape;842;p51"/>
          <p:cNvSpPr/>
          <p:nvPr/>
        </p:nvSpPr>
        <p:spPr>
          <a:xfrm>
            <a:off x="400050" y="528638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173657"/>
                </a:solidFill>
              </a:rPr>
              <a:t>기대효과</a:t>
            </a:r>
            <a:endParaRPr sz="1100"/>
          </a:p>
        </p:txBody>
      </p:sp>
      <p:sp>
        <p:nvSpPr>
          <p:cNvPr id="843" name="Google Shape;843;p51"/>
          <p:cNvSpPr/>
          <p:nvPr/>
        </p:nvSpPr>
        <p:spPr>
          <a:xfrm>
            <a:off x="514350" y="1371600"/>
            <a:ext cx="8115300" cy="1928813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1"/>
          <p:cNvSpPr/>
          <p:nvPr/>
        </p:nvSpPr>
        <p:spPr>
          <a:xfrm>
            <a:off x="514350" y="1371600"/>
            <a:ext cx="8115300" cy="385763"/>
          </a:xfrm>
          <a:prstGeom prst="rect">
            <a:avLst/>
          </a:prstGeom>
          <a:solidFill>
            <a:srgbClr val="1F456B"/>
          </a:solidFill>
          <a:ln cap="flat" cmpd="sng" w="9525">
            <a:solidFill>
              <a:srgbClr val="1F4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1"/>
          <p:cNvSpPr/>
          <p:nvPr/>
        </p:nvSpPr>
        <p:spPr>
          <a:xfrm>
            <a:off x="628650" y="1485900"/>
            <a:ext cx="18716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</a:rPr>
              <a:t>시나리오</a:t>
            </a:r>
            <a:endParaRPr sz="1100"/>
          </a:p>
        </p:txBody>
      </p:sp>
      <p:sp>
        <p:nvSpPr>
          <p:cNvPr id="846" name="Google Shape;846;p51"/>
          <p:cNvSpPr/>
          <p:nvPr/>
        </p:nvSpPr>
        <p:spPr>
          <a:xfrm>
            <a:off x="2728913" y="1485900"/>
            <a:ext cx="12715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</a:rPr>
              <a:t>불량률</a:t>
            </a:r>
            <a:endParaRPr sz="1100"/>
          </a:p>
        </p:txBody>
      </p:sp>
      <p:sp>
        <p:nvSpPr>
          <p:cNvPr id="847" name="Google Shape;847;p51"/>
          <p:cNvSpPr/>
          <p:nvPr/>
        </p:nvSpPr>
        <p:spPr>
          <a:xfrm>
            <a:off x="4229100" y="1485900"/>
            <a:ext cx="1057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</a:rPr>
              <a:t>Pass 향상</a:t>
            </a:r>
            <a:endParaRPr sz="1100"/>
          </a:p>
        </p:txBody>
      </p:sp>
      <p:sp>
        <p:nvSpPr>
          <p:cNvPr id="848" name="Google Shape;848;p51"/>
          <p:cNvSpPr/>
          <p:nvPr/>
        </p:nvSpPr>
        <p:spPr>
          <a:xfrm>
            <a:off x="5514975" y="148590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</a:rPr>
              <a:t>재작업/클레임</a:t>
            </a:r>
            <a:endParaRPr sz="1100"/>
          </a:p>
        </p:txBody>
      </p:sp>
      <p:sp>
        <p:nvSpPr>
          <p:cNvPr id="849" name="Google Shape;849;p51"/>
          <p:cNvSpPr/>
          <p:nvPr/>
        </p:nvSpPr>
        <p:spPr>
          <a:xfrm>
            <a:off x="7086600" y="14859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</a:rPr>
              <a:t>Cost saving</a:t>
            </a:r>
            <a:endParaRPr sz="1100"/>
          </a:p>
        </p:txBody>
      </p:sp>
      <p:sp>
        <p:nvSpPr>
          <p:cNvPr id="850" name="Google Shape;850;p51"/>
          <p:cNvSpPr/>
          <p:nvPr/>
        </p:nvSpPr>
        <p:spPr>
          <a:xfrm>
            <a:off x="514350" y="1757363"/>
            <a:ext cx="8115300" cy="3857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1"/>
          <p:cNvSpPr/>
          <p:nvPr/>
        </p:nvSpPr>
        <p:spPr>
          <a:xfrm>
            <a:off x="600075" y="1857375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173657"/>
                </a:solidFill>
              </a:rPr>
              <a:t>현재</a:t>
            </a:r>
            <a:endParaRPr sz="1100"/>
          </a:p>
        </p:txBody>
      </p:sp>
      <p:sp>
        <p:nvSpPr>
          <p:cNvPr id="852" name="Google Shape;852;p51"/>
          <p:cNvSpPr/>
          <p:nvPr/>
        </p:nvSpPr>
        <p:spPr>
          <a:xfrm>
            <a:off x="2700338" y="1857375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73657"/>
                </a:solidFill>
              </a:rPr>
              <a:t>38.3%</a:t>
            </a:r>
            <a:endParaRPr sz="1100"/>
          </a:p>
        </p:txBody>
      </p:sp>
      <p:sp>
        <p:nvSpPr>
          <p:cNvPr id="853" name="Google Shape;853;p51"/>
          <p:cNvSpPr/>
          <p:nvPr/>
        </p:nvSpPr>
        <p:spPr>
          <a:xfrm>
            <a:off x="4200525" y="1857375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854" name="Google Shape;854;p51"/>
          <p:cNvSpPr/>
          <p:nvPr/>
        </p:nvSpPr>
        <p:spPr>
          <a:xfrm>
            <a:off x="5486400" y="1857375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855" name="Google Shape;855;p51"/>
          <p:cNvSpPr/>
          <p:nvPr/>
        </p:nvSpPr>
        <p:spPr>
          <a:xfrm>
            <a:off x="7058025" y="1857375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-</a:t>
            </a:r>
            <a:endParaRPr sz="1100"/>
          </a:p>
        </p:txBody>
      </p:sp>
      <p:sp>
        <p:nvSpPr>
          <p:cNvPr id="856" name="Google Shape;856;p51"/>
          <p:cNvSpPr/>
          <p:nvPr/>
        </p:nvSpPr>
        <p:spPr>
          <a:xfrm>
            <a:off x="514350" y="2143125"/>
            <a:ext cx="8115300" cy="385763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1"/>
          <p:cNvSpPr/>
          <p:nvPr/>
        </p:nvSpPr>
        <p:spPr>
          <a:xfrm>
            <a:off x="600075" y="2243138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173657"/>
                </a:solidFill>
              </a:rPr>
              <a:t>① Rough 조건만 최적화</a:t>
            </a:r>
            <a:endParaRPr sz="1100"/>
          </a:p>
        </p:txBody>
      </p:sp>
      <p:sp>
        <p:nvSpPr>
          <p:cNvPr id="858" name="Google Shape;858;p51"/>
          <p:cNvSpPr/>
          <p:nvPr/>
        </p:nvSpPr>
        <p:spPr>
          <a:xfrm>
            <a:off x="2700338" y="2243138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B3132E"/>
                </a:solidFill>
              </a:rPr>
              <a:t>2</a:t>
            </a:r>
            <a:r>
              <a:rPr b="1" lang="ko" sz="1000">
                <a:solidFill>
                  <a:srgbClr val="B3132E"/>
                </a:solidFill>
              </a:rPr>
              <a:t>1</a:t>
            </a:r>
            <a:r>
              <a:rPr b="1" lang="ko" sz="1000">
                <a:solidFill>
                  <a:srgbClr val="B3132E"/>
                </a:solidFill>
              </a:rPr>
              <a:t>.</a:t>
            </a:r>
            <a:r>
              <a:rPr b="1" lang="ko" sz="1000">
                <a:solidFill>
                  <a:srgbClr val="B3132E"/>
                </a:solidFill>
              </a:rPr>
              <a:t>7</a:t>
            </a:r>
            <a:r>
              <a:rPr b="1" lang="ko" sz="1000">
                <a:solidFill>
                  <a:srgbClr val="B3132E"/>
                </a:solidFill>
              </a:rPr>
              <a:t>%</a:t>
            </a:r>
            <a:endParaRPr sz="1100"/>
          </a:p>
        </p:txBody>
      </p:sp>
      <p:sp>
        <p:nvSpPr>
          <p:cNvPr id="859" name="Google Shape;859;p51"/>
          <p:cNvSpPr/>
          <p:nvPr/>
        </p:nvSpPr>
        <p:spPr>
          <a:xfrm>
            <a:off x="4200525" y="2243138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+16.6%p</a:t>
            </a:r>
            <a:endParaRPr sz="1100"/>
          </a:p>
        </p:txBody>
      </p:sp>
      <p:sp>
        <p:nvSpPr>
          <p:cNvPr id="860" name="Google Shape;860;p51"/>
          <p:cNvSpPr/>
          <p:nvPr/>
        </p:nvSpPr>
        <p:spPr>
          <a:xfrm>
            <a:off x="5486400" y="2243138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-43.3%</a:t>
            </a:r>
            <a:endParaRPr sz="1100"/>
          </a:p>
        </p:txBody>
      </p:sp>
      <p:sp>
        <p:nvSpPr>
          <p:cNvPr id="861" name="Google Shape;861;p51"/>
          <p:cNvSpPr/>
          <p:nvPr/>
        </p:nvSpPr>
        <p:spPr>
          <a:xfrm>
            <a:off x="7058025" y="2243138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연 83.03억</a:t>
            </a:r>
            <a:endParaRPr sz="1100"/>
          </a:p>
        </p:txBody>
      </p:sp>
      <p:sp>
        <p:nvSpPr>
          <p:cNvPr id="862" name="Google Shape;862;p51"/>
          <p:cNvSpPr/>
          <p:nvPr/>
        </p:nvSpPr>
        <p:spPr>
          <a:xfrm>
            <a:off x="514350" y="2528888"/>
            <a:ext cx="8115300" cy="3857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1"/>
          <p:cNvSpPr/>
          <p:nvPr/>
        </p:nvSpPr>
        <p:spPr>
          <a:xfrm>
            <a:off x="600075" y="2628900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173657"/>
                </a:solidFill>
              </a:rPr>
              <a:t>②~④ 보조 개선만 적용</a:t>
            </a:r>
            <a:endParaRPr sz="1100"/>
          </a:p>
        </p:txBody>
      </p:sp>
      <p:sp>
        <p:nvSpPr>
          <p:cNvPr id="864" name="Google Shape;864;p51"/>
          <p:cNvSpPr/>
          <p:nvPr/>
        </p:nvSpPr>
        <p:spPr>
          <a:xfrm>
            <a:off x="2700338" y="2628900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B3132E"/>
                </a:solidFill>
              </a:rPr>
              <a:t>28</a:t>
            </a:r>
            <a:r>
              <a:rPr b="1" lang="ko" sz="1000">
                <a:solidFill>
                  <a:srgbClr val="B3132E"/>
                </a:solidFill>
              </a:rPr>
              <a:t>.8%</a:t>
            </a:r>
            <a:endParaRPr sz="1100"/>
          </a:p>
        </p:txBody>
      </p:sp>
      <p:sp>
        <p:nvSpPr>
          <p:cNvPr id="865" name="Google Shape;865;p51"/>
          <p:cNvSpPr/>
          <p:nvPr/>
        </p:nvSpPr>
        <p:spPr>
          <a:xfrm>
            <a:off x="4200525" y="2628900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+9.5%p</a:t>
            </a:r>
            <a:endParaRPr sz="1100"/>
          </a:p>
        </p:txBody>
      </p:sp>
      <p:sp>
        <p:nvSpPr>
          <p:cNvPr id="866" name="Google Shape;866;p51"/>
          <p:cNvSpPr/>
          <p:nvPr/>
        </p:nvSpPr>
        <p:spPr>
          <a:xfrm>
            <a:off x="5486400" y="2628900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-38.4%</a:t>
            </a:r>
            <a:endParaRPr sz="1100"/>
          </a:p>
        </p:txBody>
      </p:sp>
      <p:sp>
        <p:nvSpPr>
          <p:cNvPr id="867" name="Google Shape;867;p51"/>
          <p:cNvSpPr/>
          <p:nvPr/>
        </p:nvSpPr>
        <p:spPr>
          <a:xfrm>
            <a:off x="7058025" y="2628900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000">
                <a:solidFill>
                  <a:srgbClr val="173657"/>
                </a:solidFill>
              </a:rPr>
              <a:t>연 47.60억</a:t>
            </a:r>
            <a:endParaRPr sz="1100"/>
          </a:p>
        </p:txBody>
      </p:sp>
      <p:sp>
        <p:nvSpPr>
          <p:cNvPr id="868" name="Google Shape;868;p51"/>
          <p:cNvSpPr/>
          <p:nvPr/>
        </p:nvSpPr>
        <p:spPr>
          <a:xfrm>
            <a:off x="514350" y="2914650"/>
            <a:ext cx="8115300" cy="385763"/>
          </a:xfrm>
          <a:prstGeom prst="rect">
            <a:avLst/>
          </a:prstGeom>
          <a:solidFill>
            <a:srgbClr val="E8F7F2"/>
          </a:solidFill>
          <a:ln cap="flat" cmpd="sng" w="9525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1"/>
          <p:cNvSpPr/>
          <p:nvPr/>
        </p:nvSpPr>
        <p:spPr>
          <a:xfrm>
            <a:off x="600075" y="3014663"/>
            <a:ext cx="19288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73657"/>
                </a:solidFill>
              </a:rPr>
              <a:t>①~④ 전체 적용</a:t>
            </a:r>
            <a:endParaRPr sz="1100"/>
          </a:p>
        </p:txBody>
      </p:sp>
      <p:sp>
        <p:nvSpPr>
          <p:cNvPr id="870" name="Google Shape;870;p51"/>
          <p:cNvSpPr/>
          <p:nvPr/>
        </p:nvSpPr>
        <p:spPr>
          <a:xfrm>
            <a:off x="2700338" y="3014663"/>
            <a:ext cx="13287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73657"/>
                </a:solidFill>
              </a:rPr>
              <a:t>9.6%</a:t>
            </a:r>
            <a:endParaRPr sz="1100"/>
          </a:p>
        </p:txBody>
      </p:sp>
      <p:sp>
        <p:nvSpPr>
          <p:cNvPr id="871" name="Google Shape;871;p51"/>
          <p:cNvSpPr/>
          <p:nvPr/>
        </p:nvSpPr>
        <p:spPr>
          <a:xfrm>
            <a:off x="4200525" y="3014663"/>
            <a:ext cx="1114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73657"/>
                </a:solidFill>
              </a:rPr>
              <a:t>+28.8%p</a:t>
            </a:r>
            <a:endParaRPr sz="1100"/>
          </a:p>
        </p:txBody>
      </p:sp>
      <p:sp>
        <p:nvSpPr>
          <p:cNvPr id="872" name="Google Shape;872;p51"/>
          <p:cNvSpPr/>
          <p:nvPr/>
        </p:nvSpPr>
        <p:spPr>
          <a:xfrm>
            <a:off x="5486400" y="3014663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73657"/>
                </a:solidFill>
              </a:rPr>
              <a:t>-75.1%</a:t>
            </a:r>
            <a:endParaRPr sz="1100"/>
          </a:p>
        </p:txBody>
      </p:sp>
      <p:sp>
        <p:nvSpPr>
          <p:cNvPr id="873" name="Google Shape;873;p51"/>
          <p:cNvSpPr/>
          <p:nvPr/>
        </p:nvSpPr>
        <p:spPr>
          <a:xfrm>
            <a:off x="7058025" y="3014663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73657"/>
                </a:solidFill>
              </a:rPr>
              <a:t>연 143.90억</a:t>
            </a:r>
            <a:endParaRPr sz="1100"/>
          </a:p>
        </p:txBody>
      </p:sp>
      <p:sp>
        <p:nvSpPr>
          <p:cNvPr id="874" name="Google Shape;874;p51"/>
          <p:cNvSpPr/>
          <p:nvPr/>
        </p:nvSpPr>
        <p:spPr>
          <a:xfrm>
            <a:off x="800100" y="3571875"/>
            <a:ext cx="2143125" cy="942975"/>
          </a:xfrm>
          <a:prstGeom prst="roundRect">
            <a:avLst>
              <a:gd fmla="val 6061" name="adj"/>
            </a:avLst>
          </a:prstGeom>
          <a:solidFill>
            <a:srgbClr val="E8F7F2"/>
          </a:solidFill>
          <a:ln cap="flat" cmpd="sng" w="9525">
            <a:solidFill>
              <a:srgbClr val="19C7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1"/>
          <p:cNvSpPr/>
          <p:nvPr/>
        </p:nvSpPr>
        <p:spPr>
          <a:xfrm>
            <a:off x="928688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9C7A3"/>
                </a:solidFill>
              </a:rPr>
              <a:t>핵심 효과 1</a:t>
            </a:r>
            <a:endParaRPr sz="1100"/>
          </a:p>
        </p:txBody>
      </p:sp>
      <p:sp>
        <p:nvSpPr>
          <p:cNvPr id="876" name="Google Shape;876;p51"/>
          <p:cNvSpPr/>
          <p:nvPr/>
        </p:nvSpPr>
        <p:spPr>
          <a:xfrm>
            <a:off x="928688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173657"/>
                </a:solidFill>
              </a:rPr>
              <a:t>38.3% → 9.6%</a:t>
            </a:r>
            <a:endParaRPr sz="1100"/>
          </a:p>
        </p:txBody>
      </p:sp>
      <p:sp>
        <p:nvSpPr>
          <p:cNvPr id="877" name="Google Shape;877;p51"/>
          <p:cNvSpPr/>
          <p:nvPr/>
        </p:nvSpPr>
        <p:spPr>
          <a:xfrm>
            <a:off x="928688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6A7280"/>
                </a:solidFill>
              </a:rPr>
              <a:t>전체 적용 시 불량률 약 75% 감소</a:t>
            </a:r>
            <a:endParaRPr sz="1100"/>
          </a:p>
        </p:txBody>
      </p:sp>
      <p:sp>
        <p:nvSpPr>
          <p:cNvPr id="878" name="Google Shape;878;p51"/>
          <p:cNvSpPr/>
          <p:nvPr/>
        </p:nvSpPr>
        <p:spPr>
          <a:xfrm>
            <a:off x="3500438" y="3571875"/>
            <a:ext cx="2143125" cy="942975"/>
          </a:xfrm>
          <a:prstGeom prst="roundRect">
            <a:avLst>
              <a:gd fmla="val 6061" name="adj"/>
            </a:avLst>
          </a:prstGeom>
          <a:solidFill>
            <a:srgbClr val="EAF3FA"/>
          </a:solidFill>
          <a:ln cap="flat" cmpd="sng" w="9525">
            <a:solidFill>
              <a:srgbClr val="2C79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1"/>
          <p:cNvSpPr/>
          <p:nvPr/>
        </p:nvSpPr>
        <p:spPr>
          <a:xfrm>
            <a:off x="3629025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C79B7"/>
                </a:solidFill>
              </a:rPr>
              <a:t>핵심 효과 2</a:t>
            </a:r>
            <a:endParaRPr sz="1100"/>
          </a:p>
        </p:txBody>
      </p:sp>
      <p:sp>
        <p:nvSpPr>
          <p:cNvPr id="880" name="Google Shape;880;p51"/>
          <p:cNvSpPr/>
          <p:nvPr/>
        </p:nvSpPr>
        <p:spPr>
          <a:xfrm>
            <a:off x="3629025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173657"/>
                </a:solidFill>
              </a:rPr>
              <a:t>+28.8%p</a:t>
            </a:r>
            <a:endParaRPr sz="1100"/>
          </a:p>
        </p:txBody>
      </p:sp>
      <p:sp>
        <p:nvSpPr>
          <p:cNvPr id="881" name="Google Shape;881;p51"/>
          <p:cNvSpPr/>
          <p:nvPr/>
        </p:nvSpPr>
        <p:spPr>
          <a:xfrm>
            <a:off x="3629025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6A7280"/>
                </a:solidFill>
              </a:rPr>
              <a:t>BG Pass율 향상</a:t>
            </a:r>
            <a:endParaRPr sz="1100"/>
          </a:p>
        </p:txBody>
      </p:sp>
      <p:sp>
        <p:nvSpPr>
          <p:cNvPr id="882" name="Google Shape;882;p51"/>
          <p:cNvSpPr/>
          <p:nvPr/>
        </p:nvSpPr>
        <p:spPr>
          <a:xfrm>
            <a:off x="6200775" y="3571875"/>
            <a:ext cx="2143125" cy="942975"/>
          </a:xfrm>
          <a:prstGeom prst="roundRect">
            <a:avLst>
              <a:gd fmla="val 6061" name="adj"/>
            </a:avLst>
          </a:prstGeom>
          <a:solidFill>
            <a:srgbClr val="FFF6E3"/>
          </a:solidFill>
          <a:ln cap="flat" cmpd="sng" w="9525">
            <a:solidFill>
              <a:srgbClr val="F2A5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1"/>
          <p:cNvSpPr/>
          <p:nvPr/>
        </p:nvSpPr>
        <p:spPr>
          <a:xfrm>
            <a:off x="6329363" y="3700463"/>
            <a:ext cx="18859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2A51A"/>
                </a:solidFill>
              </a:rPr>
              <a:t>핵심 효과 3</a:t>
            </a:r>
            <a:endParaRPr sz="1100"/>
          </a:p>
        </p:txBody>
      </p:sp>
      <p:sp>
        <p:nvSpPr>
          <p:cNvPr id="884" name="Google Shape;884;p51"/>
          <p:cNvSpPr/>
          <p:nvPr/>
        </p:nvSpPr>
        <p:spPr>
          <a:xfrm>
            <a:off x="6329363" y="3929063"/>
            <a:ext cx="18859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173657"/>
                </a:solidFill>
              </a:rPr>
              <a:t>연 143.90억</a:t>
            </a:r>
            <a:endParaRPr sz="1100"/>
          </a:p>
        </p:txBody>
      </p:sp>
      <p:sp>
        <p:nvSpPr>
          <p:cNvPr id="885" name="Google Shape;885;p51"/>
          <p:cNvSpPr/>
          <p:nvPr/>
        </p:nvSpPr>
        <p:spPr>
          <a:xfrm>
            <a:off x="6329363" y="4243388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6A7280"/>
                </a:solidFill>
              </a:rPr>
              <a:t>NG/재작업 감소 기반 비용 절감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2"/>
          <p:cNvSpPr/>
          <p:nvPr/>
        </p:nvSpPr>
        <p:spPr>
          <a:xfrm>
            <a:off x="274348" y="1229060"/>
            <a:ext cx="8595300" cy="885900"/>
          </a:xfrm>
          <a:prstGeom prst="roundRect">
            <a:avLst>
              <a:gd fmla="val 6400" name="adj"/>
            </a:avLst>
          </a:prstGeom>
          <a:solidFill>
            <a:srgbClr val="F3F7F7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2"/>
          <p:cNvSpPr/>
          <p:nvPr/>
        </p:nvSpPr>
        <p:spPr>
          <a:xfrm>
            <a:off x="522360" y="1473530"/>
            <a:ext cx="396900" cy="3969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2"/>
          <p:cNvSpPr/>
          <p:nvPr/>
        </p:nvSpPr>
        <p:spPr>
          <a:xfrm>
            <a:off x="522360" y="1473517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b="1" i="0" lang="ko" sz="13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2"/>
          <p:cNvSpPr/>
          <p:nvPr/>
        </p:nvSpPr>
        <p:spPr>
          <a:xfrm>
            <a:off x="1089246" y="1328265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007"/>
              <a:buFont typeface="Calibri"/>
              <a:buNone/>
            </a:pPr>
            <a:r>
              <a:rPr b="1" i="0" lang="ko" sz="1407" u="none" cap="none" strike="noStrike">
                <a:solidFill>
                  <a:srgbClr val="6B7B80"/>
                </a:solidFill>
                <a:latin typeface="Calibri"/>
                <a:ea typeface="Calibri"/>
                <a:cs typeface="Calibri"/>
                <a:sym typeface="Calibri"/>
              </a:rPr>
              <a:t>핵심 원인</a:t>
            </a:r>
            <a:endParaRPr b="0" i="0" sz="14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2"/>
          <p:cNvSpPr/>
          <p:nvPr/>
        </p:nvSpPr>
        <p:spPr>
          <a:xfrm>
            <a:off x="3285929" y="1328265"/>
            <a:ext cx="53856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40"/>
              <a:buFont typeface="Calibri"/>
              <a:buNone/>
            </a:pPr>
            <a:r>
              <a:rPr lang="ko" sz="144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Rough Grinding</a:t>
            </a:r>
            <a:endParaRPr b="0" i="0" sz="14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52"/>
          <p:cNvSpPr/>
          <p:nvPr/>
        </p:nvSpPr>
        <p:spPr>
          <a:xfrm>
            <a:off x="274348" y="2291971"/>
            <a:ext cx="8595300" cy="885900"/>
          </a:xfrm>
          <a:prstGeom prst="roundRect">
            <a:avLst>
              <a:gd fmla="val 6400" name="adj"/>
            </a:avLst>
          </a:prstGeom>
          <a:solidFill>
            <a:srgbClr val="F3F7F7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2"/>
          <p:cNvSpPr/>
          <p:nvPr/>
        </p:nvSpPr>
        <p:spPr>
          <a:xfrm>
            <a:off x="522360" y="2536441"/>
            <a:ext cx="396900" cy="3969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2"/>
          <p:cNvSpPr/>
          <p:nvPr/>
        </p:nvSpPr>
        <p:spPr>
          <a:xfrm>
            <a:off x="522360" y="2536428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b="1" i="0" lang="ko" sz="13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2"/>
          <p:cNvSpPr/>
          <p:nvPr/>
        </p:nvSpPr>
        <p:spPr>
          <a:xfrm>
            <a:off x="1089246" y="2391176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007"/>
              <a:buFont typeface="Calibri"/>
              <a:buNone/>
            </a:pPr>
            <a:r>
              <a:rPr b="1" i="0" lang="ko" sz="1407" u="none" cap="none" strike="noStrike">
                <a:solidFill>
                  <a:srgbClr val="6B7B80"/>
                </a:solidFill>
                <a:latin typeface="Calibri"/>
                <a:ea typeface="Calibri"/>
                <a:cs typeface="Calibri"/>
                <a:sym typeface="Calibri"/>
              </a:rPr>
              <a:t>추천 개선안</a:t>
            </a:r>
            <a:endParaRPr b="0" i="0" sz="14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52"/>
          <p:cNvSpPr/>
          <p:nvPr/>
        </p:nvSpPr>
        <p:spPr>
          <a:xfrm>
            <a:off x="3285929" y="2391176"/>
            <a:ext cx="53856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 Rate/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RPM/가공 압력별 영향 검증 및 최적화</a:t>
            </a:r>
            <a:endParaRPr sz="1600"/>
          </a:p>
        </p:txBody>
      </p:sp>
      <p:sp>
        <p:nvSpPr>
          <p:cNvPr id="900" name="Google Shape;900;p52"/>
          <p:cNvSpPr/>
          <p:nvPr/>
        </p:nvSpPr>
        <p:spPr>
          <a:xfrm>
            <a:off x="274350" y="3354872"/>
            <a:ext cx="8595300" cy="1253700"/>
          </a:xfrm>
          <a:prstGeom prst="roundRect">
            <a:avLst>
              <a:gd fmla="val 6400" name="adj"/>
            </a:avLst>
          </a:prstGeom>
          <a:solidFill>
            <a:srgbClr val="E4F5F1"/>
          </a:solidFill>
          <a:ln cap="flat" cmpd="sng" w="147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2"/>
          <p:cNvSpPr/>
          <p:nvPr/>
        </p:nvSpPr>
        <p:spPr>
          <a:xfrm>
            <a:off x="522360" y="3783440"/>
            <a:ext cx="396900" cy="3969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70850" lIns="70850" spcFirstLastPara="1" rIns="70850" wrap="square" tIns="70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2"/>
          <p:cNvSpPr/>
          <p:nvPr/>
        </p:nvSpPr>
        <p:spPr>
          <a:xfrm>
            <a:off x="522360" y="3783439"/>
            <a:ext cx="396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5"/>
              <a:buFont typeface="Calibri"/>
              <a:buNone/>
            </a:pPr>
            <a:r>
              <a:rPr b="1" i="0" lang="ko" sz="13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2"/>
          <p:cNvSpPr/>
          <p:nvPr/>
        </p:nvSpPr>
        <p:spPr>
          <a:xfrm>
            <a:off x="1089246" y="3638087"/>
            <a:ext cx="21258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7"/>
              <a:buFont typeface="Calibri"/>
              <a:buNone/>
            </a:pPr>
            <a:r>
              <a:rPr b="1" lang="ko" sz="1407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14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2"/>
          <p:cNvSpPr/>
          <p:nvPr/>
        </p:nvSpPr>
        <p:spPr>
          <a:xfrm>
            <a:off x="3285931" y="3495278"/>
            <a:ext cx="53856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Crack 감소와 TTV 안정화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Crack</a:t>
            </a:r>
            <a:r>
              <a:rPr lang="ko" sz="1200">
                <a:solidFill>
                  <a:schemeClr val="dk1"/>
                </a:solidFill>
              </a:rPr>
              <a:t>: 20.1% → (①만) 6.4% → (전체) </a:t>
            </a:r>
            <a:r>
              <a:rPr b="1" lang="ko" sz="1200">
                <a:solidFill>
                  <a:schemeClr val="dk1"/>
                </a:solidFill>
              </a:rPr>
              <a:t>2.9%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TTV</a:t>
            </a:r>
            <a:r>
              <a:rPr lang="ko" sz="1200">
                <a:solidFill>
                  <a:schemeClr val="dk1"/>
                </a:solidFill>
              </a:rPr>
              <a:t>: 24.8% → (①만) 21.7% → (전체) </a:t>
            </a:r>
            <a:r>
              <a:rPr b="1" lang="ko" sz="1200">
                <a:solidFill>
                  <a:schemeClr val="dk1"/>
                </a:solidFill>
              </a:rPr>
              <a:t>9.6%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불량률 38.3% → 21.7%</a:t>
            </a:r>
            <a:r>
              <a:rPr lang="ko" sz="1200">
                <a:solidFill>
                  <a:schemeClr val="dk1"/>
                </a:solidFill>
              </a:rPr>
              <a:t>(① 적용) </a:t>
            </a:r>
            <a:r>
              <a:rPr b="1" lang="ko" sz="1200">
                <a:solidFill>
                  <a:schemeClr val="dk1"/>
                </a:solidFill>
              </a:rPr>
              <a:t>→ 9.6%</a:t>
            </a:r>
            <a:r>
              <a:rPr lang="ko" sz="1200">
                <a:solidFill>
                  <a:schemeClr val="dk1"/>
                </a:solidFill>
              </a:rPr>
              <a:t>(①~④ 전체)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5" name="Google Shape;905;p5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5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3"/>
          <p:cNvSpPr/>
          <p:nvPr/>
        </p:nvSpPr>
        <p:spPr>
          <a:xfrm>
            <a:off x="6035040" y="1337310"/>
            <a:ext cx="2469000" cy="2469000"/>
          </a:xfrm>
          <a:prstGeom prst="ellipse">
            <a:avLst/>
          </a:prstGeom>
          <a:noFill/>
          <a:ln cap="flat" cmpd="sng" w="31750">
            <a:solidFill>
              <a:srgbClr val="1B49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3"/>
          <p:cNvSpPr/>
          <p:nvPr/>
        </p:nvSpPr>
        <p:spPr>
          <a:xfrm>
            <a:off x="6309360" y="1611630"/>
            <a:ext cx="1920300" cy="1920300"/>
          </a:xfrm>
          <a:prstGeom prst="ellipse">
            <a:avLst/>
          </a:prstGeom>
          <a:noFill/>
          <a:ln cap="flat" cmpd="sng" w="15875">
            <a:solidFill>
              <a:srgbClr val="2E7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3"/>
          <p:cNvSpPr/>
          <p:nvPr/>
        </p:nvSpPr>
        <p:spPr>
          <a:xfrm>
            <a:off x="6583680" y="1885950"/>
            <a:ext cx="1371600" cy="1371600"/>
          </a:xfrm>
          <a:prstGeom prst="ellipse">
            <a:avLst/>
          </a:prstGeom>
          <a:noFill/>
          <a:ln cap="flat" cmpd="sng" w="15875">
            <a:solidFill>
              <a:srgbClr val="1B49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3"/>
          <p:cNvSpPr/>
          <p:nvPr/>
        </p:nvSpPr>
        <p:spPr>
          <a:xfrm>
            <a:off x="6858000" y="2160270"/>
            <a:ext cx="822900" cy="822900"/>
          </a:xfrm>
          <a:prstGeom prst="ellipse">
            <a:avLst/>
          </a:prstGeom>
          <a:noFill/>
          <a:ln cap="flat" cmpd="sng" w="15875">
            <a:solidFill>
              <a:srgbClr val="2E7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53"/>
          <p:cNvSpPr/>
          <p:nvPr/>
        </p:nvSpPr>
        <p:spPr>
          <a:xfrm>
            <a:off x="7166610" y="2468880"/>
            <a:ext cx="205800" cy="205800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3"/>
          <p:cNvSpPr/>
          <p:nvPr/>
        </p:nvSpPr>
        <p:spPr>
          <a:xfrm>
            <a:off x="514350" y="1714500"/>
            <a:ext cx="4114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ko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 &amp; 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3"/>
          <p:cNvSpPr/>
          <p:nvPr/>
        </p:nvSpPr>
        <p:spPr>
          <a:xfrm>
            <a:off x="534924" y="2571750"/>
            <a:ext cx="411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2000"/>
              <a:buFont typeface="Cambria"/>
              <a:buNone/>
            </a:pPr>
            <a:r>
              <a:rPr b="1" i="0" lang="ko" sz="2000" u="none" cap="none" strike="noStrike">
                <a:solidFill>
                  <a:srgbClr val="CDE4F0"/>
                </a:solidFill>
                <a:latin typeface="Cambria"/>
                <a:ea typeface="Cambria"/>
                <a:cs typeface="Cambria"/>
                <a:sym typeface="Cambria"/>
              </a:rPr>
              <a:t>감사합니다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3"/>
          <p:cNvSpPr/>
          <p:nvPr/>
        </p:nvSpPr>
        <p:spPr>
          <a:xfrm>
            <a:off x="548640" y="312039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1000"/>
              <a:buFont typeface="Calibri"/>
              <a:buNone/>
            </a:pPr>
            <a:r>
              <a:rPr lang="ko" sz="1000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Backgrinding</a:t>
            </a:r>
            <a:r>
              <a:rPr b="0" i="0" lang="ko" sz="1000" u="none" cap="none" strike="noStrik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 공정 </a:t>
            </a:r>
            <a:r>
              <a:rPr lang="ko" sz="1000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불량</a:t>
            </a:r>
            <a:r>
              <a:rPr b="0" i="0" lang="ko" sz="1000" u="none" cap="none" strike="noStrik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 종합 분석 리포트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3"/>
          <p:cNvSpPr/>
          <p:nvPr/>
        </p:nvSpPr>
        <p:spPr>
          <a:xfrm>
            <a:off x="548640" y="4150775"/>
            <a:ext cx="1954500" cy="342900"/>
          </a:xfrm>
          <a:prstGeom prst="roundRect">
            <a:avLst>
              <a:gd fmla="val 12000" name="adj"/>
            </a:avLst>
          </a:prstGeom>
          <a:solidFill>
            <a:srgbClr val="1334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3"/>
          <p:cNvSpPr/>
          <p:nvPr/>
        </p:nvSpPr>
        <p:spPr>
          <a:xfrm>
            <a:off x="548640" y="4150775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800"/>
              <a:buFont typeface="Calibri"/>
              <a:buNone/>
            </a:pPr>
            <a:r>
              <a:rPr b="1" lang="ko" sz="800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BG 공정 후 Crack, TTV 증가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53"/>
          <p:cNvSpPr/>
          <p:nvPr/>
        </p:nvSpPr>
        <p:spPr>
          <a:xfrm>
            <a:off x="2606040" y="4150775"/>
            <a:ext cx="1954500" cy="342900"/>
          </a:xfrm>
          <a:prstGeom prst="roundRect">
            <a:avLst>
              <a:gd fmla="val 12000" name="adj"/>
            </a:avLst>
          </a:prstGeom>
          <a:solidFill>
            <a:srgbClr val="1334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3"/>
          <p:cNvSpPr/>
          <p:nvPr/>
        </p:nvSpPr>
        <p:spPr>
          <a:xfrm>
            <a:off x="2606040" y="4150775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TTV Cpk 0.15 수준 공정 개선 필요</a:t>
            </a:r>
            <a:endParaRPr b="1" sz="800">
              <a:solidFill>
                <a:srgbClr val="CDE4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53"/>
          <p:cNvSpPr/>
          <p:nvPr/>
        </p:nvSpPr>
        <p:spPr>
          <a:xfrm>
            <a:off x="4663440" y="4150775"/>
            <a:ext cx="1954500" cy="342900"/>
          </a:xfrm>
          <a:prstGeom prst="roundRect">
            <a:avLst>
              <a:gd fmla="val 12000" name="adj"/>
            </a:avLst>
          </a:prstGeom>
          <a:solidFill>
            <a:srgbClr val="1334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3"/>
          <p:cNvSpPr/>
          <p:nvPr/>
        </p:nvSpPr>
        <p:spPr>
          <a:xfrm>
            <a:off x="4663440" y="4150775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800"/>
              <a:buFont typeface="Calibri"/>
              <a:buNone/>
            </a:pPr>
            <a:r>
              <a:rPr b="1" lang="ko" sz="800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Rough grinding 문제 예상</a:t>
            </a:r>
            <a:endParaRPr b="1" sz="800">
              <a:solidFill>
                <a:srgbClr val="CDE4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3"/>
          <p:cNvSpPr/>
          <p:nvPr/>
        </p:nvSpPr>
        <p:spPr>
          <a:xfrm>
            <a:off x="6720840" y="4150775"/>
            <a:ext cx="1954500" cy="342900"/>
          </a:xfrm>
          <a:prstGeom prst="roundRect">
            <a:avLst>
              <a:gd fmla="val 12000" name="adj"/>
            </a:avLst>
          </a:prstGeom>
          <a:solidFill>
            <a:srgbClr val="1334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3"/>
          <p:cNvSpPr/>
          <p:nvPr/>
        </p:nvSpPr>
        <p:spPr>
          <a:xfrm>
            <a:off x="6720840" y="4150775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 Sensor Calibration </a:t>
            </a:r>
            <a:r>
              <a:rPr b="1" i="0" lang="ko" sz="800" u="none" cap="none" strike="noStrike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 최우선</a:t>
            </a:r>
            <a:endParaRPr b="1" i="0" sz="800" u="none" cap="none" strike="noStrike">
              <a:solidFill>
                <a:srgbClr val="CDE4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3"/>
          <p:cNvSpPr/>
          <p:nvPr/>
        </p:nvSpPr>
        <p:spPr>
          <a:xfrm>
            <a:off x="548640" y="46977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93AA"/>
              </a:buClr>
              <a:buSzPts val="800"/>
              <a:buFont typeface="Calibri"/>
              <a:buNone/>
            </a:pPr>
            <a:r>
              <a:rPr b="0" i="1" lang="ko" sz="800" u="none" cap="none" strike="noStrike">
                <a:solidFill>
                  <a:srgbClr val="7C93AA"/>
                </a:solidFill>
                <a:latin typeface="Calibri"/>
                <a:ea typeface="Calibri"/>
                <a:cs typeface="Calibri"/>
                <a:sym typeface="Calibri"/>
              </a:rPr>
              <a:t>※ 합성 데이터 기반 — 실제 공정 적용 전 재검증 필요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3" name="Google Shape;933;p5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5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Wafer 투입순서에 따른 불량 패턴 분석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35" name="Google Shape;93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513" y="740973"/>
            <a:ext cx="5718979" cy="427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0" name="Google Shape;940;p55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55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b="1" lang="ko" sz="23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r>
              <a:rPr b="1" lang="ko" sz="23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만 최적화 할 경우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42" name="Google Shape;94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25" y="713025"/>
            <a:ext cx="4073550" cy="434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1500" y="713025"/>
            <a:ext cx="4710101" cy="434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45207"/>
            <a:ext cx="9144001" cy="311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9" name="Google Shape;949;p56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56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b="1" lang="ko" sz="23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②~④ 모두 최적화 할 경우 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51" name="Google Shape;95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3024"/>
            <a:ext cx="4261925" cy="432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150" y="713025"/>
            <a:ext cx="4508451" cy="432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1374000"/>
            <a:ext cx="8686800" cy="30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8" name="Google Shape;958;p57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57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- </a:t>
            </a:r>
            <a:r>
              <a:rPr b="1" lang="ko" sz="23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①~④ 모두 최적화 할 경우 </a:t>
            </a:r>
            <a:endParaRPr b="1" sz="2300">
              <a:solidFill>
                <a:srgbClr val="1B3A5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60" name="Google Shape;96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3025"/>
            <a:ext cx="4005299" cy="427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700" y="713025"/>
            <a:ext cx="4833900" cy="430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94346"/>
            <a:ext cx="9144000" cy="311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BAF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BAF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