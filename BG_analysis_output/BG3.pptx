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4" r:id="rId1"/>
    <p:sldMasterId id="2147483675" r:id="rId2"/>
    <p:sldMasterId id="2147483676" r:id="rId3"/>
    <p:sldMasterId id="2147483677" r:id="rId4"/>
  </p:sldMasterIdLst>
  <p:notesMasterIdLst>
    <p:notesMasterId r:id="rId34"/>
  </p:notes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14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F2066A-027F-443B-B902-C019AB88E0B3}">
  <a:tblStyle styleId="{47F2066A-027F-443B-B902-C019AB88E0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8C05641-6689-463D-B8B3-EEC80B33801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4"/>
      </p:cViewPr>
      <p:guideLst>
        <p:guide orient="horz" pos="181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ab408692a_3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fab408692a_3_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SAW(다이싱) 공정의 SPC Out-of-Control 현상을 분석해 물리적 원인을 추적하고 공정 능력(Cpk) 개선안을 도출한 발표입니다.</a:t>
            </a:r>
            <a:endParaRPr/>
          </a:p>
        </p:txBody>
      </p:sp>
      <p:sp>
        <p:nvSpPr>
          <p:cNvPr id="161" name="Google Shape;161;g3fab408692a_3_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676d9b0e5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676d9b0e5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목차는 다음과 같습니다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98b78f044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98b78f044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이번 발표는 A 라인에서 발생한 BG 공정 불량을 다룹니다. 먼저 무엇이 발생했는지 보겠습니다.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백그라인딩 Before 와 After Data를 확인했을 때, 크랙 평균이 2.02에서 2.29로 늘었고, 반대로 스크래치는 2.93에서 1.24로 줄어든 것을 확인 할 수 있었습니다.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 결과 BG_Crack_Scratch 불량이 1,115건, TTV NG가 4,964건 발생했습니다.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백그라인딩 공정에서 유의미하게 지켜볼 수 있는 데이터는 다음과 같은데, 이는 이후에 상세히 살펴보도록 하겠습니다.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현 상황이 중요한 이유는, 불량이 그대로 유출될 경우 최종 수율 하락과 납기 지연, 손실 비용 증가로 이어지기 때문입니다.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98b78f044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f98b78f044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그럼 전체 불량 현황을 요약해 보겠습니다.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BG, Sawing, Die Attach, Molding, Cleaning 공정을 모두 거친 웨이퍼 2만 장 가운데, 최종 검사에서 Fail이 난 건 83%였습니다.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이 Fail들을 Primary Failure 기준으로 쪼개 보면, 오른쪽 파레토도를 확인할 수 있습니다.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그중 BG_Crack_Scratch는 1,115건, 전체의 6%입니다. 단, 이 6%는 BG 단독으로 집계된 수치이고, 실제로는 BG 결함이 뒷공정 불량으로 번지는 경우까지 고려하면 영향은 더 클 수 있습니다.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그래서 이 연관성까지 함께 분석했고, 백그라인딩에서 어떠한 점을 개선할 수 있을지 살펴보겠습니다.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따라서 앞으로 지켜볼 데이터는, 백그라인딩의 불량이 Final 테스트에 영향을 미칠수도 있다는 것을 염두에 두고 데이터를 바라보고 백그라인딩에서 어떤 점을 개선할 수 있을지 살펴보겠습니다.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98b78f044_0_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f98b78f044_0_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저희가 수집한 불량 데이터를 확인해보겠습니다.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우선 왼쪽 그래프를 확인하면, 백그라인딩 공정 이후 스크래치는 57.7% 줄어든 반면 크랙은 오히려 13.5% 늘었습니다. 즉 개선 포인트가 스크래치보다 크랙 쪽에 있다는 신호입니다.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다음은 오른쪽 표를 확인해보겠습니다. 백그라인딩 Fail 웨이퍼들 중, Crack이 3보다 큰 경우가 79%로 높은 비율을 차지하고 있음을 확인할 수 있습니다.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정리하면, BG 공정 이후 크랙이 증가하는 경향이 확인됐고, BG 단독 불량의 약 80%가 크랙 3 초과에서 나왔다는 겁니다. 그래서 크랙을 이 불량의 핵심 인자로 판단했습니다.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f3eda6c738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g3f3eda6c738_2_8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r>
              <a:rPr lang="ko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2. 데이터 수집 </a:t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r>
              <a:rPr lang="ko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Sawing 공정과 OOC 현황 및 수율 영향도 분석</a:t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r>
              <a:rPr lang="ko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핵심요약</a:t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r>
              <a:rPr lang="ko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OOC 발생과 최종 Fail 연관성이 매우 약하다.</a:t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r>
              <a:rPr lang="ko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아래에는 그래프 및 표로 표시</a:t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r>
              <a:rPr lang="ko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OOC 와 Final Test Pass/Fail 연관성은 전혀 없지만, 설비의 상태를 알리는 조기 경보 지표로서 관리해야 한다.</a:t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ko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이와 관련해서는 다음 슬라이드부터 설명하겠습니다 ~</a:t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335" name="Google Shape;335;g3f3eda6c738_2_8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f3eda6c738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g3f3eda6c738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f68d7ead14_4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f68d7ead14_4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 표는 전체 20,000 웨이퍼 데이터 기준 크랙과 스크래치가 각각 3 초과인 경우의 웨이퍼들을 조사한 데이터입니다. 보시다시피 크랙이 3이상이거나, 스크래치가 3이상인 경우, 전부 Final Test 결과 Fail인 것을 확인할 수 있었습니다.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오른쪽 표에서는, 반대로 스크래치와 크랙이 3 이하인 경우, 백그라인딩 단독 불량 케이스가 전혀 없는 것을 확인할 수 있습니다.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따라서, 수율관리를 위해 크랙·스크래치의 스크리닝 임계값을 3으로 설정할 필요가 있다는 결론을 내렸습니다.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f6b189dc26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f6b189dc26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다음은, 추가적인 백그라인딩 불량 요소인 TTV 데이터 현황을 살펴보겠습니다.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전체 2만 장 기준으로 TTV가 NG인 비율이 24.8%입니다.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또한 TTV NG, 즉 3마이크로미터를 초과한 웨이퍼 4,964장을 보면 무려 99.8%가 Final Test Fail로 이어졌습니다.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오른쪽 막대그래프를 확인하면 Pass 웨이퍼는 평균 TTV가 1.53인 반면, Fail 웨이퍼는 TTV가 2.47로 확인됐습니다.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이렇게 TTV 편차 자체를 줄이는 동시에, 스크리닝 기준을 2μm 이하로 설정해 관리한다면 수율을 크게 끌어올릴 수 있습니다.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f676d9b0e5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f676d9b0e5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다음 산점도와 피어슨 상관계수를 살펴봤을 때 공정 이후 crack과 TTV간에 0.69로 강한 양의 상관관계를 보이며 실제로 TTV가 클 때 crack의 수가 증가하는 것을 산점도에서 볼 수 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이건 크랙이 TTV를 일으킨다는 인과관계가 아니라, 두 지표가 척 평탄도, 휠 마모, 테이프 상태 같은 동일한 근본 원인을 공유하기 때문에 함께 나빠지는 걸로 해석해야 합니다.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f3eda6c738_16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g3f3eda6c738_16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저희는 앞선 데이터들을 종합해서, 크랙과 TTV를 줄이고 관리하는 방향으로 공정을 개선해야 한다는 결론을 내렸습니다.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그럼 Rough와 Fine 중 어디부터 손대야 하느냐. 저희는 Rough Grinding을 우선순위로 봤습니다.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먼저, 스크래치는 백그라인딩 이후 평균이 2.93에서 1.24로 이미 개선된 것을 확인했습니다. 저희는 이걸 Fine Grinding 쪽 상태가 상대적으로 안정적이라는 신호로 봤습니다.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그래서 Fine의 개선 우선순위는 뒤로 두고, 크랙 저감을 위해 Rough Grinding 단계를 개선하기로 했습니다.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"/>
              <a:t>Rough Grinding 중에 웨이퍼 표면에 잔류응력과 속상처를 남기고, 이 잔류응력이 크랙의 기점이 되는 동시에, 웨이퍼를 국부적으로 휘게 만들어 두께 편차, 즉 TTV를 키웁니다.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따라서 Rough Grinding 조건을 최적화해서 이 응력을 낮추면, 크랙의 원인을 없애는 동시에 TTV까지 함께 개선 효과를 기대하고 있습니다.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f98b78f044_3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78920" y="859400"/>
            <a:ext cx="5500159" cy="23203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5" name="Google Shape;505;g3f98b78f044_3_2:notes"/>
          <p:cNvSpPr txBox="1">
            <a:spLocks noGrp="1"/>
          </p:cNvSpPr>
          <p:nvPr>
            <p:ph type="body" idx="1"/>
          </p:nvPr>
        </p:nvSpPr>
        <p:spPr>
          <a:xfrm>
            <a:off x="685800" y="3308690"/>
            <a:ext cx="5486400" cy="2707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Rough Grinding에서 크랙과 TTV가 왜 생기는지, 그 원인의 특성요인을 4M1E 관점에서 피쉬본 다이어그램으로 정리해봤습니다.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클릭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 중, 저희가 개선해야할 주요 원인으로 다음 네 가지를 설정했습니다.</a:t>
            </a:r>
            <a:endParaRPr/>
          </a:p>
        </p:txBody>
      </p:sp>
      <p:sp>
        <p:nvSpPr>
          <p:cNvPr id="506" name="Google Shape;506;g3f98b78f044_3_2:notes"/>
          <p:cNvSpPr txBox="1">
            <a:spLocks noGrp="1"/>
          </p:cNvSpPr>
          <p:nvPr>
            <p:ph type="sldNum" idx="12"/>
          </p:nvPr>
        </p:nvSpPr>
        <p:spPr>
          <a:xfrm>
            <a:off x="3884613" y="6530246"/>
            <a:ext cx="2971800" cy="34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f676d9b0e5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f676d9b0e5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Fishbone에서 도출한 여러 잠재 원인 중에서 데이터와 공정 메커니즘, 그리고 실제 검증 가능성을 고려해 네 가지를 주요 개선 대상으로 선정했습니다.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첫 번째는 Rough Grinding의 과도한 Feed Rate와 압력 등 </a:t>
            </a:r>
            <a:r>
              <a:rPr lang="ko" b="1">
                <a:solidFill>
                  <a:schemeClr val="dk1"/>
                </a:solidFill>
              </a:rPr>
              <a:t>연삭조건</a:t>
            </a:r>
            <a:r>
              <a:rPr lang="ko">
                <a:solidFill>
                  <a:schemeClr val="dk1"/>
                </a:solidFill>
              </a:rPr>
              <a:t>, 두 번째는 </a:t>
            </a:r>
            <a:r>
              <a:rPr lang="ko" b="1">
                <a:solidFill>
                  <a:schemeClr val="dk1"/>
                </a:solidFill>
              </a:rPr>
              <a:t>Wafer Chuck의 이물과 평탄도</a:t>
            </a:r>
            <a:r>
              <a:rPr lang="ko">
                <a:solidFill>
                  <a:schemeClr val="dk1"/>
                </a:solidFill>
              </a:rPr>
              <a:t>, 세 번째는 </a:t>
            </a:r>
            <a:r>
              <a:rPr lang="ko" b="1">
                <a:solidFill>
                  <a:schemeClr val="dk1"/>
                </a:solidFill>
              </a:rPr>
              <a:t>Recipe Set값과 장비 Actual값의 편차</a:t>
            </a:r>
            <a:r>
              <a:rPr lang="ko">
                <a:solidFill>
                  <a:schemeClr val="dk1"/>
                </a:solidFill>
              </a:rPr>
              <a:t>, 마지막으로 </a:t>
            </a:r>
            <a:r>
              <a:rPr lang="ko" b="1">
                <a:solidFill>
                  <a:schemeClr val="dk1"/>
                </a:solidFill>
              </a:rPr>
              <a:t>Sensor Calibration 이상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다만 이 네 가지가 현재 확정된 근본원인이라는 의미는 아닙니다.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현재 데이터로 가능성이 높은 원인을 선정한 것이고, 이후 실행계획을 통해 실제 품질 영향 여부를 검증하도록 구성했습니다.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f3eda6c738_12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1" name="Google Shape;571;g3f3eda6c738_12_4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572" name="Google Shape;572;g3f3eda6c738_12_4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f3eda6c738_12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8" name="Google Shape;608;g3f3eda6c738_12_8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609" name="Google Shape;609;g3f3eda6c738_12_8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f3eda6c738_12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3" name="Google Shape;653;g3f3eda6c738_12_1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654" name="Google Shape;654;g3f3eda6c738_12_1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f6b189dc26_4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f6b189dc26_4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선정한 네 가지 원인에 대해서는 단기·중기·장기로 개선안을 구분했습니다.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단기적으로는 Recipe Set-Actual 교차검증, Sensor Calibration, Chuck 세정 및 점검, Rough Grinding 주요 Parameter 이상 여부 확인처럼 즉시 실행 가능한 조치를 선정했습니다.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중기적으로는 일회성 점검을 넘어 허용편차와 관리기준을 설정하고, Rough Grinding 조건별 Crack·TTV 영향을 검증하여 최적조건을 도출하도록 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장기적으로는 Recipe와 Parameter 자동 모니터링, SPC 기반 이상감지, Predictive Maintenance 등 사전 예방관리 체계를 구축하는 방향으로 설정했습니다.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solidFill>
                  <a:schemeClr val="dk1"/>
                </a:solidFill>
              </a:rPr>
              <a:t>이 가운데 초록색으로 표시한 항목은 현재 실행 가능성과 효율을 고려하여 최적의 개선안으로 선정한 것입니다.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f6b189dc26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3f6b189dc26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선정한 개선안은 효과뿐 아니라 리스크, 적용 난이도, 비용 측면에서 비교했습니다.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Recipe는 허용편차 기준 재설정으로 공정조건을 안정화할 수 있으며 기존데이터를 활용하여 추가 비용이 낮고 적용이 용이합니다. 하지만 관리 조건의 강화로 공정 유연성이 저하된다는 리스크도 존재합니다.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Sensor는 측정 신뢰성을 확보할 수 있으며 Calibration 절차를 활용함으로 적용이 용이합니다. 하지만 점검과 Calibration 중 설비 사용이 제한되며 그에 따른 비용이 발생하는 리스크도 존재합니다.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Chuck의 경우 세정과 점검을 통해 국부적으로 작용하던 응력을 줄여줄 수 있습니다. 하지만 Chuck의 평탄도와 Vacuum 점검 및 관리 기준을 설정해야 하며 점검과 세정 중에는 설비 가동이 제한되고 부품 교체 등을 통해 비용이 발생하는 리스크도 존재합니다.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Rough Grinding 조건 최적화는 Crack을 직접적으로 저감할 가능성이 가장 크지만, 조건 변경에 따라 TTV나 생산성이 영향을 받을 수 있고 DOE와 Wafer 투입이 필요하다는 부담이 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따라서 </a:t>
            </a:r>
            <a:r>
              <a:rPr lang="ko" b="1">
                <a:solidFill>
                  <a:schemeClr val="dk1"/>
                </a:solidFill>
              </a:rPr>
              <a:t>Sensor와 Chuck은 우선 점검하고, Recipe는 관리기준을 설정하며, Rough Grinding은 DOE를 통해 검증 후 최적화하는 방식</a:t>
            </a:r>
            <a:r>
              <a:rPr lang="ko">
                <a:solidFill>
                  <a:schemeClr val="dk1"/>
                </a:solidFill>
              </a:rPr>
              <a:t>으로 실행 순서를 설정했습니다.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f3eda6c738_1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3f3eda6c738_1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이를 바탕으로 각 개선안을 러프하게 실제 Action Plan으로 구체화했습니다.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Recipe는 Set-Actual 허용편차를 설정하여 공정조건의 변동을 관리하고, Sensor는 Calibration과 교차검증을 통해 TTV 측정 신뢰성을 확보하도록 했습니다.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Wafer Chuck은 이물, 평탄도, Vacuum 상태를 점검하여 Wafer 지지 불균일 가능성을 확인합니다.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마지막으로 Rough Grinding은 Feed Rate, RPM, 가공압력별 품질 영향을 검증하여 TTV를 안정화하고 Crack을 감소시키는 것을 목표로 설정했습니다.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각 항목별로 담당자와 완료 예정일도 지정하여 단순 개선 아이디어가 아니라 실제 실행 가능한 계획으로 구성했습니다.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f6b189dc26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3f6b189dc26_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앞서 선정한 네 가지 개선안에 대해서 원인 여부를 검증할 수 있도록 구체적인 실행계획을 수립했습니다.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>
                <a:solidFill>
                  <a:schemeClr val="dk1"/>
                </a:solidFill>
              </a:rPr>
              <a:t>먼저 첫 번째는 </a:t>
            </a:r>
            <a:r>
              <a:rPr lang="ko" b="1">
                <a:solidFill>
                  <a:schemeClr val="dk1"/>
                </a:solidFill>
              </a:rPr>
              <a:t>Rough Grinding 조건 최적화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현재 저희가 가장 중요하게 보고 있는 가설은 이 과정에서 Feed Rate, RPM, 가공압력과 같은 주요 Parameter가 과도하거나 균일하지 않을 경우 Wafer에 가해지는 연삭 하중이 증가하고, 이것이 Crack과 TTV 이상으로 연결될 수 있다는 것입니다.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각 Parameter를 단계별로 조정하면서 조건별 Crack과 TTV 변화를 확인할 계획입니다.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여기서 중요한 점은 Crack을 낮추더라도 TTV가 악화된다면 좋은 조건이라고 볼 수 없기 때문에, </a:t>
            </a:r>
            <a:r>
              <a:rPr lang="ko" b="1">
                <a:solidFill>
                  <a:schemeClr val="dk1"/>
                </a:solidFill>
              </a:rPr>
              <a:t>Crack과 TTV를 동시에 만족시키는 조건을 찾는 것</a:t>
            </a:r>
            <a:r>
              <a:rPr lang="ko">
                <a:solidFill>
                  <a:schemeClr val="dk1"/>
                </a:solidFill>
              </a:rPr>
              <a:t>을 완료 기준으로 설정했습니다.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최종적으로 Crack 3 이하, TTV 2마이크로미터 이하의 Spec을 동시에 만족하는 조건이 확인되면 해당 조건을 Recipe에 반영하고 표준화한 뒤, 실제 양산 적용 후에도 Crack과 TTV Trend를 지속적으로 모니터링할 계획입니다.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>
                <a:solidFill>
                  <a:schemeClr val="dk1"/>
                </a:solidFill>
              </a:rPr>
              <a:t>두 번째는 </a:t>
            </a:r>
            <a:r>
              <a:rPr lang="ko" b="1">
                <a:solidFill>
                  <a:schemeClr val="dk1"/>
                </a:solidFill>
              </a:rPr>
              <a:t>Recipe Set–Actual 관리 기준 수립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Recipe에는 목표로 설정한 Set값이 존재하지만, 실제 장비에서 구현되는 Actual값이 항상 동일하다고 볼 수는 없습니다.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주요 Parameter별로 Set값과 Actual값의 편차를 수집하고, 정상군과 불량군에서 이 편차가 어떻게 다른지를 비교할 계획입니다.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예를 들어 불량 Wafer에서 특정 Parameter의 Set–Actual 편차가 지속적으로 크게 나타난다면, 해당 Parameter를 품질 영향 후보로 선정할 수 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이후 해당 Parameter 편차와 Crack 및 TTV의 관계를 분석하고, 품질에 영향을 주는 주요 Parameter를 식별한 뒤 허용 가능한 상·하한 기준을 설정할 계획입니다.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완료 후에는 단순히 기준만 만드는 것이 아니라 해당 허용편차를 시스템에 등록하고, 편차가 기준을 초과할 경우 Alarm을 발생시키고 필요 시 Interlock까지 연계하는 방향으로 관리하겠습니다.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또한 양산 데이터를 지속적으로 축적하면서 현재 설정한 허용편차가 적절한지도 주기적으로 재검토할 계획입니다.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>
                <a:solidFill>
                  <a:schemeClr val="dk1"/>
                </a:solidFill>
              </a:rPr>
              <a:t>세 번째는 </a:t>
            </a:r>
            <a:r>
              <a:rPr lang="ko" b="1">
                <a:solidFill>
                  <a:schemeClr val="dk1"/>
                </a:solidFill>
              </a:rPr>
              <a:t>Wafer Chuck 이상 점검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Chuck의 경우 단순히 표면을 세정하는 것에서 끝내지 않고, Wafer를 실제로 균일하게 지지하고 있는지를 확인하는 방향으로 검증 계획을 세웠습니다.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우선 Chuck 표면의 이물과 평탄도를 점검하고 Vacuum 흡착압이 관리 기준을 만족하는지 확인합니다.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이후 Chuck 세정 전과 후의 TTV와 Scratch를 비교하여 실제로 품질 특성이 개선되는지를 확인할 계획입니다.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또한, Chuck의 특정 위치에 평탄도 이상이나 이물이 존재하고, Wafer에서도 동일한 위치에 TTV 또는 Scratch 이상이 반복적으로 나타난다면 Chuck과 불량 간의 연관성을 좀 더 강하게 확인할 수 있어 위치 정보를 중요하게 확인해야 합니다.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Chuck 위치와 Wafer 이상 위치를 Mapping하여 공간적인 일치 여부까지 확인할 계획입니다.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완료 기준은 Chuck 평탄도와 Vacuum이 관리 기준을 만족하면서, 동시에 세정 전 대비 TTV 또는 Scratch의 개선이 확인되는 것입니다.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이후에는 일회성 조치로 끝내지 않고 정기 세정과 점검 주기를 표준화하고, 열화나 이상이 반복될 경우 재가공 또는 교체 기준까지 운영할 계획입니다.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>
                <a:solidFill>
                  <a:schemeClr val="dk1"/>
                </a:solidFill>
              </a:rPr>
              <a:t>마지막은 </a:t>
            </a:r>
            <a:r>
              <a:rPr lang="ko" b="1">
                <a:solidFill>
                  <a:schemeClr val="dk1"/>
                </a:solidFill>
              </a:rPr>
              <a:t>Sensor Calibration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 항목은 다른 개선안과 목적을 달리하여 실제 공정 상태를 개선하는 것이 아닌 분석하고 있는 데이터 자체가 정확한지를 검증하는 것을 목적으로 합니다.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현재 TTV를 중요한 관리지표로 사용하고 있기 때문에, 측정값에 Drift나 Calibration 이상이 존재한다면 잘못된 데이터를 기반으로 공정 조건을 조정할 위험이 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In-line 두께 계측기를 Calibration하고, Reference Wafer 또는 기준 계측기와 측정값을 비교해 실제 측정편차를 확인할 계획입니다.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또한 교정 전과 후의 측정값 차이를 확인하고 반복 측정을 실시하여 측정값의 Repeatability도 검증합니다.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완료 기준은 Reference 대비 측정편차가 허용규격 내에 들어오고, 반복 측정 시에도 안정적인 결과가 확보되는 것입니다.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이후에는 Calibration 주기를 표준화하고 교정 이력을 관리하며, 기준을 벗어날 경우 즉시 재교정하고 필요하다면 계측기 이중화도 검토할 계획입니다.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f3eda6c738_1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3f3eda6c738_1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앞서 선정한 네 가지 개선안에 대해서 원인 여부를 검증할 수 있도록 구체적인 실행계획을 수립했습니다.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>
                <a:solidFill>
                  <a:schemeClr val="dk1"/>
                </a:solidFill>
              </a:rPr>
              <a:t>먼저 첫 번째는 </a:t>
            </a:r>
            <a:r>
              <a:rPr lang="ko" b="1">
                <a:solidFill>
                  <a:schemeClr val="dk1"/>
                </a:solidFill>
              </a:rPr>
              <a:t>Rough Grinding 조건 최적화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현재 저희가 가장 중요하게 보고 있는 가설은 이 과정에서 Feed Rate, RPM, 가공압력과 같은 주요 Parameter가 과도하거나 균일하지 않을 경우 Wafer에 가해지는 연삭 하중이 증가하고, 이것이 Crack과 TTV 이상으로 연결될 수 있다는 것입니다.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각 Parameter를 단계별로 조정하면서 조건별 Crack과 TTV 변화를 확인할 계획입니다.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여기서 중요한 점은 Crack을 낮추더라도 TTV가 악화된다면 좋은 조건이라고 볼 수 없기 때문에, </a:t>
            </a:r>
            <a:r>
              <a:rPr lang="ko" b="1">
                <a:solidFill>
                  <a:schemeClr val="dk1"/>
                </a:solidFill>
              </a:rPr>
              <a:t>Crack과 TTV를 동시에 만족시키는 조건을 찾는 것</a:t>
            </a:r>
            <a:r>
              <a:rPr lang="ko">
                <a:solidFill>
                  <a:schemeClr val="dk1"/>
                </a:solidFill>
              </a:rPr>
              <a:t>을 완료 기준으로 설정했습니다.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최종적으로 Crack 3 이하, TTV 2마이크로미터 이하의 Spec을 동시에 만족하는 조건이 확인되면 해당 조건을 Recipe에 반영하고 표준화한 뒤, 실제 양산 적용 후에도 Crack과 TTV Trend를 지속적으로 모니터링할 계획입니다.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>
                <a:solidFill>
                  <a:schemeClr val="dk1"/>
                </a:solidFill>
              </a:rPr>
              <a:t>두 번째는 </a:t>
            </a:r>
            <a:r>
              <a:rPr lang="ko" b="1">
                <a:solidFill>
                  <a:schemeClr val="dk1"/>
                </a:solidFill>
              </a:rPr>
              <a:t>Recipe Set–Actual 관리 기준 수립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Recipe에는 목표로 설정한 Set값이 존재하지만, 실제 장비에서 구현되는 Actual값이 항상 동일하다고 볼 수는 없습니다.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주요 Parameter별로 Set값과 Actual값의 편차를 수집하고, 정상군과 불량군에서 이 편차가 어떻게 다른지를 비교할 계획입니다.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예를 들어 불량 Wafer에서 특정 Parameter의 Set–Actual 편차가 지속적으로 크게 나타난다면, 해당 Parameter를 품질 영향 후보로 선정할 수 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이후 해당 Parameter 편차와 Crack 및 TTV의 관계를 분석하고, 품질에 영향을 주는 주요 Parameter를 식별한 뒤 허용 가능한 상·하한 기준을 설정할 계획입니다.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완료 후에는 단순히 기준만 만드는 것이 아니라 해당 허용편차를 시스템에 등록하고, 편차가 기준을 초과할 경우 Alarm을 발생시키고 필요 시 Interlock까지 연계하는 방향으로 관리하겠습니다.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또한 양산 데이터를 지속적으로 축적하면서 현재 설정한 허용편차가 적절한지도 주기적으로 재검토할 계획입니다.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>
                <a:solidFill>
                  <a:schemeClr val="dk1"/>
                </a:solidFill>
              </a:rPr>
              <a:t>세 번째는 </a:t>
            </a:r>
            <a:r>
              <a:rPr lang="ko" b="1">
                <a:solidFill>
                  <a:schemeClr val="dk1"/>
                </a:solidFill>
              </a:rPr>
              <a:t>Wafer Chuck 이상 점검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Chuck의 경우 단순히 표면을 세정하는 것에서 끝내지 않고, Wafer를 실제로 균일하게 지지하고 있는지를 확인하는 방향으로 검증 계획을 세웠습니다.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우선 Chuck 표면의 이물과 평탄도를 점검하고 Vacuum 흡착압이 관리 기준을 만족하는지 확인합니다.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이후 Chuck 세정 전과 후의 TTV와 Scratch를 비교하여 실제로 품질 특성이 개선되는지를 확인할 계획입니다.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또한, Chuck의 특정 위치에 평탄도 이상이나 이물이 존재하고, Wafer에서도 동일한 위치에 TTV 또는 Scratch 이상이 반복적으로 나타난다면 Chuck과 불량 간의 연관성을 좀 더 강하게 확인할 수 있어 위치 정보를 중요하게 확인해야 합니다.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Chuck 위치와 Wafer 이상 위치를 Mapping하여 공간적인 일치 여부까지 확인할 계획입니다.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완료 기준은 Chuck 평탄도와 Vacuum이 관리 기준을 만족하면서, 동시에 세정 전 대비 TTV 또는 Scratch의 개선이 확인되는 것입니다.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이후에는 일회성 조치로 끝내지 않고 정기 세정과 점검 주기를 표준화하고, 열화나 이상이 반복될 경우 재가공 또는 교체 기준까지 운영할 계획입니다.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>
                <a:solidFill>
                  <a:schemeClr val="dk1"/>
                </a:solidFill>
              </a:rPr>
              <a:t>마지막은 </a:t>
            </a:r>
            <a:r>
              <a:rPr lang="ko" b="1">
                <a:solidFill>
                  <a:schemeClr val="dk1"/>
                </a:solidFill>
              </a:rPr>
              <a:t>Sensor Calibration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 항목은 다른 개선안과 목적을 달리하여 실제 공정 상태를 개선하는 것이 아닌 분석하고 있는 데이터 자체가 정확한지를 검증하는 것을 목적으로 합니다.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현재 TTV를 중요한 관리지표로 사용하고 있기 때문에, 측정값에 Drift나 Calibration 이상이 존재한다면 잘못된 데이터를 기반으로 공정 조건을 조정할 위험이 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In-line 두께 계측기를 Calibration하고, Reference Wafer 또는 기준 계측기와 측정값을 비교해 실제 측정편차를 확인할 계획입니다.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또한 교정 전과 후의 측정값 차이를 확인하고 반복 측정을 실시하여 측정값의 Repeatability도 검증합니다.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완료 기준은 Reference 대비 측정편차가 허용규격 내에 들어오고, 반복 측정 시에도 안정적인 결과가 확보되는 것입니다.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이후에는 Calibration 주기를 표준화하고 교정 이력을 관리하며, 기준을 벗어날 경우 즉시 재교정하고 필요하다면 계측기 이중화도 검토할 계획입니다.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f3eda6c738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1" name="Google Shape;781;g3f3eda6c738_8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782" name="Google Shape;782;g3f3eda6c738_8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f6b189dc26_2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3f6b189dc26_2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“앞서 네 가지 개선안을 도출한 이후, </a:t>
            </a:r>
            <a:r>
              <a:rPr lang="ko" b="1">
                <a:solidFill>
                  <a:schemeClr val="dk1"/>
                </a:solidFill>
              </a:rPr>
              <a:t>각 개선안이 실제로 어느 정도의 개선효과를 가질 수 있는지를 정량적으로 비교하기 위해 별도의 BG 공정 시뮬레이터를 제작했습니다.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이번 프로젝트는 교육 프로그램에서 제공된 Excel 데이터를 기반으로 진행했기 때문에 실제 BG 장비를 사용하거나 공정조건을 직접 변경해 검증할 수 있는 환경은 아니었습니다.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그렇다고 원인 분석 후 개선안을 제안하는 것에서 끝내면, </a:t>
            </a:r>
            <a:r>
              <a:rPr lang="ko" b="1">
                <a:solidFill>
                  <a:schemeClr val="dk1"/>
                </a:solidFill>
              </a:rPr>
              <a:t>어떤 개선안을 우선적으로 적용해야 하는지, 그리고 개선안들을 함께 적용했을 때 어느 정도의 추가적인 효과가 있는지를 비교하기 어렵다고 판단했습니다.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그래서 제공된 </a:t>
            </a:r>
            <a:r>
              <a:rPr lang="ko" b="1">
                <a:solidFill>
                  <a:schemeClr val="dk1"/>
                </a:solidFill>
              </a:rPr>
              <a:t>2만 건의 데이터 중 BG 공정 데이터만 활용하여</a:t>
            </a:r>
            <a:r>
              <a:rPr lang="ko">
                <a:solidFill>
                  <a:schemeClr val="dk1"/>
                </a:solidFill>
              </a:rPr>
              <a:t>, 개선조건을 가상으로 적용하고 Crack과 TTV의 변화를 비교할 수 있는 시뮬레이터를 제작했습니다.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먼저 개선안을 적용하지 않은 0% 상태에서는 임의의 결과가 나오지 않도록 </a:t>
            </a:r>
            <a:r>
              <a:rPr lang="ko" b="1">
                <a:solidFill>
                  <a:schemeClr val="dk1"/>
                </a:solidFill>
              </a:rPr>
              <a:t>원본 Excel의 BG 데이터를 그대로 기준값으로 설정했습니다.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그리고 단순히 평균값이 낮아지는지만 보는 것이 아니라, 실제 품질 기준을 반영하기 위해 </a:t>
            </a:r>
            <a:r>
              <a:rPr lang="ko" b="1">
                <a:solidFill>
                  <a:schemeClr val="dk1"/>
                </a:solidFill>
              </a:rPr>
              <a:t>Crack은 3 이하, TTV는 2마이크로미터 이하를 정상 기준으로 설정</a:t>
            </a:r>
            <a:r>
              <a:rPr lang="ko">
                <a:solidFill>
                  <a:schemeClr val="dk1"/>
                </a:solidFill>
              </a:rPr>
              <a:t>하고 각 조건에서 NG율이 어떻게 변화하는지를 비교했습니다.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첫 번째로 </a:t>
            </a:r>
            <a:r>
              <a:rPr lang="ko" b="1">
                <a:solidFill>
                  <a:schemeClr val="dk1"/>
                </a:solidFill>
              </a:rPr>
              <a:t>Rough Grinding 조건만 최적화한 경우</a:t>
            </a:r>
            <a:r>
              <a:rPr lang="ko">
                <a:solidFill>
                  <a:schemeClr val="dk1"/>
                </a:solidFill>
              </a:rPr>
              <a:t>를 확인했습니다.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실행계획에서 설정한 Feed Rate, RPM, 가공압력을 각각 3수준으로 설정했고, 이를 조합하여 </a:t>
            </a:r>
            <a:r>
              <a:rPr lang="ko" b="1">
                <a:solidFill>
                  <a:schemeClr val="dk1"/>
                </a:solidFill>
              </a:rPr>
              <a:t>총 27개의 가상 조건을 비교했습니다.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오른쪽 표가 27개 조건의 결과입니다.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 중 </a:t>
            </a:r>
            <a:r>
              <a:rPr lang="ko" b="1">
                <a:solidFill>
                  <a:schemeClr val="dk1"/>
                </a:solidFill>
              </a:rPr>
              <a:t>Feed Rate 90%, RPM 110%, 가공압력 90% 조합이 가장 우수한 후보 조건</a:t>
            </a:r>
            <a:r>
              <a:rPr lang="ko">
                <a:solidFill>
                  <a:schemeClr val="dk1"/>
                </a:solidFill>
              </a:rPr>
              <a:t>으로 나타났습니다.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해당 조건을 적용했을 때 Crack NG율은 </a:t>
            </a:r>
            <a:r>
              <a:rPr lang="ko" b="1">
                <a:solidFill>
                  <a:schemeClr val="dk1"/>
                </a:solidFill>
              </a:rPr>
              <a:t>6.4%</a:t>
            </a:r>
            <a:r>
              <a:rPr lang="ko">
                <a:solidFill>
                  <a:schemeClr val="dk1"/>
                </a:solidFill>
              </a:rPr>
              <a:t>, TTV NG율은 </a:t>
            </a:r>
            <a:r>
              <a:rPr lang="ko" b="1">
                <a:solidFill>
                  <a:schemeClr val="dk1"/>
                </a:solidFill>
              </a:rPr>
              <a:t>21.7%</a:t>
            </a:r>
            <a:r>
              <a:rPr lang="ko">
                <a:solidFill>
                  <a:schemeClr val="dk1"/>
                </a:solidFill>
              </a:rPr>
              <a:t>까지 감소하는 것으로 예측됐습니다.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그리고 이 개선효과를 단순 불량률뿐만 아니라 생산성과 비용 측면에서도 확인하기 위해 </a:t>
            </a:r>
            <a:r>
              <a:rPr lang="ko" b="1">
                <a:solidFill>
                  <a:schemeClr val="dk1"/>
                </a:solidFill>
              </a:rPr>
              <a:t>KPI로 추가 환산했습니다.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클릭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“KPI를 보면, 불량률과 재작업량은 감소하고 BG Pass율은 향상되는 것을 확인할 수 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비용 효과의 경우 실데이터가 제공되지 않았기 때문에, 비교를 위해 연간 BG 처리량을 100만 장, NG 및 재작업 Wafer 한 장당 비용을 5만 원으로 동일하게 가정했습니다.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 조건을 적용하면 연 83.03억 원을 절약할 수 있다고 볼 수 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Rough Grinding 조건만 최적화해도 상당한 개선효과를 볼 수 있음을 알 수 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 다음으로 Rough Grinding 조건을 제외하고, 나머지 세 가지 개선안을 적용했을 때의 효과를 확인했습니다.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f6b189dc26_2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3f6b189dc26_2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“두 번째는 Rough Grinding 조건은 기존 상태로 유지하고, </a:t>
            </a:r>
            <a:r>
              <a:rPr lang="ko" b="1">
                <a:solidFill>
                  <a:schemeClr val="dk1"/>
                </a:solidFill>
              </a:rPr>
              <a:t>② Recipe Set-Actual 관리, ③ Wafer Chuck 점검, ④ Sensor Calibration을 모두 적용한 경우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 세 가지 개선안을 적용했을 때 Crack NG율은 약 </a:t>
            </a:r>
            <a:r>
              <a:rPr lang="ko" b="1">
                <a:solidFill>
                  <a:schemeClr val="dk1"/>
                </a:solidFill>
              </a:rPr>
              <a:t>13.2%</a:t>
            </a:r>
            <a:r>
              <a:rPr lang="ko">
                <a:solidFill>
                  <a:schemeClr val="dk1"/>
                </a:solidFill>
              </a:rPr>
              <a:t>, TTV NG율은 약 </a:t>
            </a:r>
            <a:r>
              <a:rPr lang="ko" b="1">
                <a:solidFill>
                  <a:schemeClr val="dk1"/>
                </a:solidFill>
              </a:rPr>
              <a:t>21.7%</a:t>
            </a:r>
            <a:r>
              <a:rPr lang="ko">
                <a:solidFill>
                  <a:schemeClr val="dk1"/>
                </a:solidFill>
              </a:rPr>
              <a:t>로 예측됐습니다.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앞선 Rough Grinding 단독 개선에서는 Crack 감소효과가 상대적으로 크게 나타났다면, 이번 시나리오에서는 </a:t>
            </a:r>
            <a:r>
              <a:rPr lang="ko" b="1">
                <a:solidFill>
                  <a:schemeClr val="dk1"/>
                </a:solidFill>
              </a:rPr>
              <a:t>TTV NG율이 더 낮아지는 결과</a:t>
            </a:r>
            <a:r>
              <a:rPr lang="ko">
                <a:solidFill>
                  <a:schemeClr val="dk1"/>
                </a:solidFill>
              </a:rPr>
              <a:t>를 확인할 수 있었습니다.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즉 공정조건 자체를 조정하는 것뿐만 아니라 Recipe 편차, Chuck 상태, 계측 신뢰성과 같은 관리항목 역시 BG 품질 안정화에 함께 고려할 필요가 있다고 판단했습니다.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 결과 역시 동일한 기준으로 KPI를 환산했습니다.”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클릭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불량률과 재작업량은 감소하고 BG Pass율은 향상되는 것을 확인할 수 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또한 연간 47.6억을 절약할 수 있다고 볼 수 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하지만, Rough Grinding 조건과 비교한다면 증감의 비율이 비교적 작음을 알 수 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solidFill>
                  <a:schemeClr val="dk1"/>
                </a:solidFill>
              </a:rPr>
              <a:t>그래서 마지막으로 모든 개선안을 적용했을 때의 결과를 확인했습니다.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f6b189dc26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3f6b189dc26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“마지막은 </a:t>
            </a:r>
            <a:r>
              <a:rPr lang="ko" b="1">
                <a:solidFill>
                  <a:schemeClr val="dk1"/>
                </a:solidFill>
              </a:rPr>
              <a:t>네 가지 개선안을 모두 적용한 경우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Rough Grinding에는 앞서 27개 조건 중 가장 우수한 후보로 나타난 </a:t>
            </a:r>
            <a:r>
              <a:rPr lang="ko" b="1">
                <a:solidFill>
                  <a:schemeClr val="dk1"/>
                </a:solidFill>
              </a:rPr>
              <a:t>Feed Rate 90%, RPM 110%, 가공압력 90% 조건</a:t>
            </a:r>
            <a:r>
              <a:rPr lang="ko">
                <a:solidFill>
                  <a:schemeClr val="dk1"/>
                </a:solidFill>
              </a:rPr>
              <a:t>을 적용했고, 여기에 Recipe Set-Actual 관리, Wafer Chuck 점검, Sensor Calibration을 모두 적용했습니다.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그 결과 Crack NG율은 </a:t>
            </a:r>
            <a:r>
              <a:rPr lang="ko" b="1">
                <a:solidFill>
                  <a:schemeClr val="dk1"/>
                </a:solidFill>
              </a:rPr>
              <a:t>2.9%</a:t>
            </a:r>
            <a:r>
              <a:rPr lang="ko">
                <a:solidFill>
                  <a:schemeClr val="dk1"/>
                </a:solidFill>
              </a:rPr>
              <a:t>, TTV NG율은 </a:t>
            </a:r>
            <a:r>
              <a:rPr lang="ko" b="1">
                <a:solidFill>
                  <a:schemeClr val="dk1"/>
                </a:solidFill>
              </a:rPr>
              <a:t>9.6%</a:t>
            </a:r>
            <a:r>
              <a:rPr lang="ko">
                <a:solidFill>
                  <a:schemeClr val="dk1"/>
                </a:solidFill>
              </a:rPr>
              <a:t>까지 감소하는 것으로 예측됐습니다.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즉 ①만 적용하거나 ②부터 ④까지만 적용했을 때보다, </a:t>
            </a:r>
            <a:r>
              <a:rPr lang="ko" b="1">
                <a:solidFill>
                  <a:schemeClr val="dk1"/>
                </a:solidFill>
              </a:rPr>
              <a:t>공정조건 최적화와 설비·계측 관리를 함께 적용했을 때 Crack과 TTV 모두에서 가장 큰 개선효과</a:t>
            </a:r>
            <a:r>
              <a:rPr lang="ko">
                <a:solidFill>
                  <a:schemeClr val="dk1"/>
                </a:solidFill>
              </a:rPr>
              <a:t>가 나타났습니다.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마지막으로 동일한 기준으로 전체 개선안의 KPI를 확인했습니다.”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클릭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불량률과 재작업량은 마찬가지로 감소하고 BG Pass율은 향상되는 것을 확인할 수 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또한 연간 143.9억을 절약할 수 있다고 볼 수 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시뮬레이션 결과를 종합하면, 하나의 개선안만 적용하는 것보다 4개의 주 개선안을 </a:t>
            </a:r>
            <a:r>
              <a:rPr lang="ko" b="1">
                <a:solidFill>
                  <a:schemeClr val="dk1"/>
                </a:solidFill>
              </a:rPr>
              <a:t>함께 적용하는 통합적인 관리방안이 가장 높은 개선효과를 보였습니다.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다만 이번 결과는 실제 장비에서 검증한 결과가 아니라 </a:t>
            </a:r>
            <a:r>
              <a:rPr lang="ko" b="1">
                <a:solidFill>
                  <a:schemeClr val="dk1"/>
                </a:solidFill>
              </a:rPr>
              <a:t>제공된 Excel 데이터를 기반으로 개선안을 가상 적용한 시뮬레이션 결과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구체적인 수치를 실제 양산 개선효과로 단정하기보다는, </a:t>
            </a:r>
            <a:r>
              <a:rPr lang="ko" b="1">
                <a:solidFill>
                  <a:schemeClr val="dk1"/>
                </a:solidFill>
              </a:rPr>
              <a:t>각 개선안의 상대적인 효과를 비교하고 개선 우선순위를 제안하기 위한 결과</a:t>
            </a:r>
            <a:r>
              <a:rPr lang="ko">
                <a:solidFill>
                  <a:schemeClr val="dk1"/>
                </a:solidFill>
              </a:rPr>
              <a:t>로 해석했습니다.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f3eda6c738_8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4" name="Google Shape;864;g3f3eda6c738_8_10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865" name="Google Shape;865;g3f3eda6c738_8_10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f3eda6c738_8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8" name="Google Shape;928;g3f3eda6c738_8_17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929" name="Google Shape;929;g3f3eda6c738_8_17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f6c6aff65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3f6c6aff65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결론은, 저희는 백그라인딩 공정의 크랙과 TTV 문제의 핵심 원인을 Rough Grinding 공정 개선을 통해 개선을 진행할 예정입니다.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이를 통해 불량률을 38.3%에서 9.6%로 감소시키는 효과를 기대하고 있습니다.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3f676d9b0e5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3f676d9b0e5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이상 발표를 맡은 1조였습니다! 감사합니다.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4" name="Google Shape;8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7" name="Google Shape;87;p2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8" name="Google Shape;8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4" name="Google Shape;94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/>
          <p:cNvSpPr/>
          <p:nvPr/>
        </p:nvSpPr>
        <p:spPr>
          <a:xfrm>
            <a:off x="5692140" y="2331720"/>
            <a:ext cx="2194500" cy="2194500"/>
          </a:xfrm>
          <a:prstGeom prst="ellipse">
            <a:avLst/>
          </a:prstGeom>
          <a:noFill/>
          <a:ln w="31750" cap="flat" cmpd="sng">
            <a:solidFill>
              <a:srgbClr val="1B496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2"/>
          <p:cNvSpPr/>
          <p:nvPr/>
        </p:nvSpPr>
        <p:spPr>
          <a:xfrm>
            <a:off x="5932170" y="2571750"/>
            <a:ext cx="1714500" cy="1714500"/>
          </a:xfrm>
          <a:prstGeom prst="ellipse">
            <a:avLst/>
          </a:prstGeom>
          <a:noFill/>
          <a:ln w="15875" cap="flat" cmpd="sng">
            <a:solidFill>
              <a:srgbClr val="2E7D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2"/>
          <p:cNvSpPr/>
          <p:nvPr/>
        </p:nvSpPr>
        <p:spPr>
          <a:xfrm>
            <a:off x="6172200" y="2811780"/>
            <a:ext cx="1234440" cy="1234440"/>
          </a:xfrm>
          <a:prstGeom prst="ellipse">
            <a:avLst/>
          </a:prstGeom>
          <a:noFill/>
          <a:ln w="15875" cap="flat" cmpd="sng">
            <a:solidFill>
              <a:srgbClr val="1B496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2"/>
          <p:cNvSpPr/>
          <p:nvPr/>
        </p:nvSpPr>
        <p:spPr>
          <a:xfrm>
            <a:off x="6412230" y="3051810"/>
            <a:ext cx="754380" cy="754380"/>
          </a:xfrm>
          <a:prstGeom prst="ellipse">
            <a:avLst/>
          </a:prstGeom>
          <a:noFill/>
          <a:ln w="15875" cap="flat" cmpd="sng">
            <a:solidFill>
              <a:srgbClr val="2E7D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2"/>
          <p:cNvSpPr/>
          <p:nvPr/>
        </p:nvSpPr>
        <p:spPr>
          <a:xfrm>
            <a:off x="6686550" y="3326130"/>
            <a:ext cx="205740" cy="205740"/>
          </a:xfrm>
          <a:prstGeom prst="ellipse">
            <a:avLst/>
          </a:prstGeom>
          <a:solidFill>
            <a:srgbClr val="D1495B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2"/>
          <p:cNvSpPr/>
          <p:nvPr/>
        </p:nvSpPr>
        <p:spPr>
          <a:xfrm>
            <a:off x="514350" y="2297420"/>
            <a:ext cx="5898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6DC"/>
              </a:buClr>
              <a:buSzPts val="1100"/>
              <a:buFont typeface="Calibri"/>
              <a:buNone/>
            </a:pPr>
            <a:r>
              <a:rPr lang="ko" sz="1100" b="0" i="1" u="none" strike="noStrike" cap="none">
                <a:solidFill>
                  <a:srgbClr val="AEC6DC"/>
                </a:solidFill>
                <a:latin typeface="Calibri"/>
                <a:ea typeface="Calibri"/>
                <a:cs typeface="Calibri"/>
                <a:sym typeface="Calibri"/>
              </a:rPr>
              <a:t>1조</a:t>
            </a:r>
            <a:endParaRPr sz="1100" b="0" i="1" u="none" strike="noStrike" cap="none">
              <a:solidFill>
                <a:srgbClr val="AEC6D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6DC"/>
              </a:buClr>
              <a:buSzPts val="1100"/>
              <a:buFont typeface="Calibri"/>
              <a:buNone/>
            </a:pPr>
            <a:r>
              <a:rPr lang="ko" sz="1100" b="0" i="1" u="none" strike="noStrike" cap="none">
                <a:solidFill>
                  <a:srgbClr val="AEC6DC"/>
                </a:solidFill>
                <a:latin typeface="Calibri"/>
                <a:ea typeface="Calibri"/>
                <a:cs typeface="Calibri"/>
                <a:sym typeface="Calibri"/>
              </a:rPr>
              <a:t>김화영 성웅제 이동호 정회찬 한건희</a:t>
            </a:r>
            <a:endParaRPr sz="1100" b="0" i="1" u="none" strike="noStrike" cap="none">
              <a:solidFill>
                <a:srgbClr val="AEC6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2"/>
          <p:cNvSpPr/>
          <p:nvPr/>
        </p:nvSpPr>
        <p:spPr>
          <a:xfrm>
            <a:off x="514350" y="3909060"/>
            <a:ext cx="1988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 = 20,000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2"/>
          <p:cNvSpPr/>
          <p:nvPr/>
        </p:nvSpPr>
        <p:spPr>
          <a:xfrm>
            <a:off x="514350" y="4251960"/>
            <a:ext cx="1988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6CC"/>
              </a:buClr>
              <a:buSzPts val="800"/>
              <a:buFont typeface="Calibri"/>
              <a:buNone/>
            </a:pPr>
            <a:r>
              <a:rPr lang="ko" sz="800" b="0" i="0" u="none" strike="noStrike" cap="none">
                <a:solidFill>
                  <a:srgbClr val="9FB6CC"/>
                </a:solidFill>
                <a:latin typeface="Calibri"/>
                <a:ea typeface="Calibri"/>
                <a:cs typeface="Calibri"/>
                <a:sym typeface="Calibri"/>
              </a:rPr>
              <a:t>분석 샘플 (합성 데이터)</a:t>
            </a: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2"/>
          <p:cNvSpPr/>
          <p:nvPr/>
        </p:nvSpPr>
        <p:spPr>
          <a:xfrm>
            <a:off x="514350" y="4766310"/>
            <a:ext cx="8092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93AA"/>
              </a:buClr>
              <a:buSzPts val="800"/>
              <a:buFont typeface="Calibri"/>
              <a:buNone/>
            </a:pPr>
            <a:r>
              <a:rPr lang="ko" sz="800" b="0" i="0" u="none" strike="noStrike" cap="none">
                <a:solidFill>
                  <a:srgbClr val="7C93AA"/>
                </a:solidFill>
                <a:latin typeface="Calibri"/>
                <a:ea typeface="Calibri"/>
                <a:cs typeface="Calibri"/>
                <a:sym typeface="Calibri"/>
              </a:rPr>
              <a:t>반도체 패키징 Backgrinding 공정 SPC 종합 분석 리포트  </a:t>
            </a: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2"/>
          <p:cNvSpPr/>
          <p:nvPr/>
        </p:nvSpPr>
        <p:spPr>
          <a:xfrm>
            <a:off x="480046" y="1063000"/>
            <a:ext cx="858775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Cambria"/>
              <a:buNone/>
            </a:pPr>
            <a:r>
              <a:rPr lang="ko" sz="39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Backgrinding 공정 불량 데이터 분석</a:t>
            </a:r>
            <a:endParaRPr sz="3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2"/>
          <p:cNvSpPr/>
          <p:nvPr/>
        </p:nvSpPr>
        <p:spPr>
          <a:xfrm>
            <a:off x="493776" y="1748790"/>
            <a:ext cx="617220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E4F0"/>
              </a:buClr>
              <a:buSzPts val="2000"/>
              <a:buFont typeface="Cambria"/>
              <a:buNone/>
            </a:pPr>
            <a:r>
              <a:rPr lang="ko" sz="2000" b="1" i="0" u="none" strike="noStrike" cap="none">
                <a:solidFill>
                  <a:srgbClr val="CDE4F0"/>
                </a:solidFill>
                <a:latin typeface="Cambria"/>
                <a:ea typeface="Cambria"/>
                <a:cs typeface="Cambria"/>
                <a:sym typeface="Cambria"/>
              </a:rPr>
              <a:t>불량 원인 분석 및 개선 방안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목차</a:t>
            </a:r>
            <a:endParaRPr sz="23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33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0" name="Google Shape;180;p33"/>
          <p:cNvSpPr/>
          <p:nvPr/>
        </p:nvSpPr>
        <p:spPr>
          <a:xfrm>
            <a:off x="210900" y="1671438"/>
            <a:ext cx="39624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93A8"/>
              </a:buClr>
              <a:buSzPts val="953"/>
              <a:buFont typeface="Calibri"/>
              <a:buNone/>
            </a:pPr>
            <a:r>
              <a:rPr lang="ko" sz="1200" b="1" i="0" u="none" strike="noStrike" cap="none">
                <a:solidFill>
                  <a:srgbClr val="8C93A8"/>
                </a:solidFill>
                <a:latin typeface="Calibri"/>
                <a:ea typeface="Calibri"/>
                <a:cs typeface="Calibri"/>
                <a:sym typeface="Calibri"/>
              </a:rPr>
              <a:t>배경 및 현황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3"/>
          <p:cNvSpPr/>
          <p:nvPr/>
        </p:nvSpPr>
        <p:spPr>
          <a:xfrm>
            <a:off x="210900" y="1948804"/>
            <a:ext cx="316800" cy="316800"/>
          </a:xfrm>
          <a:prstGeom prst="ellipse">
            <a:avLst/>
          </a:prstGeom>
          <a:solidFill>
            <a:srgbClr val="8C93A8"/>
          </a:solidFill>
          <a:ln>
            <a:noFill/>
          </a:ln>
        </p:spPr>
        <p:txBody>
          <a:bodyPr spcFirstLastPara="1" wrap="square" lIns="79225" tIns="79225" rIns="79225" bIns="792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33"/>
          <p:cNvSpPr/>
          <p:nvPr/>
        </p:nvSpPr>
        <p:spPr>
          <a:xfrm>
            <a:off x="210900" y="1948804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alibri"/>
              <a:buNone/>
            </a:pPr>
            <a:r>
              <a:rPr lang="ko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3"/>
          <p:cNvSpPr/>
          <p:nvPr/>
        </p:nvSpPr>
        <p:spPr>
          <a:xfrm>
            <a:off x="646760" y="1909180"/>
            <a:ext cx="37248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lang="ko" sz="15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BG 공정 문제 정의 및 추진 배경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3"/>
          <p:cNvSpPr/>
          <p:nvPr/>
        </p:nvSpPr>
        <p:spPr>
          <a:xfrm>
            <a:off x="210900" y="2384665"/>
            <a:ext cx="316800" cy="316800"/>
          </a:xfrm>
          <a:prstGeom prst="ellipse">
            <a:avLst/>
          </a:prstGeom>
          <a:solidFill>
            <a:srgbClr val="8C93A8"/>
          </a:solidFill>
          <a:ln>
            <a:noFill/>
          </a:ln>
        </p:spPr>
        <p:txBody>
          <a:bodyPr spcFirstLastPara="1" wrap="square" lIns="79225" tIns="79225" rIns="79225" bIns="792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33"/>
          <p:cNvSpPr/>
          <p:nvPr/>
        </p:nvSpPr>
        <p:spPr>
          <a:xfrm>
            <a:off x="210900" y="238466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alibri"/>
              <a:buNone/>
            </a:pPr>
            <a:r>
              <a:rPr lang="ko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3"/>
          <p:cNvSpPr/>
          <p:nvPr/>
        </p:nvSpPr>
        <p:spPr>
          <a:xfrm>
            <a:off x="646760" y="2345041"/>
            <a:ext cx="37248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lang="ko" sz="15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불량 현황 요약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3"/>
          <p:cNvSpPr/>
          <p:nvPr/>
        </p:nvSpPr>
        <p:spPr>
          <a:xfrm>
            <a:off x="210900" y="3018645"/>
            <a:ext cx="39624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53"/>
              <a:buFont typeface="Calibri"/>
              <a:buNone/>
            </a:pPr>
            <a:r>
              <a:rPr lang="ko" sz="12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데이터 분석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3"/>
          <p:cNvSpPr/>
          <p:nvPr/>
        </p:nvSpPr>
        <p:spPr>
          <a:xfrm>
            <a:off x="210900" y="3296011"/>
            <a:ext cx="316800" cy="3168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79225" tIns="79225" rIns="79225" bIns="792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33"/>
          <p:cNvSpPr/>
          <p:nvPr/>
        </p:nvSpPr>
        <p:spPr>
          <a:xfrm>
            <a:off x="210900" y="3296011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alibri"/>
              <a:buNone/>
            </a:pPr>
            <a:r>
              <a:rPr lang="ko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3"/>
          <p:cNvSpPr/>
          <p:nvPr/>
        </p:nvSpPr>
        <p:spPr>
          <a:xfrm>
            <a:off x="646760" y="3256387"/>
            <a:ext cx="37248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lang="ko" sz="15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데이터 수집 및 분석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3"/>
          <p:cNvSpPr/>
          <p:nvPr/>
        </p:nvSpPr>
        <p:spPr>
          <a:xfrm>
            <a:off x="210900" y="3731872"/>
            <a:ext cx="316800" cy="3168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79225" tIns="79225" rIns="79225" bIns="792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33"/>
          <p:cNvSpPr/>
          <p:nvPr/>
        </p:nvSpPr>
        <p:spPr>
          <a:xfrm>
            <a:off x="210900" y="3731872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alibri"/>
              <a:buNone/>
            </a:pPr>
            <a:r>
              <a:rPr lang="ko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3"/>
          <p:cNvSpPr/>
          <p:nvPr/>
        </p:nvSpPr>
        <p:spPr>
          <a:xfrm>
            <a:off x="646760" y="3692248"/>
            <a:ext cx="37248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lang="ko" sz="15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원인 분석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3"/>
          <p:cNvSpPr/>
          <p:nvPr/>
        </p:nvSpPr>
        <p:spPr>
          <a:xfrm>
            <a:off x="4825912" y="1453513"/>
            <a:ext cx="39624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53"/>
              <a:buFont typeface="Calibri"/>
              <a:buNone/>
            </a:pPr>
            <a:r>
              <a:rPr lang="ko" sz="12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개선 방안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3"/>
          <p:cNvSpPr/>
          <p:nvPr/>
        </p:nvSpPr>
        <p:spPr>
          <a:xfrm>
            <a:off x="4825912" y="1730879"/>
            <a:ext cx="316800" cy="3168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79225" tIns="79225" rIns="79225" bIns="792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33"/>
          <p:cNvSpPr/>
          <p:nvPr/>
        </p:nvSpPr>
        <p:spPr>
          <a:xfrm>
            <a:off x="4825912" y="1730879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alibri"/>
              <a:buNone/>
            </a:pPr>
            <a:r>
              <a:rPr lang="ko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3"/>
          <p:cNvSpPr/>
          <p:nvPr/>
        </p:nvSpPr>
        <p:spPr>
          <a:xfrm>
            <a:off x="5261772" y="1691255"/>
            <a:ext cx="37248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lang="ko" sz="15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개선안 도출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3"/>
          <p:cNvSpPr/>
          <p:nvPr/>
        </p:nvSpPr>
        <p:spPr>
          <a:xfrm>
            <a:off x="4825912" y="2166740"/>
            <a:ext cx="316800" cy="3168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79225" tIns="79225" rIns="79225" bIns="792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3"/>
          <p:cNvSpPr/>
          <p:nvPr/>
        </p:nvSpPr>
        <p:spPr>
          <a:xfrm>
            <a:off x="4825912" y="216674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alibri"/>
              <a:buNone/>
            </a:pPr>
            <a:r>
              <a:rPr lang="ko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3"/>
          <p:cNvSpPr/>
          <p:nvPr/>
        </p:nvSpPr>
        <p:spPr>
          <a:xfrm>
            <a:off x="5261772" y="2127116"/>
            <a:ext cx="37248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lang="ko" sz="15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개선안 비교 및 최적안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3"/>
          <p:cNvSpPr/>
          <p:nvPr/>
        </p:nvSpPr>
        <p:spPr>
          <a:xfrm>
            <a:off x="4825912" y="2602601"/>
            <a:ext cx="316800" cy="3168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79225" tIns="79225" rIns="79225" bIns="792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33"/>
          <p:cNvSpPr/>
          <p:nvPr/>
        </p:nvSpPr>
        <p:spPr>
          <a:xfrm>
            <a:off x="4825912" y="2602601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alibri"/>
              <a:buNone/>
            </a:pPr>
            <a:r>
              <a:rPr lang="ko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3"/>
          <p:cNvSpPr/>
          <p:nvPr/>
        </p:nvSpPr>
        <p:spPr>
          <a:xfrm>
            <a:off x="5261772" y="2562977"/>
            <a:ext cx="37248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lang="ko" sz="15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실행 계획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3"/>
          <p:cNvSpPr/>
          <p:nvPr/>
        </p:nvSpPr>
        <p:spPr>
          <a:xfrm>
            <a:off x="4825912" y="3236581"/>
            <a:ext cx="39624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953"/>
              <a:buFont typeface="Calibri"/>
              <a:buNone/>
            </a:pPr>
            <a:r>
              <a:rPr lang="ko" sz="12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결과 및 결론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3"/>
          <p:cNvSpPr/>
          <p:nvPr/>
        </p:nvSpPr>
        <p:spPr>
          <a:xfrm>
            <a:off x="4825912" y="3513947"/>
            <a:ext cx="316800" cy="31680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txBody>
          <a:bodyPr spcFirstLastPara="1" wrap="square" lIns="79225" tIns="79225" rIns="79225" bIns="792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33"/>
          <p:cNvSpPr/>
          <p:nvPr/>
        </p:nvSpPr>
        <p:spPr>
          <a:xfrm>
            <a:off x="4825912" y="3513947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alibri"/>
              <a:buNone/>
            </a:pPr>
            <a:r>
              <a:rPr lang="ko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3"/>
          <p:cNvSpPr/>
          <p:nvPr/>
        </p:nvSpPr>
        <p:spPr>
          <a:xfrm>
            <a:off x="5261772" y="3474323"/>
            <a:ext cx="37248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lang="ko" sz="15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기대 효과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3"/>
          <p:cNvSpPr/>
          <p:nvPr/>
        </p:nvSpPr>
        <p:spPr>
          <a:xfrm>
            <a:off x="4825912" y="3949808"/>
            <a:ext cx="316800" cy="31680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txBody>
          <a:bodyPr spcFirstLastPara="1" wrap="square" lIns="79225" tIns="79225" rIns="79225" bIns="792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33"/>
          <p:cNvSpPr/>
          <p:nvPr/>
        </p:nvSpPr>
        <p:spPr>
          <a:xfrm>
            <a:off x="4825912" y="3949808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alibri"/>
              <a:buNone/>
            </a:pPr>
            <a:r>
              <a:rPr lang="ko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3"/>
          <p:cNvSpPr/>
          <p:nvPr/>
        </p:nvSpPr>
        <p:spPr>
          <a:xfrm>
            <a:off x="5261772" y="3910184"/>
            <a:ext cx="37248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lang="ko" sz="15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결론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/>
          <p:nvPr/>
        </p:nvSpPr>
        <p:spPr>
          <a:xfrm>
            <a:off x="411475" y="3568592"/>
            <a:ext cx="8401200" cy="14121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4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BG 공정 문제 정의 및 추진 배경</a:t>
            </a:r>
            <a:endParaRPr sz="2300" b="1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17" name="Google Shape;217;p34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8" name="Google Shape;218;p34"/>
          <p:cNvSpPr/>
          <p:nvPr/>
        </p:nvSpPr>
        <p:spPr>
          <a:xfrm>
            <a:off x="411480" y="1687679"/>
            <a:ext cx="4149000" cy="1714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34"/>
          <p:cNvSpPr/>
          <p:nvPr/>
        </p:nvSpPr>
        <p:spPr>
          <a:xfrm>
            <a:off x="617220" y="1879703"/>
            <a:ext cx="288000" cy="2880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34"/>
          <p:cNvSpPr/>
          <p:nvPr/>
        </p:nvSpPr>
        <p:spPr>
          <a:xfrm>
            <a:off x="617220" y="1879703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4"/>
          <p:cNvSpPr/>
          <p:nvPr/>
        </p:nvSpPr>
        <p:spPr>
          <a:xfrm>
            <a:off x="1028700" y="1879703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lang="ko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무엇이 발생했나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4"/>
          <p:cNvSpPr/>
          <p:nvPr/>
        </p:nvSpPr>
        <p:spPr>
          <a:xfrm>
            <a:off x="651510" y="2250035"/>
            <a:ext cx="37719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rPr lang="ko" sz="1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크랙 평균 </a:t>
            </a:r>
            <a:r>
              <a:rPr lang="ko" sz="1100" b="1" i="0" u="none" strike="noStrike" cap="none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2.02 → 2.29</a:t>
            </a:r>
            <a:r>
              <a:rPr lang="ko" sz="1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 (증가 ↑)</a:t>
            </a:r>
            <a:br>
              <a:rPr lang="ko" sz="1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" sz="1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스크래치 평균 </a:t>
            </a:r>
            <a:r>
              <a:rPr lang="ko" sz="1100" b="1" i="0" u="none" strike="noStrike" cap="none">
                <a:solidFill>
                  <a:srgbClr val="2A78D6"/>
                </a:solidFill>
                <a:latin typeface="Calibri"/>
                <a:ea typeface="Calibri"/>
                <a:cs typeface="Calibri"/>
                <a:sym typeface="Calibri"/>
              </a:rPr>
              <a:t>2.93 → 1.24</a:t>
            </a:r>
            <a:r>
              <a:rPr lang="ko" sz="1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 (감소 ↓)</a:t>
            </a:r>
            <a:br>
              <a:rPr lang="ko" sz="1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" sz="1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BG_Crack_Scratch 불량 </a:t>
            </a:r>
            <a:r>
              <a:rPr lang="ko" sz="1100" b="1" i="0" u="none" strike="noStrike" cap="none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1,115건</a:t>
            </a:r>
            <a:r>
              <a:rPr lang="ko" sz="1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 발생</a:t>
            </a:r>
            <a:endParaRPr sz="1100" b="0" i="0" u="none" strike="noStrike" cap="none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TTV NG </a:t>
            </a:r>
            <a:r>
              <a:rPr lang="ko" sz="1100" b="1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4,964건</a:t>
            </a: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 발생</a:t>
            </a:r>
            <a:endParaRPr sz="11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4"/>
          <p:cNvSpPr/>
          <p:nvPr/>
        </p:nvSpPr>
        <p:spPr>
          <a:xfrm>
            <a:off x="4697730" y="1687679"/>
            <a:ext cx="4080600" cy="1714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34"/>
          <p:cNvSpPr/>
          <p:nvPr/>
        </p:nvSpPr>
        <p:spPr>
          <a:xfrm>
            <a:off x="4903470" y="1879703"/>
            <a:ext cx="288000" cy="288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34"/>
          <p:cNvSpPr/>
          <p:nvPr/>
        </p:nvSpPr>
        <p:spPr>
          <a:xfrm>
            <a:off x="4903470" y="1879703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?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4"/>
          <p:cNvSpPr/>
          <p:nvPr/>
        </p:nvSpPr>
        <p:spPr>
          <a:xfrm>
            <a:off x="5314950" y="1879703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lang="ko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왜 중요한가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4"/>
          <p:cNvSpPr/>
          <p:nvPr/>
        </p:nvSpPr>
        <p:spPr>
          <a:xfrm>
            <a:off x="4937760" y="2270609"/>
            <a:ext cx="37032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rPr lang="ko" sz="1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크랙·스크래치 </a:t>
            </a:r>
            <a:r>
              <a:rPr lang="ko" sz="1100" b="1" i="0" u="none" strike="noStrike" cap="none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3 초과 = 100% Fail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TTV </a:t>
            </a:r>
            <a:r>
              <a:rPr lang="ko" sz="1100" b="1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NG (3.0 um 초과) = 99.8% Fail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endParaRPr sz="11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4"/>
          <p:cNvSpPr/>
          <p:nvPr/>
        </p:nvSpPr>
        <p:spPr>
          <a:xfrm>
            <a:off x="925329" y="3630593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사업적 영향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4"/>
          <p:cNvSpPr/>
          <p:nvPr/>
        </p:nvSpPr>
        <p:spPr>
          <a:xfrm>
            <a:off x="508900" y="3957125"/>
            <a:ext cx="2621700" cy="945000"/>
          </a:xfrm>
          <a:prstGeom prst="roundRect">
            <a:avLst>
              <a:gd name="adj" fmla="val 6452"/>
            </a:avLst>
          </a:prstGeom>
          <a:solidFill>
            <a:srgbClr val="E6F6EF"/>
          </a:solidFill>
          <a:ln>
            <a:noFill/>
          </a:ln>
        </p:spPr>
        <p:txBody>
          <a:bodyPr spcFirstLastPara="1" wrap="square" lIns="66375" tIns="66375" rIns="66375" bIns="663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34"/>
          <p:cNvSpPr/>
          <p:nvPr/>
        </p:nvSpPr>
        <p:spPr>
          <a:xfrm>
            <a:off x="741207" y="4128989"/>
            <a:ext cx="1327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7A52"/>
              </a:buClr>
              <a:buSzPts val="1355"/>
              <a:buFont typeface="Calibri"/>
              <a:buNone/>
            </a:pPr>
            <a:r>
              <a:rPr lang="ko" sz="1355" b="1" i="0" u="none" strike="noStrike" cap="none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수율</a:t>
            </a:r>
            <a:endParaRPr sz="13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4"/>
          <p:cNvSpPr/>
          <p:nvPr/>
        </p:nvSpPr>
        <p:spPr>
          <a:xfrm>
            <a:off x="1537689" y="4049730"/>
            <a:ext cx="7302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AF7A"/>
              </a:buClr>
              <a:buSzPts val="4355"/>
              <a:buFont typeface="Cambria"/>
              <a:buNone/>
            </a:pPr>
            <a:r>
              <a:rPr lang="ko" sz="4355" b="1" i="0" u="none" strike="noStrike" cap="none">
                <a:solidFill>
                  <a:srgbClr val="1BAF7A"/>
                </a:solidFill>
                <a:latin typeface="Cambria"/>
                <a:ea typeface="Cambria"/>
                <a:cs typeface="Cambria"/>
                <a:sym typeface="Cambria"/>
              </a:rPr>
              <a:t>↓</a:t>
            </a:r>
            <a:endParaRPr sz="43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4"/>
          <p:cNvSpPr/>
          <p:nvPr/>
        </p:nvSpPr>
        <p:spPr>
          <a:xfrm>
            <a:off x="741207" y="4598447"/>
            <a:ext cx="21573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7A52"/>
              </a:buClr>
              <a:buSzPts val="871"/>
              <a:buFont typeface="Calibri"/>
              <a:buNone/>
            </a:pPr>
            <a:r>
              <a:rPr lang="ko" sz="871" b="0" i="0" u="none" strike="noStrike" cap="none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불량 유출로 최종 수율 하락</a:t>
            </a:r>
            <a:endParaRPr sz="87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4"/>
          <p:cNvSpPr/>
          <p:nvPr/>
        </p:nvSpPr>
        <p:spPr>
          <a:xfrm>
            <a:off x="3263399" y="3976568"/>
            <a:ext cx="2621700" cy="945000"/>
          </a:xfrm>
          <a:prstGeom prst="roundRect">
            <a:avLst>
              <a:gd name="adj" fmla="val 6452"/>
            </a:avLst>
          </a:prstGeom>
          <a:solidFill>
            <a:srgbClr val="EAF4FE"/>
          </a:solidFill>
          <a:ln>
            <a:noFill/>
          </a:ln>
        </p:spPr>
        <p:txBody>
          <a:bodyPr spcFirstLastPara="1" wrap="square" lIns="66375" tIns="66375" rIns="66375" bIns="663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34"/>
          <p:cNvSpPr/>
          <p:nvPr/>
        </p:nvSpPr>
        <p:spPr>
          <a:xfrm>
            <a:off x="3495706" y="4128989"/>
            <a:ext cx="1327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355"/>
              <a:buFont typeface="Calibri"/>
              <a:buNone/>
            </a:pPr>
            <a:r>
              <a:rPr lang="ko" sz="1355" b="1" i="0" u="none" strike="noStrike" cap="none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납기</a:t>
            </a:r>
            <a:endParaRPr sz="13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4"/>
          <p:cNvSpPr/>
          <p:nvPr/>
        </p:nvSpPr>
        <p:spPr>
          <a:xfrm>
            <a:off x="4292188" y="4049730"/>
            <a:ext cx="7302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78D6"/>
              </a:buClr>
              <a:buSzPts val="4355"/>
              <a:buFont typeface="Cambria"/>
              <a:buNone/>
            </a:pPr>
            <a:r>
              <a:rPr lang="ko" sz="4355" b="1" i="0" u="none" strike="noStrike" cap="none">
                <a:solidFill>
                  <a:srgbClr val="2A78D6"/>
                </a:solidFill>
                <a:latin typeface="Cambria"/>
                <a:ea typeface="Cambria"/>
                <a:cs typeface="Cambria"/>
                <a:sym typeface="Cambria"/>
              </a:rPr>
              <a:t>↓</a:t>
            </a:r>
            <a:endParaRPr sz="43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4"/>
          <p:cNvSpPr/>
          <p:nvPr/>
        </p:nvSpPr>
        <p:spPr>
          <a:xfrm>
            <a:off x="3495706" y="4598447"/>
            <a:ext cx="21573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871"/>
              <a:buFont typeface="Calibri"/>
              <a:buNone/>
            </a:pPr>
            <a:r>
              <a:rPr lang="ko" sz="871" b="0" i="0" u="none" strike="noStrike" cap="none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재작업·폐기로 납기 지연 위험</a:t>
            </a:r>
            <a:endParaRPr sz="87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4"/>
          <p:cNvSpPr/>
          <p:nvPr/>
        </p:nvSpPr>
        <p:spPr>
          <a:xfrm>
            <a:off x="6017899" y="3976568"/>
            <a:ext cx="2621700" cy="945000"/>
          </a:xfrm>
          <a:prstGeom prst="roundRect">
            <a:avLst>
              <a:gd name="adj" fmla="val 6452"/>
            </a:avLst>
          </a:prstGeom>
          <a:solidFill>
            <a:srgbClr val="FCEBE3"/>
          </a:solidFill>
          <a:ln>
            <a:noFill/>
          </a:ln>
        </p:spPr>
        <p:txBody>
          <a:bodyPr spcFirstLastPara="1" wrap="square" lIns="66375" tIns="66375" rIns="66375" bIns="663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34"/>
          <p:cNvSpPr/>
          <p:nvPr/>
        </p:nvSpPr>
        <p:spPr>
          <a:xfrm>
            <a:off x="6250206" y="4128989"/>
            <a:ext cx="1327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C1D"/>
              </a:buClr>
              <a:buSzPts val="1355"/>
              <a:buFont typeface="Calibri"/>
              <a:buNone/>
            </a:pPr>
            <a:r>
              <a:rPr lang="ko" sz="1355" b="1" i="0" u="none" strike="noStrike" cap="none">
                <a:solidFill>
                  <a:srgbClr val="993C1D"/>
                </a:solidFill>
                <a:latin typeface="Calibri"/>
                <a:ea typeface="Calibri"/>
                <a:cs typeface="Calibri"/>
                <a:sym typeface="Calibri"/>
              </a:rPr>
              <a:t>비용</a:t>
            </a:r>
            <a:endParaRPr sz="13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4"/>
          <p:cNvSpPr/>
          <p:nvPr/>
        </p:nvSpPr>
        <p:spPr>
          <a:xfrm>
            <a:off x="7046687" y="4049730"/>
            <a:ext cx="7302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4355"/>
              <a:buFont typeface="Cambria"/>
              <a:buNone/>
            </a:pPr>
            <a:r>
              <a:rPr lang="ko" sz="4355" b="1" i="0" u="none" strike="noStrike" cap="none">
                <a:solidFill>
                  <a:srgbClr val="EB6834"/>
                </a:solidFill>
                <a:latin typeface="Cambria"/>
                <a:ea typeface="Cambria"/>
                <a:cs typeface="Cambria"/>
                <a:sym typeface="Cambria"/>
              </a:rPr>
              <a:t>↑</a:t>
            </a:r>
            <a:endParaRPr sz="43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4"/>
          <p:cNvSpPr/>
          <p:nvPr/>
        </p:nvSpPr>
        <p:spPr>
          <a:xfrm>
            <a:off x="6250206" y="4598447"/>
            <a:ext cx="21573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C1D"/>
              </a:buClr>
              <a:buSzPts val="871"/>
              <a:buFont typeface="Calibri"/>
              <a:buNone/>
            </a:pPr>
            <a:r>
              <a:rPr lang="ko" sz="871" b="0" i="0" u="none" strike="noStrike" cap="none">
                <a:solidFill>
                  <a:srgbClr val="993C1D"/>
                </a:solidFill>
                <a:latin typeface="Calibri"/>
                <a:ea typeface="Calibri"/>
                <a:cs typeface="Calibri"/>
                <a:sym typeface="Calibri"/>
              </a:rPr>
              <a:t>불량·재검사·손실 비용 증가</a:t>
            </a:r>
            <a:endParaRPr sz="87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3950" y="2130070"/>
            <a:ext cx="708975" cy="707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7825" y="2130071"/>
            <a:ext cx="708975" cy="677658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4"/>
          <p:cNvSpPr txBox="1"/>
          <p:nvPr/>
        </p:nvSpPr>
        <p:spPr>
          <a:xfrm>
            <a:off x="2814424" y="3056919"/>
            <a:ext cx="9291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975" tIns="44975" rIns="44975" bIns="4497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246"/>
              </a:spcBef>
              <a:spcAft>
                <a:spcPts val="246"/>
              </a:spcAft>
              <a:buNone/>
            </a:pPr>
            <a:r>
              <a:rPr lang="ko" sz="984">
                <a:solidFill>
                  <a:schemeClr val="dk1"/>
                </a:solidFill>
              </a:rPr>
              <a:t>Crack</a:t>
            </a:r>
            <a:endParaRPr sz="984">
              <a:solidFill>
                <a:schemeClr val="dk1"/>
              </a:solidFill>
            </a:endParaRPr>
          </a:p>
        </p:txBody>
      </p:sp>
      <p:sp>
        <p:nvSpPr>
          <p:cNvPr id="244" name="Google Shape;244;p34"/>
          <p:cNvSpPr txBox="1"/>
          <p:nvPr/>
        </p:nvSpPr>
        <p:spPr>
          <a:xfrm>
            <a:off x="3631381" y="3079540"/>
            <a:ext cx="9291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975" tIns="44975" rIns="44975" bIns="4497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246"/>
              </a:spcBef>
              <a:spcAft>
                <a:spcPts val="246"/>
              </a:spcAft>
              <a:buNone/>
            </a:pPr>
            <a:r>
              <a:rPr lang="ko" sz="984">
                <a:solidFill>
                  <a:schemeClr val="dk1"/>
                </a:solidFill>
              </a:rPr>
              <a:t>Scratch</a:t>
            </a:r>
            <a:endParaRPr sz="984">
              <a:solidFill>
                <a:schemeClr val="dk1"/>
              </a:solidFill>
            </a:endParaRPr>
          </a:p>
        </p:txBody>
      </p:sp>
      <p:sp>
        <p:nvSpPr>
          <p:cNvPr id="245" name="Google Shape;245;p34"/>
          <p:cNvSpPr/>
          <p:nvPr/>
        </p:nvSpPr>
        <p:spPr>
          <a:xfrm>
            <a:off x="549371" y="3620354"/>
            <a:ext cx="288000" cy="288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chemeClr val="accent6"/>
              </a:highlight>
            </a:endParaRPr>
          </a:p>
        </p:txBody>
      </p:sp>
      <p:sp>
        <p:nvSpPr>
          <p:cNvPr id="246" name="Google Shape;246;p34"/>
          <p:cNvSpPr/>
          <p:nvPr/>
        </p:nvSpPr>
        <p:spPr>
          <a:xfrm>
            <a:off x="549371" y="3620354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4"/>
          <p:cNvSpPr/>
          <p:nvPr/>
        </p:nvSpPr>
        <p:spPr>
          <a:xfrm>
            <a:off x="411475" y="662637"/>
            <a:ext cx="8401200" cy="8229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latin typeface="Calibri"/>
                <a:ea typeface="Calibri"/>
                <a:cs typeface="Calibri"/>
                <a:sym typeface="Calibri"/>
              </a:rPr>
              <a:t>발생 시점과 라인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alibri"/>
                <a:ea typeface="Calibri"/>
                <a:cs typeface="Calibri"/>
                <a:sym typeface="Calibri"/>
              </a:rPr>
              <a:t>	202X년 XX 월 XX일	 A Line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4"/>
          <p:cNvSpPr/>
          <p:nvPr/>
        </p:nvSpPr>
        <p:spPr>
          <a:xfrm>
            <a:off x="549371" y="725444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chemeClr val="accent6"/>
              </a:highlight>
            </a:endParaRPr>
          </a:p>
        </p:txBody>
      </p:sp>
      <p:sp>
        <p:nvSpPr>
          <p:cNvPr id="249" name="Google Shape;249;p34"/>
          <p:cNvSpPr/>
          <p:nvPr/>
        </p:nvSpPr>
        <p:spPr>
          <a:xfrm>
            <a:off x="549371" y="725444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불량 현황 요약</a:t>
            </a:r>
            <a:endParaRPr sz="2300" b="1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55" name="Google Shape;255;p35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6" name="Google Shape;256;p35"/>
          <p:cNvSpPr/>
          <p:nvPr/>
        </p:nvSpPr>
        <p:spPr>
          <a:xfrm>
            <a:off x="411475" y="676050"/>
            <a:ext cx="4149000" cy="430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35"/>
          <p:cNvSpPr/>
          <p:nvPr/>
        </p:nvSpPr>
        <p:spPr>
          <a:xfrm>
            <a:off x="617220" y="868082"/>
            <a:ext cx="288000" cy="2880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35"/>
          <p:cNvSpPr/>
          <p:nvPr/>
        </p:nvSpPr>
        <p:spPr>
          <a:xfrm>
            <a:off x="1028700" y="868082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lang="ko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전체 Pass/ Fail 현황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5"/>
          <p:cNvSpPr/>
          <p:nvPr/>
        </p:nvSpPr>
        <p:spPr>
          <a:xfrm>
            <a:off x="4697725" y="676050"/>
            <a:ext cx="4080600" cy="430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35"/>
          <p:cNvSpPr/>
          <p:nvPr/>
        </p:nvSpPr>
        <p:spPr>
          <a:xfrm>
            <a:off x="5314950" y="843016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lang="ko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 단독 불량 현황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90015" y="3192699"/>
            <a:ext cx="1849500" cy="1671600"/>
          </a:xfrm>
          <a:prstGeom prst="rect">
            <a:avLst/>
          </a:prstGeom>
          <a:noFill/>
          <a:ln>
            <a:noFill/>
          </a:ln>
          <a:effectLst>
            <a:outerShdw blurRad="29636" dist="9879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62" name="Google Shape;262;p35"/>
          <p:cNvSpPr/>
          <p:nvPr/>
        </p:nvSpPr>
        <p:spPr>
          <a:xfrm>
            <a:off x="5205684" y="3815061"/>
            <a:ext cx="818400" cy="462600"/>
          </a:xfrm>
          <a:prstGeom prst="rect">
            <a:avLst/>
          </a:prstGeom>
          <a:noFill/>
          <a:ln>
            <a:noFill/>
          </a:ln>
          <a:effectLst>
            <a:outerShdw blurRad="29636" dist="9879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467"/>
              <a:buFont typeface="Calibri"/>
              <a:buNone/>
            </a:pPr>
            <a:r>
              <a:rPr lang="ko" sz="985" b="1" i="0" u="none" strike="noStrike" cap="none">
                <a:solidFill>
                  <a:srgbClr val="EB6834"/>
                </a:solidFill>
                <a:latin typeface="Malgun Gothic"/>
                <a:ea typeface="Malgun Gothic"/>
                <a:cs typeface="Malgun Gothic"/>
                <a:sym typeface="Malgun Gothic"/>
              </a:rPr>
              <a:t>BG 불량</a:t>
            </a:r>
            <a:br>
              <a:rPr lang="ko" sz="778" b="1" i="0" u="none" strike="noStrike" cap="none">
                <a:solidFill>
                  <a:srgbClr val="EB6834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1348" b="1" i="0" u="none" strike="noStrike" cap="non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1,115</a:t>
            </a:r>
            <a:endParaRPr sz="778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467"/>
              <a:buFont typeface="Calibri"/>
              <a:buNone/>
            </a:pPr>
            <a:r>
              <a:rPr lang="ko" sz="778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6%</a:t>
            </a:r>
            <a:endParaRPr sz="778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3" name="Google Shape;263;p35"/>
          <p:cNvSpPr/>
          <p:nvPr/>
        </p:nvSpPr>
        <p:spPr>
          <a:xfrm>
            <a:off x="6592149" y="3192725"/>
            <a:ext cx="2030700" cy="31020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>
            <a:noFill/>
          </a:ln>
          <a:effectLst>
            <a:outerShdw blurRad="49019" dist="14005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37800" tIns="37800" rIns="37800" bIns="3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35"/>
          <p:cNvSpPr/>
          <p:nvPr/>
        </p:nvSpPr>
        <p:spPr>
          <a:xfrm>
            <a:off x="6669069" y="3302388"/>
            <a:ext cx="73800" cy="90900"/>
          </a:xfrm>
          <a:prstGeom prst="ellipse">
            <a:avLst/>
          </a:prstGeom>
          <a:solidFill>
            <a:srgbClr val="EDA100"/>
          </a:solidFill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37800" tIns="37800" rIns="37800" bIns="3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35"/>
          <p:cNvSpPr/>
          <p:nvPr/>
        </p:nvSpPr>
        <p:spPr>
          <a:xfrm>
            <a:off x="6792140" y="3207851"/>
            <a:ext cx="11997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607"/>
              <a:buFont typeface="Calibri"/>
              <a:buNone/>
            </a:pPr>
            <a:r>
              <a:rPr lang="ko" sz="884" i="0" u="none" strike="noStrike" cap="non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Mold_Offset_Void</a:t>
            </a:r>
            <a:endParaRPr sz="884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6" name="Google Shape;266;p35"/>
          <p:cNvSpPr/>
          <p:nvPr/>
        </p:nvSpPr>
        <p:spPr>
          <a:xfrm>
            <a:off x="7865396" y="3207851"/>
            <a:ext cx="4155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717"/>
              <a:buFont typeface="Calibri"/>
              <a:buNone/>
            </a:pPr>
            <a:r>
              <a:rPr lang="ko" sz="995" b="1" i="0" u="none" strike="noStrike" cap="non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7,360</a:t>
            </a:r>
            <a:endParaRPr sz="995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7" name="Google Shape;267;p35"/>
          <p:cNvSpPr/>
          <p:nvPr/>
        </p:nvSpPr>
        <p:spPr>
          <a:xfrm>
            <a:off x="8310750" y="3207840"/>
            <a:ext cx="2814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51"/>
              <a:buFont typeface="Calibri"/>
              <a:buNone/>
            </a:pPr>
            <a:r>
              <a:rPr lang="ko" sz="829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37%</a:t>
            </a:r>
            <a:endParaRPr sz="829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8" name="Google Shape;268;p35"/>
          <p:cNvSpPr/>
          <p:nvPr/>
        </p:nvSpPr>
        <p:spPr>
          <a:xfrm>
            <a:off x="6592149" y="3533060"/>
            <a:ext cx="2030700" cy="31020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>
            <a:noFill/>
          </a:ln>
          <a:effectLst>
            <a:outerShdw blurRad="49019" dist="14005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37800" tIns="37800" rIns="37800" bIns="3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35"/>
          <p:cNvSpPr/>
          <p:nvPr/>
        </p:nvSpPr>
        <p:spPr>
          <a:xfrm>
            <a:off x="6669069" y="3642723"/>
            <a:ext cx="73800" cy="90900"/>
          </a:xfrm>
          <a:prstGeom prst="ellipse">
            <a:avLst/>
          </a:prstGeom>
          <a:solidFill>
            <a:srgbClr val="1BAF7A"/>
          </a:solidFill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37800" tIns="37800" rIns="37800" bIns="3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35"/>
          <p:cNvSpPr/>
          <p:nvPr/>
        </p:nvSpPr>
        <p:spPr>
          <a:xfrm>
            <a:off x="6792140" y="3548186"/>
            <a:ext cx="11997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607"/>
              <a:buFont typeface="Calibri"/>
              <a:buNone/>
            </a:pPr>
            <a:r>
              <a:rPr lang="ko" sz="884" i="0" u="none" strike="noStrike" cap="non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DieAttach_Crack</a:t>
            </a:r>
            <a:endParaRPr sz="884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1" name="Google Shape;271;p35"/>
          <p:cNvSpPr/>
          <p:nvPr/>
        </p:nvSpPr>
        <p:spPr>
          <a:xfrm>
            <a:off x="7865396" y="3548186"/>
            <a:ext cx="4155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717"/>
              <a:buFont typeface="Calibri"/>
              <a:buNone/>
            </a:pPr>
            <a:r>
              <a:rPr lang="ko" sz="995" b="1" i="0" u="none" strike="noStrike" cap="non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6,771</a:t>
            </a:r>
            <a:endParaRPr sz="995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2" name="Google Shape;272;p35"/>
          <p:cNvSpPr/>
          <p:nvPr/>
        </p:nvSpPr>
        <p:spPr>
          <a:xfrm>
            <a:off x="8310750" y="3548175"/>
            <a:ext cx="2814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51"/>
              <a:buFont typeface="Calibri"/>
              <a:buNone/>
            </a:pPr>
            <a:r>
              <a:rPr lang="ko" sz="829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34%</a:t>
            </a:r>
            <a:endParaRPr sz="829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3" name="Google Shape;273;p35"/>
          <p:cNvSpPr/>
          <p:nvPr/>
        </p:nvSpPr>
        <p:spPr>
          <a:xfrm>
            <a:off x="6592149" y="3873394"/>
            <a:ext cx="2030700" cy="31020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>
            <a:noFill/>
          </a:ln>
          <a:effectLst>
            <a:outerShdw blurRad="49019" dist="14005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37800" tIns="37800" rIns="37800" bIns="3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35"/>
          <p:cNvSpPr/>
          <p:nvPr/>
        </p:nvSpPr>
        <p:spPr>
          <a:xfrm>
            <a:off x="6669069" y="3983058"/>
            <a:ext cx="73800" cy="90900"/>
          </a:xfrm>
          <a:prstGeom prst="ellipse">
            <a:avLst/>
          </a:prstGeom>
          <a:solidFill>
            <a:srgbClr val="2A78D6"/>
          </a:solidFill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37800" tIns="37800" rIns="37800" bIns="3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35"/>
          <p:cNvSpPr/>
          <p:nvPr/>
        </p:nvSpPr>
        <p:spPr>
          <a:xfrm>
            <a:off x="6792140" y="3888520"/>
            <a:ext cx="11997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607"/>
              <a:buFont typeface="Calibri"/>
              <a:buNone/>
            </a:pPr>
            <a:r>
              <a:rPr lang="ko" sz="884" b="1" i="0" u="none" strike="noStrike" cap="non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</a:t>
            </a:r>
            <a:endParaRPr sz="884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6" name="Google Shape;276;p35"/>
          <p:cNvSpPr/>
          <p:nvPr/>
        </p:nvSpPr>
        <p:spPr>
          <a:xfrm>
            <a:off x="7865396" y="3888520"/>
            <a:ext cx="4155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717"/>
              <a:buFont typeface="Calibri"/>
              <a:buNone/>
            </a:pPr>
            <a:r>
              <a:rPr lang="ko" sz="995" b="1" i="0" u="none" strike="noStrike" cap="non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3,459</a:t>
            </a:r>
            <a:endParaRPr sz="995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7" name="Google Shape;277;p35"/>
          <p:cNvSpPr/>
          <p:nvPr/>
        </p:nvSpPr>
        <p:spPr>
          <a:xfrm>
            <a:off x="8310750" y="3888509"/>
            <a:ext cx="2814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51"/>
              <a:buFont typeface="Calibri"/>
              <a:buNone/>
            </a:pPr>
            <a:r>
              <a:rPr lang="ko" sz="829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17%</a:t>
            </a:r>
            <a:endParaRPr sz="829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8" name="Google Shape;278;p35"/>
          <p:cNvSpPr/>
          <p:nvPr/>
        </p:nvSpPr>
        <p:spPr>
          <a:xfrm>
            <a:off x="6592149" y="4213729"/>
            <a:ext cx="2030700" cy="31020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>
            <a:noFill/>
          </a:ln>
          <a:effectLst>
            <a:outerShdw blurRad="49019" dist="14005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37800" tIns="37800" rIns="37800" bIns="3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35"/>
          <p:cNvSpPr/>
          <p:nvPr/>
        </p:nvSpPr>
        <p:spPr>
          <a:xfrm>
            <a:off x="6669069" y="4323393"/>
            <a:ext cx="73800" cy="90900"/>
          </a:xfrm>
          <a:prstGeom prst="ellipse">
            <a:avLst/>
          </a:prstGeom>
          <a:solidFill>
            <a:srgbClr val="9085E9"/>
          </a:solidFill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37800" tIns="37800" rIns="37800" bIns="3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35"/>
          <p:cNvSpPr/>
          <p:nvPr/>
        </p:nvSpPr>
        <p:spPr>
          <a:xfrm>
            <a:off x="6792140" y="4228855"/>
            <a:ext cx="11997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607"/>
              <a:buFont typeface="Calibri"/>
              <a:buNone/>
            </a:pPr>
            <a:r>
              <a:rPr lang="ko" sz="884" i="0" u="none" strike="noStrike" cap="non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Clean_BinFail_Residue</a:t>
            </a:r>
            <a:endParaRPr sz="884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1" name="Google Shape;281;p35"/>
          <p:cNvSpPr/>
          <p:nvPr/>
        </p:nvSpPr>
        <p:spPr>
          <a:xfrm>
            <a:off x="7865396" y="4228855"/>
            <a:ext cx="4155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717"/>
              <a:buFont typeface="Calibri"/>
              <a:buNone/>
            </a:pPr>
            <a:r>
              <a:rPr lang="ko" sz="995" b="1" i="0" u="none" strike="noStrike" cap="non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1,295</a:t>
            </a:r>
            <a:endParaRPr sz="995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2" name="Google Shape;282;p35"/>
          <p:cNvSpPr/>
          <p:nvPr/>
        </p:nvSpPr>
        <p:spPr>
          <a:xfrm>
            <a:off x="8310750" y="4228844"/>
            <a:ext cx="2814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51"/>
              <a:buFont typeface="Calibri"/>
              <a:buNone/>
            </a:pPr>
            <a:r>
              <a:rPr lang="ko" sz="829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6%</a:t>
            </a:r>
            <a:endParaRPr sz="829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3" name="Google Shape;283;p35"/>
          <p:cNvSpPr/>
          <p:nvPr/>
        </p:nvSpPr>
        <p:spPr>
          <a:xfrm>
            <a:off x="6592149" y="4554064"/>
            <a:ext cx="2030700" cy="310200"/>
          </a:xfrm>
          <a:prstGeom prst="roundRect">
            <a:avLst>
              <a:gd name="adj" fmla="val 8537"/>
            </a:avLst>
          </a:prstGeom>
          <a:solidFill>
            <a:srgbClr val="FCEBE3"/>
          </a:solidFill>
          <a:ln>
            <a:noFill/>
          </a:ln>
          <a:effectLst>
            <a:outerShdw blurRad="49019" dist="14005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37800" tIns="37800" rIns="37800" bIns="3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35"/>
          <p:cNvSpPr/>
          <p:nvPr/>
        </p:nvSpPr>
        <p:spPr>
          <a:xfrm>
            <a:off x="6669069" y="4663727"/>
            <a:ext cx="73800" cy="90900"/>
          </a:xfrm>
          <a:prstGeom prst="ellipse">
            <a:avLst/>
          </a:prstGeom>
          <a:solidFill>
            <a:srgbClr val="EB6834"/>
          </a:solidFill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37800" tIns="37800" rIns="37800" bIns="3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35"/>
          <p:cNvSpPr/>
          <p:nvPr/>
        </p:nvSpPr>
        <p:spPr>
          <a:xfrm>
            <a:off x="6792140" y="4569190"/>
            <a:ext cx="11997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C1D"/>
              </a:buClr>
              <a:buSzPts val="607"/>
              <a:buFont typeface="Calibri"/>
              <a:buNone/>
            </a:pPr>
            <a:r>
              <a:rPr lang="ko" sz="884" b="1" i="0" u="none" strike="noStrike" cap="none">
                <a:solidFill>
                  <a:srgbClr val="993C1D"/>
                </a:solidFill>
                <a:latin typeface="Malgun Gothic"/>
                <a:ea typeface="Malgun Gothic"/>
                <a:cs typeface="Malgun Gothic"/>
                <a:sym typeface="Malgun Gothic"/>
              </a:rPr>
              <a:t>BG_Crack_Scratch</a:t>
            </a:r>
            <a:endParaRPr sz="884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6" name="Google Shape;286;p35"/>
          <p:cNvSpPr/>
          <p:nvPr/>
        </p:nvSpPr>
        <p:spPr>
          <a:xfrm>
            <a:off x="7865396" y="4569190"/>
            <a:ext cx="4155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717"/>
              <a:buFont typeface="Calibri"/>
              <a:buNone/>
            </a:pPr>
            <a:r>
              <a:rPr lang="ko" sz="995" b="1" i="0" u="none" strike="noStrike" cap="non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1,115</a:t>
            </a:r>
            <a:endParaRPr sz="995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7" name="Google Shape;287;p35"/>
          <p:cNvSpPr/>
          <p:nvPr/>
        </p:nvSpPr>
        <p:spPr>
          <a:xfrm>
            <a:off x="8310750" y="4569179"/>
            <a:ext cx="2814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51"/>
              <a:buFont typeface="Calibri"/>
              <a:buNone/>
            </a:pPr>
            <a:r>
              <a:rPr lang="ko" sz="829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6%</a:t>
            </a:r>
            <a:endParaRPr sz="829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8" name="Google Shape;288;p35"/>
          <p:cNvSpPr/>
          <p:nvPr/>
        </p:nvSpPr>
        <p:spPr>
          <a:xfrm>
            <a:off x="617220" y="868082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5"/>
          <p:cNvSpPr/>
          <p:nvPr/>
        </p:nvSpPr>
        <p:spPr>
          <a:xfrm>
            <a:off x="4903470" y="868082"/>
            <a:ext cx="288000" cy="288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5"/>
          <p:cNvSpPr/>
          <p:nvPr/>
        </p:nvSpPr>
        <p:spPr>
          <a:xfrm>
            <a:off x="4903470" y="868082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5"/>
          <p:cNvSpPr/>
          <p:nvPr/>
        </p:nvSpPr>
        <p:spPr>
          <a:xfrm>
            <a:off x="4886425" y="1289577"/>
            <a:ext cx="3703200" cy="6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◆ Fail 16,541 건 중, Primary Failure이</a:t>
            </a:r>
            <a:endParaRPr sz="11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rPr lang="ko" sz="1100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“BG_Crack_Scratch“ </a:t>
            </a: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인 Case: </a:t>
            </a:r>
            <a:r>
              <a:rPr lang="ko" sz="1100" b="1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1,115 건 (6%)</a:t>
            </a:r>
            <a:endParaRPr sz="11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endParaRPr sz="11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5"/>
          <p:cNvSpPr/>
          <p:nvPr/>
        </p:nvSpPr>
        <p:spPr>
          <a:xfrm>
            <a:off x="634385" y="1361013"/>
            <a:ext cx="37032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◆ BG, Sawing, Die Attach, Molding, Cleaning 공정을 거친 20,000 Wafer 전체 중,</a:t>
            </a:r>
            <a:endParaRPr sz="11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endParaRPr sz="1100" b="1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Final Test 결과가 </a:t>
            </a:r>
            <a:r>
              <a:rPr lang="ko" sz="1100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“Fail“ </a:t>
            </a: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인 Case: </a:t>
            </a:r>
            <a:r>
              <a:rPr lang="ko" sz="1100" b="1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16,541 건 (83%)</a:t>
            </a:r>
            <a:endParaRPr sz="11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endParaRPr sz="11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endParaRPr sz="11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1550" y="1758801"/>
            <a:ext cx="2546374" cy="139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5"/>
          <p:cNvSpPr/>
          <p:nvPr/>
        </p:nvSpPr>
        <p:spPr>
          <a:xfrm>
            <a:off x="2539092" y="3133450"/>
            <a:ext cx="1896600" cy="321300"/>
          </a:xfrm>
          <a:prstGeom prst="roundRect">
            <a:avLst>
              <a:gd name="adj" fmla="val 9000"/>
            </a:avLst>
          </a:prstGeom>
          <a:solidFill>
            <a:srgbClr val="F4F6F8"/>
          </a:solidFill>
          <a:ln>
            <a:noFill/>
          </a:ln>
        </p:spPr>
        <p:txBody>
          <a:bodyPr spcFirstLastPara="1" wrap="square" lIns="40575" tIns="40575" rIns="40575" bIns="40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/>
          </a:p>
        </p:txBody>
      </p:sp>
      <p:sp>
        <p:nvSpPr>
          <p:cNvPr id="295" name="Google Shape;295;p35"/>
          <p:cNvSpPr/>
          <p:nvPr/>
        </p:nvSpPr>
        <p:spPr>
          <a:xfrm>
            <a:off x="2662021" y="3252365"/>
            <a:ext cx="91200" cy="834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txBody>
          <a:bodyPr spcFirstLastPara="1" wrap="square" lIns="40575" tIns="40575" rIns="40575" bIns="40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/>
          </a:p>
        </p:txBody>
      </p:sp>
      <p:sp>
        <p:nvSpPr>
          <p:cNvPr id="296" name="Google Shape;296;p35"/>
          <p:cNvSpPr/>
          <p:nvPr/>
        </p:nvSpPr>
        <p:spPr>
          <a:xfrm>
            <a:off x="2820074" y="3133450"/>
            <a:ext cx="7026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886"/>
              <a:buFont typeface="Malgun Gothic"/>
              <a:buNone/>
            </a:pPr>
            <a:r>
              <a:rPr lang="ko" sz="950" b="1" i="0" u="none" strike="noStrike" cap="non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5"/>
          <p:cNvSpPr/>
          <p:nvPr/>
        </p:nvSpPr>
        <p:spPr>
          <a:xfrm>
            <a:off x="3557653" y="3178445"/>
            <a:ext cx="772800" cy="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886"/>
              <a:buFont typeface="Malgun Gothic"/>
              <a:buNone/>
            </a:pPr>
            <a:r>
              <a:rPr lang="ko" sz="950" b="1" i="0" u="none" strike="noStrike" cap="non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3,459건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5"/>
          <p:cNvSpPr/>
          <p:nvPr/>
        </p:nvSpPr>
        <p:spPr>
          <a:xfrm>
            <a:off x="3557653" y="3319212"/>
            <a:ext cx="7728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91"/>
              <a:buFont typeface="Malgun Gothic"/>
              <a:buNone/>
            </a:pPr>
            <a:r>
              <a:rPr lang="ko" sz="950" b="0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17%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5"/>
          <p:cNvSpPr/>
          <p:nvPr/>
        </p:nvSpPr>
        <p:spPr>
          <a:xfrm>
            <a:off x="2539092" y="3567328"/>
            <a:ext cx="1896600" cy="321300"/>
          </a:xfrm>
          <a:prstGeom prst="roundRect">
            <a:avLst>
              <a:gd name="adj" fmla="val 9000"/>
            </a:avLst>
          </a:prstGeom>
          <a:solidFill>
            <a:srgbClr val="FCEAE3"/>
          </a:solidFill>
          <a:ln w="7500" cap="flat" cmpd="sng">
            <a:solidFill>
              <a:srgbClr val="F0C4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0575" tIns="40575" rIns="40575" bIns="40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/>
          </a:p>
        </p:txBody>
      </p:sp>
      <p:sp>
        <p:nvSpPr>
          <p:cNvPr id="300" name="Google Shape;300;p35"/>
          <p:cNvSpPr/>
          <p:nvPr/>
        </p:nvSpPr>
        <p:spPr>
          <a:xfrm>
            <a:off x="2662021" y="3686242"/>
            <a:ext cx="91200" cy="83400"/>
          </a:xfrm>
          <a:prstGeom prst="ellipse">
            <a:avLst/>
          </a:prstGeom>
          <a:solidFill>
            <a:srgbClr val="E0654A"/>
          </a:solidFill>
          <a:ln>
            <a:noFill/>
          </a:ln>
        </p:spPr>
        <p:txBody>
          <a:bodyPr spcFirstLastPara="1" wrap="square" lIns="40575" tIns="40575" rIns="40575" bIns="40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/>
          </a:p>
        </p:txBody>
      </p:sp>
      <p:sp>
        <p:nvSpPr>
          <p:cNvPr id="301" name="Google Shape;301;p35"/>
          <p:cNvSpPr/>
          <p:nvPr/>
        </p:nvSpPr>
        <p:spPr>
          <a:xfrm>
            <a:off x="2820074" y="3567328"/>
            <a:ext cx="7026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886"/>
              <a:buFont typeface="Malgun Gothic"/>
              <a:buNone/>
            </a:pPr>
            <a:r>
              <a:rPr lang="ko" sz="950" b="1" i="0" u="none" strike="noStrike" cap="non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Fail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5"/>
          <p:cNvSpPr/>
          <p:nvPr/>
        </p:nvSpPr>
        <p:spPr>
          <a:xfrm>
            <a:off x="3557653" y="3612322"/>
            <a:ext cx="772800" cy="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86"/>
              <a:buFont typeface="Malgun Gothic"/>
              <a:buNone/>
            </a:pPr>
            <a:r>
              <a:rPr lang="ko" sz="950" b="1" i="0" u="none" strike="noStrike" cap="non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16,541건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5"/>
          <p:cNvSpPr/>
          <p:nvPr/>
        </p:nvSpPr>
        <p:spPr>
          <a:xfrm>
            <a:off x="3557653" y="3753089"/>
            <a:ext cx="7728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91"/>
              <a:buFont typeface="Malgun Gothic"/>
              <a:buNone/>
            </a:pPr>
            <a:r>
              <a:rPr lang="ko" sz="950" b="0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83%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p3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9587" y="2785912"/>
            <a:ext cx="1483674" cy="148367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5"/>
          <p:cNvSpPr/>
          <p:nvPr/>
        </p:nvSpPr>
        <p:spPr>
          <a:xfrm>
            <a:off x="979699" y="3280470"/>
            <a:ext cx="726900" cy="4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050" tIns="16475" rIns="33050" bIns="16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29"/>
              <a:buFont typeface="Malgun Gothic"/>
              <a:buNone/>
            </a:pPr>
            <a:r>
              <a:rPr lang="ko" sz="529" b="1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Fail</a:t>
            </a:r>
            <a:br>
              <a:rPr lang="ko" sz="529" b="1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1442" b="1" i="0" u="none" strike="noStrike" cap="none">
                <a:solidFill>
                  <a:srgbClr val="E06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83%</a:t>
            </a:r>
            <a:br>
              <a:rPr lang="ko" sz="1442" b="1" i="0" u="none" strike="noStrike" cap="none">
                <a:solidFill>
                  <a:srgbClr val="E0654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481" b="0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16,541건</a:t>
            </a:r>
            <a:endParaRPr sz="52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5"/>
          <p:cNvSpPr/>
          <p:nvPr/>
        </p:nvSpPr>
        <p:spPr>
          <a:xfrm>
            <a:off x="6592160" y="4546263"/>
            <a:ext cx="2030700" cy="310200"/>
          </a:xfrm>
          <a:prstGeom prst="rect">
            <a:avLst/>
          </a:prstGeom>
          <a:noFill/>
          <a:ln w="352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4650" tIns="84650" rIns="84650" bIns="84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96"/>
          </a:p>
        </p:txBody>
      </p:sp>
      <p:sp>
        <p:nvSpPr>
          <p:cNvPr id="307" name="Google Shape;307;p35"/>
          <p:cNvSpPr/>
          <p:nvPr/>
        </p:nvSpPr>
        <p:spPr>
          <a:xfrm>
            <a:off x="2539090" y="3560400"/>
            <a:ext cx="1937400" cy="2940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6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 및 분석 - 불량 분석</a:t>
            </a:r>
            <a:endParaRPr sz="2300" b="1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13" name="Google Shape;313;p36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4" name="Google Shape;314;p36"/>
          <p:cNvSpPr/>
          <p:nvPr/>
        </p:nvSpPr>
        <p:spPr>
          <a:xfrm>
            <a:off x="390825" y="723335"/>
            <a:ext cx="4149000" cy="30309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36"/>
          <p:cNvSpPr/>
          <p:nvPr/>
        </p:nvSpPr>
        <p:spPr>
          <a:xfrm>
            <a:off x="596570" y="832598"/>
            <a:ext cx="288000" cy="2880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6"/>
          <p:cNvSpPr/>
          <p:nvPr/>
        </p:nvSpPr>
        <p:spPr>
          <a:xfrm>
            <a:off x="1008050" y="820065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lang="ko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 공정 전·후 데이터 분석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6"/>
          <p:cNvSpPr/>
          <p:nvPr/>
        </p:nvSpPr>
        <p:spPr>
          <a:xfrm>
            <a:off x="4677075" y="723335"/>
            <a:ext cx="4080600" cy="30309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36"/>
          <p:cNvSpPr/>
          <p:nvPr/>
        </p:nvSpPr>
        <p:spPr>
          <a:xfrm>
            <a:off x="5294300" y="807533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lang="ko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 단독 불량 데이터 분석</a:t>
            </a:r>
            <a:endParaRPr b="1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6"/>
          <p:cNvSpPr/>
          <p:nvPr/>
        </p:nvSpPr>
        <p:spPr>
          <a:xfrm>
            <a:off x="596570" y="832598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6"/>
          <p:cNvSpPr/>
          <p:nvPr/>
        </p:nvSpPr>
        <p:spPr>
          <a:xfrm>
            <a:off x="4882820" y="832598"/>
            <a:ext cx="288000" cy="288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36"/>
          <p:cNvSpPr/>
          <p:nvPr/>
        </p:nvSpPr>
        <p:spPr>
          <a:xfrm>
            <a:off x="4882820" y="832598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2" name="Google Shape;322;p36"/>
          <p:cNvGraphicFramePr/>
          <p:nvPr/>
        </p:nvGraphicFramePr>
        <p:xfrm>
          <a:off x="4754355" y="20040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{47F2066A-027F-443B-B902-C019AB88E0B3}</a:tableStyleId>
              </a:tblPr>
              <a:tblGrid>
                <a:gridCol w="83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1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1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Scratch &gt; 3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Scratch ≤ 3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합계</a:t>
                      </a:r>
                      <a:endParaRPr sz="10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Crack &gt; 3</a:t>
                      </a:r>
                      <a:endParaRPr sz="1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E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u="none" strike="noStrike" cap="none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  (4%)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3C1D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b="1" u="none" strike="noStrike" cap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832  (75%)</a:t>
                      </a:r>
                      <a:endParaRPr sz="100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881 (79%)</a:t>
                      </a:r>
                      <a:endParaRPr sz="1000" b="1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Crack ≤ 3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E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u="none" strike="noStrike" cap="none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234  (21%)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u="none" strike="noStrike" cap="non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 (0%)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234 (21%)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합계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283(25%)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832 (75%)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1115 (100%)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3" name="Google Shape;323;p36"/>
          <p:cNvSpPr/>
          <p:nvPr/>
        </p:nvSpPr>
        <p:spPr>
          <a:xfrm>
            <a:off x="4748475" y="2225066"/>
            <a:ext cx="3937800" cy="4425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4" name="Google Shape;324;p3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050" y="1670671"/>
            <a:ext cx="3527875" cy="197560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6"/>
          <p:cNvSpPr/>
          <p:nvPr/>
        </p:nvSpPr>
        <p:spPr>
          <a:xfrm>
            <a:off x="385432" y="3917030"/>
            <a:ext cx="8366700" cy="653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36"/>
          <p:cNvSpPr/>
          <p:nvPr/>
        </p:nvSpPr>
        <p:spPr>
          <a:xfrm>
            <a:off x="390825" y="3916925"/>
            <a:ext cx="83667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데이터 분석 결과, BG 공정 이후 Crack 이 증가하는 경향을 확인했고,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BG 단독 불량 데이터의 79%가 Crack &gt; 3 일 때임을 확인할 수 있었다.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6"/>
          <p:cNvSpPr/>
          <p:nvPr/>
        </p:nvSpPr>
        <p:spPr>
          <a:xfrm>
            <a:off x="545625" y="1230063"/>
            <a:ext cx="3839400" cy="5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◆ BG Before, After 평균 데이터 분석 (20,000장)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6"/>
          <p:cNvSpPr/>
          <p:nvPr/>
        </p:nvSpPr>
        <p:spPr>
          <a:xfrm>
            <a:off x="4797675" y="1120587"/>
            <a:ext cx="38394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◆ BG_Crack_Scratch Fail Data 분석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 b="1">
                <a:solidFill>
                  <a:srgbClr val="CC4125"/>
                </a:solidFill>
                <a:latin typeface="Malgun Gothic"/>
                <a:ea typeface="Malgun Gothic"/>
                <a:cs typeface="Malgun Gothic"/>
                <a:sym typeface="Malgun Gothic"/>
              </a:rPr>
              <a:t>Crack &gt; 3 인 경우 가 79% 로 불량에 크게 기인한다.</a:t>
            </a:r>
            <a:endParaRPr sz="11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9" name="Google Shape;329;p36"/>
          <p:cNvSpPr/>
          <p:nvPr/>
        </p:nvSpPr>
        <p:spPr>
          <a:xfrm>
            <a:off x="545625" y="4598746"/>
            <a:ext cx="7955400" cy="5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000" i="1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※ 분석 대상 LOT:</a:t>
            </a:r>
            <a:endParaRPr sz="1000" i="1">
              <a:solidFill>
                <a:srgbClr val="1B7A5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000" i="1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좌: 전체 LOT </a:t>
            </a:r>
            <a:endParaRPr sz="1000" i="1">
              <a:solidFill>
                <a:srgbClr val="1B7A5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000" i="1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우: Primary Failure이 BD_Crack_Scratch 인 경우</a:t>
            </a:r>
            <a:endParaRPr sz="1000" i="1">
              <a:solidFill>
                <a:srgbClr val="1B7A5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6"/>
          <p:cNvSpPr/>
          <p:nvPr/>
        </p:nvSpPr>
        <p:spPr>
          <a:xfrm>
            <a:off x="476053" y="4099636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chemeClr val="accent6"/>
              </a:highlight>
            </a:endParaRPr>
          </a:p>
        </p:txBody>
      </p:sp>
      <p:sp>
        <p:nvSpPr>
          <p:cNvPr id="331" name="Google Shape;331;p36"/>
          <p:cNvSpPr/>
          <p:nvPr/>
        </p:nvSpPr>
        <p:spPr>
          <a:xfrm>
            <a:off x="476053" y="4099636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7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 및 분석 - 불량 분석</a:t>
            </a:r>
            <a:endParaRPr sz="2300" b="1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38" name="Google Shape;338;p37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9" name="Google Shape;339;p37"/>
          <p:cNvSpPr/>
          <p:nvPr/>
        </p:nvSpPr>
        <p:spPr>
          <a:xfrm>
            <a:off x="204900" y="723325"/>
            <a:ext cx="8734200" cy="28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0" name="Google Shape;340;p37"/>
          <p:cNvGrpSpPr/>
          <p:nvPr/>
        </p:nvGrpSpPr>
        <p:grpSpPr>
          <a:xfrm>
            <a:off x="309390" y="1217098"/>
            <a:ext cx="8525220" cy="2251344"/>
            <a:chOff x="704851" y="1213866"/>
            <a:chExt cx="7402292" cy="1954801"/>
          </a:xfrm>
        </p:grpSpPr>
        <p:pic>
          <p:nvPicPr>
            <p:cNvPr id="341" name="Google Shape;341;p3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04851" y="1213866"/>
              <a:ext cx="4947929" cy="1954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3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652782" y="1213866"/>
              <a:ext cx="2454361" cy="1954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3" name="Google Shape;343;p37"/>
          <p:cNvSpPr/>
          <p:nvPr/>
        </p:nvSpPr>
        <p:spPr>
          <a:xfrm>
            <a:off x="309395" y="832610"/>
            <a:ext cx="288000" cy="2880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37"/>
          <p:cNvSpPr/>
          <p:nvPr/>
        </p:nvSpPr>
        <p:spPr>
          <a:xfrm>
            <a:off x="720875" y="820077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lang="ko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 공정 전·후 데이터 분석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7"/>
          <p:cNvSpPr/>
          <p:nvPr/>
        </p:nvSpPr>
        <p:spPr>
          <a:xfrm>
            <a:off x="309395" y="832610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7"/>
          <p:cNvSpPr/>
          <p:nvPr/>
        </p:nvSpPr>
        <p:spPr>
          <a:xfrm>
            <a:off x="385432" y="3917030"/>
            <a:ext cx="8366700" cy="653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37"/>
          <p:cNvSpPr/>
          <p:nvPr/>
        </p:nvSpPr>
        <p:spPr>
          <a:xfrm>
            <a:off x="390825" y="3916925"/>
            <a:ext cx="83667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구체적으로, BG 공정 이후 Crack의 분포가 큰 변화가 없는 경향을 확인했고,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TTV 역시 spec out 웨이퍼들이 여전히 존재하는 것을 볼 수 있다.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7"/>
          <p:cNvSpPr/>
          <p:nvPr/>
        </p:nvSpPr>
        <p:spPr>
          <a:xfrm>
            <a:off x="476053" y="4099636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chemeClr val="accent6"/>
              </a:highlight>
            </a:endParaRPr>
          </a:p>
        </p:txBody>
      </p:sp>
      <p:sp>
        <p:nvSpPr>
          <p:cNvPr id="349" name="Google Shape;349;p37"/>
          <p:cNvSpPr/>
          <p:nvPr/>
        </p:nvSpPr>
        <p:spPr>
          <a:xfrm>
            <a:off x="476053" y="4099636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8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 및 분석 - 불량 분석</a:t>
            </a:r>
            <a:endParaRPr sz="2300" b="1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55" name="Google Shape;355;p38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6" name="Google Shape;356;p38"/>
          <p:cNvSpPr/>
          <p:nvPr/>
        </p:nvSpPr>
        <p:spPr>
          <a:xfrm>
            <a:off x="204900" y="723325"/>
            <a:ext cx="8734200" cy="3202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7" name="Google Shape;357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7425" y="1217098"/>
            <a:ext cx="3254872" cy="259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89616" y="1217098"/>
            <a:ext cx="3521554" cy="2600972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8"/>
          <p:cNvSpPr/>
          <p:nvPr/>
        </p:nvSpPr>
        <p:spPr>
          <a:xfrm>
            <a:off x="385432" y="4200405"/>
            <a:ext cx="8366700" cy="653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38"/>
          <p:cNvSpPr/>
          <p:nvPr/>
        </p:nvSpPr>
        <p:spPr>
          <a:xfrm>
            <a:off x="390825" y="4200300"/>
            <a:ext cx="83667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또한,  Crack이 3 초과한 웨이퍼가 4015장으로 20%에 달하며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TTV의 Cpk 역시 0.15로 즉시 공정 수정이 필요한 수준으로 확인했다.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8"/>
          <p:cNvSpPr/>
          <p:nvPr/>
        </p:nvSpPr>
        <p:spPr>
          <a:xfrm>
            <a:off x="476053" y="4383011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chemeClr val="accent6"/>
              </a:highlight>
            </a:endParaRPr>
          </a:p>
        </p:txBody>
      </p:sp>
      <p:sp>
        <p:nvSpPr>
          <p:cNvPr id="362" name="Google Shape;362;p38"/>
          <p:cNvSpPr/>
          <p:nvPr/>
        </p:nvSpPr>
        <p:spPr>
          <a:xfrm>
            <a:off x="476053" y="4383011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8"/>
          <p:cNvSpPr/>
          <p:nvPr/>
        </p:nvSpPr>
        <p:spPr>
          <a:xfrm>
            <a:off x="309395" y="832610"/>
            <a:ext cx="288000" cy="2880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8"/>
          <p:cNvSpPr/>
          <p:nvPr/>
        </p:nvSpPr>
        <p:spPr>
          <a:xfrm>
            <a:off x="720875" y="820077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lang="ko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 공정 이후 공정 평가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8"/>
          <p:cNvSpPr/>
          <p:nvPr/>
        </p:nvSpPr>
        <p:spPr>
          <a:xfrm>
            <a:off x="309395" y="832610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9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 및 분석 - Crack &amp; Scratch</a:t>
            </a:r>
            <a:endParaRPr sz="2300" b="1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71" name="Google Shape;371;p39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2" name="Google Shape;372;p39"/>
          <p:cNvSpPr/>
          <p:nvPr/>
        </p:nvSpPr>
        <p:spPr>
          <a:xfrm>
            <a:off x="390825" y="723335"/>
            <a:ext cx="4149000" cy="30309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39"/>
          <p:cNvSpPr/>
          <p:nvPr/>
        </p:nvSpPr>
        <p:spPr>
          <a:xfrm>
            <a:off x="596570" y="832598"/>
            <a:ext cx="288000" cy="2880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39"/>
          <p:cNvSpPr/>
          <p:nvPr/>
        </p:nvSpPr>
        <p:spPr>
          <a:xfrm>
            <a:off x="1008050" y="820065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lang="ko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 단독 불량 데이터 분석</a:t>
            </a:r>
            <a:endParaRPr b="1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9"/>
          <p:cNvSpPr/>
          <p:nvPr/>
        </p:nvSpPr>
        <p:spPr>
          <a:xfrm>
            <a:off x="4677075" y="723335"/>
            <a:ext cx="4080600" cy="30309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39"/>
          <p:cNvSpPr/>
          <p:nvPr/>
        </p:nvSpPr>
        <p:spPr>
          <a:xfrm>
            <a:off x="5294300" y="807533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lang="ko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 단독 불량 데이터 분석</a:t>
            </a:r>
            <a:endParaRPr b="1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9"/>
          <p:cNvSpPr/>
          <p:nvPr/>
        </p:nvSpPr>
        <p:spPr>
          <a:xfrm>
            <a:off x="596570" y="832598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9"/>
          <p:cNvSpPr/>
          <p:nvPr/>
        </p:nvSpPr>
        <p:spPr>
          <a:xfrm>
            <a:off x="4882820" y="832598"/>
            <a:ext cx="288000" cy="288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39"/>
          <p:cNvSpPr/>
          <p:nvPr/>
        </p:nvSpPr>
        <p:spPr>
          <a:xfrm>
            <a:off x="4882820" y="832598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0" name="Google Shape;380;p39"/>
          <p:cNvGraphicFramePr/>
          <p:nvPr/>
        </p:nvGraphicFramePr>
        <p:xfrm>
          <a:off x="4754355" y="20040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{47F2066A-027F-443B-B902-C019AB88E0B3}</a:tableStyleId>
              </a:tblPr>
              <a:tblGrid>
                <a:gridCol w="83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1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1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Scratch &gt; 3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Scratch ≤ 3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합계</a:t>
                      </a:r>
                      <a:endParaRPr sz="10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Crack &gt; 3</a:t>
                      </a:r>
                      <a:endParaRPr sz="1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E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u="none" strike="noStrike" cap="none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  (4%)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3C1D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832  (75%)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881 (79%)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Crack ≤ 3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E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u="none" strike="noStrike" cap="none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234  (21%)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b="1" u="none" strike="noStrike" cap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 (0%)</a:t>
                      </a:r>
                      <a:endParaRPr sz="1000" b="1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234 (21%)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합계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283(25%)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832 (75%)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1115 (100%)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1" name="Google Shape;381;p39"/>
          <p:cNvSpPr/>
          <p:nvPr/>
        </p:nvSpPr>
        <p:spPr>
          <a:xfrm>
            <a:off x="385432" y="3917030"/>
            <a:ext cx="8366700" cy="653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39"/>
          <p:cNvSpPr/>
          <p:nvPr/>
        </p:nvSpPr>
        <p:spPr>
          <a:xfrm>
            <a:off x="390825" y="3916925"/>
            <a:ext cx="83667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데이터 분석 결과, Crack &amp; Scratch 스크리닝 임계값을 “</a:t>
            </a:r>
            <a:r>
              <a:rPr lang="ko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3” </a:t>
            </a: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으로 설정하여 BG 불량 선별·차단할 필요가 있다.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9"/>
          <p:cNvSpPr/>
          <p:nvPr/>
        </p:nvSpPr>
        <p:spPr>
          <a:xfrm>
            <a:off x="4797675" y="1120587"/>
            <a:ext cx="38394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◆ BG_Crack_Scratch Fail Data를 분석해보면,</a:t>
            </a:r>
            <a:endParaRPr sz="11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 b="1">
                <a:solidFill>
                  <a:srgbClr val="CC4125"/>
                </a:solidFill>
                <a:latin typeface="Malgun Gothic"/>
                <a:ea typeface="Malgun Gothic"/>
                <a:cs typeface="Malgun Gothic"/>
                <a:sym typeface="Malgun Gothic"/>
              </a:rPr>
              <a:t> Crack &amp; Scatch </a:t>
            </a:r>
            <a:r>
              <a:rPr lang="ko" sz="1000" b="1">
                <a:solidFill>
                  <a:srgbClr val="E0654A"/>
                </a:solidFill>
                <a:latin typeface="Calibri"/>
                <a:ea typeface="Calibri"/>
                <a:cs typeface="Calibri"/>
                <a:sym typeface="Calibri"/>
              </a:rPr>
              <a:t>≤</a:t>
            </a:r>
            <a:r>
              <a:rPr lang="ko" sz="1100" b="1">
                <a:solidFill>
                  <a:srgbClr val="CC4125"/>
                </a:solidFill>
                <a:latin typeface="Malgun Gothic"/>
                <a:ea typeface="Malgun Gothic"/>
                <a:cs typeface="Malgun Gothic"/>
                <a:sym typeface="Malgun Gothic"/>
              </a:rPr>
              <a:t> 3 인 경우, 비율이 0%이다.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4" name="Google Shape;384;p39"/>
          <p:cNvSpPr/>
          <p:nvPr/>
        </p:nvSpPr>
        <p:spPr>
          <a:xfrm>
            <a:off x="476053" y="4099636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chemeClr val="accent6"/>
              </a:highlight>
            </a:endParaRPr>
          </a:p>
        </p:txBody>
      </p:sp>
      <p:sp>
        <p:nvSpPr>
          <p:cNvPr id="385" name="Google Shape;385;p39"/>
          <p:cNvSpPr/>
          <p:nvPr/>
        </p:nvSpPr>
        <p:spPr>
          <a:xfrm>
            <a:off x="476053" y="4099636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9"/>
          <p:cNvSpPr/>
          <p:nvPr/>
        </p:nvSpPr>
        <p:spPr>
          <a:xfrm>
            <a:off x="545625" y="4598746"/>
            <a:ext cx="7955400" cy="5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000" i="1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※ 분석 대상 LOT:</a:t>
            </a:r>
            <a:endParaRPr sz="1000" i="1">
              <a:solidFill>
                <a:srgbClr val="1B7A5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000" i="1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좌: 전체 LOT </a:t>
            </a:r>
            <a:endParaRPr sz="1000" i="1">
              <a:solidFill>
                <a:srgbClr val="1B7A5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000" i="1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우: Primary Failure이 BG_Crack_Scratch 인 경우</a:t>
            </a:r>
            <a:endParaRPr sz="1000" i="1">
              <a:solidFill>
                <a:srgbClr val="1B7A5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9"/>
          <p:cNvSpPr/>
          <p:nvPr/>
        </p:nvSpPr>
        <p:spPr>
          <a:xfrm>
            <a:off x="6618250" y="2691425"/>
            <a:ext cx="1031100" cy="4665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9"/>
          <p:cNvSpPr/>
          <p:nvPr/>
        </p:nvSpPr>
        <p:spPr>
          <a:xfrm>
            <a:off x="619624" y="2714185"/>
            <a:ext cx="149700" cy="87000"/>
          </a:xfrm>
          <a:prstGeom prst="rect">
            <a:avLst/>
          </a:prstGeom>
          <a:solidFill>
            <a:srgbClr val="D64533"/>
          </a:solidFill>
          <a:ln>
            <a:noFill/>
          </a:ln>
        </p:spPr>
        <p:txBody>
          <a:bodyPr spcFirstLastPara="1" wrap="square" lIns="62300" tIns="62300" rIns="62300" bIns="62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9"/>
          <p:cNvSpPr/>
          <p:nvPr/>
        </p:nvSpPr>
        <p:spPr>
          <a:xfrm>
            <a:off x="806722" y="2688872"/>
            <a:ext cx="7485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300" tIns="31150" rIns="62300" bIns="31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907"/>
              <a:buFont typeface="Malgun Gothic"/>
              <a:buNone/>
            </a:pPr>
            <a:r>
              <a:rPr lang="ko" sz="907" b="1" i="0" u="none" strike="noStrike" cap="non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Fail</a:t>
            </a:r>
            <a:endParaRPr sz="90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9"/>
          <p:cNvSpPr/>
          <p:nvPr/>
        </p:nvSpPr>
        <p:spPr>
          <a:xfrm>
            <a:off x="1336833" y="2714185"/>
            <a:ext cx="149700" cy="87000"/>
          </a:xfrm>
          <a:prstGeom prst="rect">
            <a:avLst/>
          </a:prstGeom>
          <a:solidFill>
            <a:srgbClr val="27AE73"/>
          </a:solidFill>
          <a:ln>
            <a:noFill/>
          </a:ln>
        </p:spPr>
        <p:txBody>
          <a:bodyPr spcFirstLastPara="1" wrap="square" lIns="62300" tIns="62300" rIns="62300" bIns="62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39"/>
          <p:cNvSpPr/>
          <p:nvPr/>
        </p:nvSpPr>
        <p:spPr>
          <a:xfrm>
            <a:off x="1523931" y="2688872"/>
            <a:ext cx="7485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300" tIns="31150" rIns="62300" bIns="31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907"/>
              <a:buFont typeface="Malgun Gothic"/>
              <a:buNone/>
            </a:pPr>
            <a:r>
              <a:rPr lang="ko" sz="907" b="1" i="0" u="none" strike="noStrike" cap="non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</a:t>
            </a:r>
            <a:endParaRPr sz="90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9"/>
          <p:cNvSpPr/>
          <p:nvPr/>
        </p:nvSpPr>
        <p:spPr>
          <a:xfrm>
            <a:off x="545599" y="2911953"/>
            <a:ext cx="1110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300" tIns="31150" rIns="62300" bIns="31150" anchor="ctr" anchorCtr="0">
            <a:noAutofit/>
          </a:bodyPr>
          <a:lstStyle/>
          <a:p>
            <a:pPr marL="0" marR="0" lvl="0" indent="0" algn="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270"/>
              <a:buFont typeface="Malgun Gothic"/>
              <a:buNone/>
            </a:pPr>
            <a:r>
              <a:rPr lang="ko" sz="1270" b="1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Scratch</a:t>
            </a:r>
            <a:r>
              <a:rPr lang="ko" sz="1270" b="1" i="0" u="none" strike="noStrike" cap="non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 &gt; 3</a:t>
            </a:r>
            <a:br>
              <a:rPr lang="ko" sz="1270" b="1" i="0" u="none" strike="noStrike" cap="non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7" b="0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n = </a:t>
            </a:r>
            <a:r>
              <a:rPr lang="ko" sz="907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ko" sz="907" b="0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,</a:t>
            </a:r>
            <a:r>
              <a:rPr lang="ko" sz="907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238</a:t>
            </a:r>
            <a:r>
              <a:rPr lang="ko" sz="907" b="0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 (6%)</a:t>
            </a:r>
            <a:endParaRPr sz="12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9"/>
          <p:cNvSpPr/>
          <p:nvPr/>
        </p:nvSpPr>
        <p:spPr>
          <a:xfrm>
            <a:off x="1791545" y="2911958"/>
            <a:ext cx="2593500" cy="415800"/>
          </a:xfrm>
          <a:prstGeom prst="roundRect">
            <a:avLst>
              <a:gd name="adj" fmla="val 5217"/>
            </a:avLst>
          </a:prstGeom>
          <a:solidFill>
            <a:srgbClr val="D64533"/>
          </a:solidFill>
          <a:ln>
            <a:noFill/>
          </a:ln>
        </p:spPr>
        <p:txBody>
          <a:bodyPr spcFirstLastPara="1" wrap="square" lIns="62300" tIns="62300" rIns="62300" bIns="62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9"/>
          <p:cNvSpPr/>
          <p:nvPr/>
        </p:nvSpPr>
        <p:spPr>
          <a:xfrm>
            <a:off x="1895830" y="2911958"/>
            <a:ext cx="23406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300" tIns="31150" rIns="62300" bIns="31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33"/>
              <a:buFont typeface="Malgun Gothic"/>
              <a:buNone/>
            </a:pPr>
            <a:r>
              <a:rPr lang="ko" sz="1633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Fail 100.0%</a:t>
            </a: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9"/>
          <p:cNvSpPr/>
          <p:nvPr/>
        </p:nvSpPr>
        <p:spPr>
          <a:xfrm>
            <a:off x="1921427" y="2911958"/>
            <a:ext cx="24345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300" tIns="31150" rIns="62300" bIns="3115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E9E3"/>
              </a:buClr>
              <a:buSzPts val="998"/>
              <a:buFont typeface="Malgun Gothic"/>
              <a:buNone/>
            </a:pPr>
            <a:r>
              <a:rPr lang="ko" sz="998" b="1">
                <a:solidFill>
                  <a:srgbClr val="FFE9E3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ko" sz="998" b="1" i="0" u="none" strike="noStrike" cap="none">
                <a:solidFill>
                  <a:srgbClr val="FFE9E3"/>
                </a:solidFill>
                <a:latin typeface="Malgun Gothic"/>
                <a:ea typeface="Malgun Gothic"/>
                <a:cs typeface="Malgun Gothic"/>
                <a:sym typeface="Malgun Gothic"/>
              </a:rPr>
              <a:t>,</a:t>
            </a:r>
            <a:r>
              <a:rPr lang="ko" sz="998" b="1">
                <a:solidFill>
                  <a:srgbClr val="FFE9E3"/>
                </a:solidFill>
                <a:latin typeface="Malgun Gothic"/>
                <a:ea typeface="Malgun Gothic"/>
                <a:cs typeface="Malgun Gothic"/>
                <a:sym typeface="Malgun Gothic"/>
              </a:rPr>
              <a:t>238</a:t>
            </a:r>
            <a:r>
              <a:rPr lang="ko" sz="998" b="1" i="0" u="none" strike="noStrike" cap="none">
                <a:solidFill>
                  <a:srgbClr val="FFE9E3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  ·  Pass 0장</a:t>
            </a:r>
            <a:endParaRPr sz="99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9"/>
          <p:cNvSpPr/>
          <p:nvPr/>
        </p:nvSpPr>
        <p:spPr>
          <a:xfrm>
            <a:off x="619624" y="1996652"/>
            <a:ext cx="149700" cy="87000"/>
          </a:xfrm>
          <a:prstGeom prst="rect">
            <a:avLst/>
          </a:prstGeom>
          <a:solidFill>
            <a:srgbClr val="D64533"/>
          </a:solidFill>
          <a:ln>
            <a:noFill/>
          </a:ln>
        </p:spPr>
        <p:txBody>
          <a:bodyPr spcFirstLastPara="1" wrap="square" lIns="62300" tIns="62300" rIns="62300" bIns="62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39"/>
          <p:cNvSpPr/>
          <p:nvPr/>
        </p:nvSpPr>
        <p:spPr>
          <a:xfrm>
            <a:off x="806722" y="1971340"/>
            <a:ext cx="7485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300" tIns="31150" rIns="62300" bIns="31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907"/>
              <a:buFont typeface="Malgun Gothic"/>
              <a:buNone/>
            </a:pPr>
            <a:r>
              <a:rPr lang="ko" sz="907" b="1" i="0" u="none" strike="noStrike" cap="non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Fail</a:t>
            </a:r>
            <a:endParaRPr sz="90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9"/>
          <p:cNvSpPr/>
          <p:nvPr/>
        </p:nvSpPr>
        <p:spPr>
          <a:xfrm>
            <a:off x="1336833" y="1996652"/>
            <a:ext cx="149700" cy="87000"/>
          </a:xfrm>
          <a:prstGeom prst="rect">
            <a:avLst/>
          </a:prstGeom>
          <a:solidFill>
            <a:srgbClr val="27AE73"/>
          </a:solidFill>
          <a:ln>
            <a:noFill/>
          </a:ln>
        </p:spPr>
        <p:txBody>
          <a:bodyPr spcFirstLastPara="1" wrap="square" lIns="62300" tIns="62300" rIns="62300" bIns="62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9"/>
          <p:cNvSpPr/>
          <p:nvPr/>
        </p:nvSpPr>
        <p:spPr>
          <a:xfrm>
            <a:off x="1523931" y="1971340"/>
            <a:ext cx="7485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300" tIns="31150" rIns="62300" bIns="31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907"/>
              <a:buFont typeface="Malgun Gothic"/>
              <a:buNone/>
            </a:pPr>
            <a:r>
              <a:rPr lang="ko" sz="907" b="1" i="0" u="none" strike="noStrike" cap="non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</a:t>
            </a:r>
            <a:endParaRPr sz="90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9"/>
          <p:cNvSpPr/>
          <p:nvPr/>
        </p:nvSpPr>
        <p:spPr>
          <a:xfrm>
            <a:off x="545599" y="2194421"/>
            <a:ext cx="1110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300" tIns="31150" rIns="62300" bIns="31150" anchor="ctr" anchorCtr="0">
            <a:noAutofit/>
          </a:bodyPr>
          <a:lstStyle/>
          <a:p>
            <a:pPr marL="0" marR="0" lvl="0" indent="0" algn="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270"/>
              <a:buFont typeface="Malgun Gothic"/>
              <a:buNone/>
            </a:pPr>
            <a:r>
              <a:rPr lang="ko" sz="1270" b="1" i="0" u="none" strike="noStrike" cap="non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Crack &gt; 3</a:t>
            </a:r>
            <a:br>
              <a:rPr lang="ko" sz="1270" b="1" i="0" u="none" strike="noStrike" cap="non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7" b="0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n = 4,015장 (20%)</a:t>
            </a:r>
            <a:endParaRPr sz="12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9"/>
          <p:cNvSpPr/>
          <p:nvPr/>
        </p:nvSpPr>
        <p:spPr>
          <a:xfrm>
            <a:off x="1791545" y="2194426"/>
            <a:ext cx="2593500" cy="415800"/>
          </a:xfrm>
          <a:prstGeom prst="roundRect">
            <a:avLst>
              <a:gd name="adj" fmla="val 5217"/>
            </a:avLst>
          </a:prstGeom>
          <a:solidFill>
            <a:srgbClr val="D64533"/>
          </a:solidFill>
          <a:ln>
            <a:noFill/>
          </a:ln>
        </p:spPr>
        <p:txBody>
          <a:bodyPr spcFirstLastPara="1" wrap="square" lIns="62300" tIns="62300" rIns="62300" bIns="62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69"/>
          </a:p>
        </p:txBody>
      </p:sp>
      <p:sp>
        <p:nvSpPr>
          <p:cNvPr id="402" name="Google Shape;402;p39"/>
          <p:cNvSpPr/>
          <p:nvPr/>
        </p:nvSpPr>
        <p:spPr>
          <a:xfrm>
            <a:off x="1895830" y="2194426"/>
            <a:ext cx="23406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300" tIns="31150" rIns="62300" bIns="31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33"/>
              <a:buFont typeface="Malgun Gothic"/>
              <a:buNone/>
            </a:pPr>
            <a:r>
              <a:rPr lang="ko" sz="1633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Fail 100.0%</a:t>
            </a: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9"/>
          <p:cNvSpPr/>
          <p:nvPr/>
        </p:nvSpPr>
        <p:spPr>
          <a:xfrm>
            <a:off x="1921427" y="2194426"/>
            <a:ext cx="24345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300" tIns="31150" rIns="62300" bIns="3115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E9E3"/>
              </a:buClr>
              <a:buSzPts val="998"/>
              <a:buFont typeface="Malgun Gothic"/>
              <a:buNone/>
            </a:pPr>
            <a:r>
              <a:rPr lang="ko" sz="998" b="1" i="0" u="none" strike="noStrike" cap="none">
                <a:solidFill>
                  <a:srgbClr val="FFE9E3"/>
                </a:solidFill>
                <a:latin typeface="Malgun Gothic"/>
                <a:ea typeface="Malgun Gothic"/>
                <a:cs typeface="Malgun Gothic"/>
                <a:sym typeface="Malgun Gothic"/>
              </a:rPr>
              <a:t>4,015장  ·  Pass 0장</a:t>
            </a:r>
            <a:endParaRPr sz="99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9"/>
          <p:cNvSpPr/>
          <p:nvPr/>
        </p:nvSpPr>
        <p:spPr>
          <a:xfrm>
            <a:off x="545625" y="1230063"/>
            <a:ext cx="3839400" cy="5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◆ BG After Crack, Scratch 데이터 분석 (20,000장)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0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 및 분석 - TTV</a:t>
            </a:r>
            <a:endParaRPr sz="2300" b="1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10" name="Google Shape;410;p40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1" name="Google Shape;411;p40"/>
          <p:cNvSpPr/>
          <p:nvPr/>
        </p:nvSpPr>
        <p:spPr>
          <a:xfrm>
            <a:off x="390825" y="723325"/>
            <a:ext cx="5538300" cy="30309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40"/>
          <p:cNvSpPr/>
          <p:nvPr/>
        </p:nvSpPr>
        <p:spPr>
          <a:xfrm>
            <a:off x="596570" y="832598"/>
            <a:ext cx="288000" cy="2880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40"/>
          <p:cNvSpPr/>
          <p:nvPr/>
        </p:nvSpPr>
        <p:spPr>
          <a:xfrm>
            <a:off x="1008050" y="820065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lang="ko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 단독 불량 데이터 분석</a:t>
            </a:r>
            <a:endParaRPr b="1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40"/>
          <p:cNvSpPr/>
          <p:nvPr/>
        </p:nvSpPr>
        <p:spPr>
          <a:xfrm>
            <a:off x="6048750" y="723325"/>
            <a:ext cx="2709000" cy="30309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40"/>
          <p:cNvSpPr/>
          <p:nvPr/>
        </p:nvSpPr>
        <p:spPr>
          <a:xfrm>
            <a:off x="6511660" y="807522"/>
            <a:ext cx="21852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lang="ko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 단독 불량 데이터 분석</a:t>
            </a:r>
            <a:endParaRPr b="1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40"/>
          <p:cNvSpPr/>
          <p:nvPr/>
        </p:nvSpPr>
        <p:spPr>
          <a:xfrm>
            <a:off x="596570" y="832598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40"/>
          <p:cNvSpPr/>
          <p:nvPr/>
        </p:nvSpPr>
        <p:spPr>
          <a:xfrm>
            <a:off x="6141892" y="832598"/>
            <a:ext cx="288000" cy="288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40"/>
          <p:cNvSpPr/>
          <p:nvPr/>
        </p:nvSpPr>
        <p:spPr>
          <a:xfrm>
            <a:off x="6141892" y="832598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40"/>
          <p:cNvSpPr/>
          <p:nvPr/>
        </p:nvSpPr>
        <p:spPr>
          <a:xfrm>
            <a:off x="385432" y="3917030"/>
            <a:ext cx="8366700" cy="653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40"/>
          <p:cNvSpPr/>
          <p:nvPr/>
        </p:nvSpPr>
        <p:spPr>
          <a:xfrm>
            <a:off x="390825" y="3916925"/>
            <a:ext cx="83667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데이터 분석 결과, TTV 스크리닝 임계값을 “&lt; </a:t>
            </a:r>
            <a:r>
              <a:rPr lang="ko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2μm” </a:t>
            </a: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으로 설정하여 BG 불량 선별·차단할 필요가 있다.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40"/>
          <p:cNvSpPr/>
          <p:nvPr/>
        </p:nvSpPr>
        <p:spPr>
          <a:xfrm>
            <a:off x="386137" y="1132927"/>
            <a:ext cx="38394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◆ 전체 데이터 분석 (20,000장)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2" name="Google Shape;422;p40"/>
          <p:cNvSpPr/>
          <p:nvPr/>
        </p:nvSpPr>
        <p:spPr>
          <a:xfrm>
            <a:off x="476053" y="4099636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chemeClr val="accent6"/>
              </a:highlight>
            </a:endParaRPr>
          </a:p>
        </p:txBody>
      </p:sp>
      <p:sp>
        <p:nvSpPr>
          <p:cNvPr id="423" name="Google Shape;423;p40"/>
          <p:cNvSpPr/>
          <p:nvPr/>
        </p:nvSpPr>
        <p:spPr>
          <a:xfrm>
            <a:off x="476053" y="4099636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40"/>
          <p:cNvSpPr/>
          <p:nvPr/>
        </p:nvSpPr>
        <p:spPr>
          <a:xfrm>
            <a:off x="2564009" y="1159497"/>
            <a:ext cx="33651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◆ TTV NG 데이터 분석 (4,972장)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000" i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(TTV &gt; 3</a:t>
            </a:r>
            <a:r>
              <a:rPr lang="ko" sz="1150" i="1">
                <a:solidFill>
                  <a:srgbClr val="424242"/>
                </a:solidFill>
                <a:highlight>
                  <a:srgbClr val="FFFFFF"/>
                </a:highlight>
              </a:rPr>
              <a:t>μ</a:t>
            </a:r>
            <a:r>
              <a:rPr lang="ko" sz="1150" i="1">
                <a:solidFill>
                  <a:srgbClr val="42424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ko" sz="1000" i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이면 NG)</a:t>
            </a:r>
            <a:endParaRPr sz="1000" i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TTV_After가 3μm 초과(NG)이면 </a:t>
            </a:r>
            <a:r>
              <a:rPr lang="ko" sz="1100" b="1" i="0" u="none" strike="noStrike" cap="non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99.8%가 Fail</a:t>
            </a:r>
            <a:endParaRPr sz="11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사실상 전수 불량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5" name="Google Shape;425;p4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26111" y="2256588"/>
            <a:ext cx="1362555" cy="118592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40"/>
          <p:cNvSpPr/>
          <p:nvPr/>
        </p:nvSpPr>
        <p:spPr>
          <a:xfrm>
            <a:off x="3888667" y="2414325"/>
            <a:ext cx="1887600" cy="373200"/>
          </a:xfrm>
          <a:prstGeom prst="roundRect">
            <a:avLst>
              <a:gd name="adj" fmla="val 8571"/>
            </a:avLst>
          </a:prstGeom>
          <a:solidFill>
            <a:srgbClr val="FCEAE3"/>
          </a:solidFill>
          <a:ln w="6575" cap="flat" cmpd="sng">
            <a:solidFill>
              <a:srgbClr val="F0C4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5575" tIns="35575" rIns="35575" bIns="35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40"/>
          <p:cNvSpPr/>
          <p:nvPr/>
        </p:nvSpPr>
        <p:spPr>
          <a:xfrm>
            <a:off x="4013327" y="2554660"/>
            <a:ext cx="92700" cy="92400"/>
          </a:xfrm>
          <a:prstGeom prst="ellipse">
            <a:avLst/>
          </a:prstGeom>
          <a:solidFill>
            <a:srgbClr val="D64533"/>
          </a:solidFill>
          <a:ln>
            <a:noFill/>
          </a:ln>
        </p:spPr>
        <p:txBody>
          <a:bodyPr spcFirstLastPara="1" wrap="square" lIns="35575" tIns="35575" rIns="35575" bIns="35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40"/>
          <p:cNvSpPr/>
          <p:nvPr/>
        </p:nvSpPr>
        <p:spPr>
          <a:xfrm>
            <a:off x="4173603" y="2414325"/>
            <a:ext cx="8547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881"/>
              <a:buFont typeface="Malgun Gothic"/>
              <a:buNone/>
            </a:pPr>
            <a:r>
              <a:rPr lang="ko" sz="881" b="1" i="0" u="none" strike="noStrike" cap="non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Fail </a:t>
            </a:r>
            <a:r>
              <a:rPr lang="ko" sz="704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n = 4,964장</a:t>
            </a:r>
            <a:endParaRPr sz="88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40"/>
          <p:cNvSpPr/>
          <p:nvPr/>
        </p:nvSpPr>
        <p:spPr>
          <a:xfrm>
            <a:off x="4957176" y="2414325"/>
            <a:ext cx="7479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36"/>
              <a:buFont typeface="Malgun Gothic"/>
              <a:buNone/>
            </a:pPr>
            <a:r>
              <a:rPr lang="ko" sz="1036" b="1" i="0" u="none" strike="noStrike" cap="non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99.8%</a:t>
            </a:r>
            <a:endParaRPr sz="103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40"/>
          <p:cNvSpPr/>
          <p:nvPr/>
        </p:nvSpPr>
        <p:spPr>
          <a:xfrm>
            <a:off x="3888667" y="2911716"/>
            <a:ext cx="1887600" cy="373200"/>
          </a:xfrm>
          <a:prstGeom prst="roundRect">
            <a:avLst>
              <a:gd name="adj" fmla="val 8571"/>
            </a:avLst>
          </a:prstGeom>
          <a:solidFill>
            <a:srgbClr val="F0F7F2"/>
          </a:solidFill>
          <a:ln w="6575" cap="flat" cmpd="sng">
            <a:solidFill>
              <a:srgbClr val="CDE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5575" tIns="35575" rIns="35575" bIns="35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40"/>
          <p:cNvSpPr/>
          <p:nvPr/>
        </p:nvSpPr>
        <p:spPr>
          <a:xfrm>
            <a:off x="4013327" y="3052051"/>
            <a:ext cx="92700" cy="92400"/>
          </a:xfrm>
          <a:prstGeom prst="ellipse">
            <a:avLst/>
          </a:prstGeom>
          <a:solidFill>
            <a:srgbClr val="27AE73"/>
          </a:solidFill>
          <a:ln>
            <a:noFill/>
          </a:ln>
        </p:spPr>
        <p:txBody>
          <a:bodyPr spcFirstLastPara="1" wrap="square" lIns="35575" tIns="35575" rIns="35575" bIns="35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40"/>
          <p:cNvSpPr/>
          <p:nvPr/>
        </p:nvSpPr>
        <p:spPr>
          <a:xfrm>
            <a:off x="4173603" y="2911716"/>
            <a:ext cx="8547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881"/>
              <a:buFont typeface="Malgun Gothic"/>
              <a:buNone/>
            </a:pPr>
            <a:r>
              <a:rPr lang="ko" sz="881" b="1" i="0" u="none" strike="noStrike" cap="non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 </a:t>
            </a:r>
            <a:r>
              <a:rPr lang="ko" sz="704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n = 8장</a:t>
            </a:r>
            <a:endParaRPr sz="88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40"/>
          <p:cNvSpPr/>
          <p:nvPr/>
        </p:nvSpPr>
        <p:spPr>
          <a:xfrm>
            <a:off x="4957176" y="2911716"/>
            <a:ext cx="7479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8E5A"/>
              </a:buClr>
              <a:buSzPts val="1036"/>
              <a:buFont typeface="Malgun Gothic"/>
              <a:buNone/>
            </a:pPr>
            <a:r>
              <a:rPr lang="ko" sz="1036" b="1" i="0" u="none" strike="noStrike" cap="none">
                <a:solidFill>
                  <a:srgbClr val="1E8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0.2%</a:t>
            </a:r>
            <a:endParaRPr sz="103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4" name="Google Shape;434;p4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104" y="1693288"/>
            <a:ext cx="1261443" cy="1261443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40"/>
          <p:cNvSpPr/>
          <p:nvPr/>
        </p:nvSpPr>
        <p:spPr>
          <a:xfrm>
            <a:off x="1046281" y="2113771"/>
            <a:ext cx="6183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075" tIns="14050" rIns="28075" bIns="14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450"/>
              <a:buFont typeface="Malgun Gothic"/>
              <a:buNone/>
            </a:pPr>
            <a:r>
              <a:rPr lang="ko" sz="450" b="1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NG</a:t>
            </a:r>
            <a:br>
              <a:rPr lang="ko" sz="450" b="1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1226" b="1" i="0" u="none" strike="noStrike" cap="none">
                <a:solidFill>
                  <a:srgbClr val="D64533"/>
                </a:solidFill>
                <a:latin typeface="Malgun Gothic"/>
                <a:ea typeface="Malgun Gothic"/>
                <a:cs typeface="Malgun Gothic"/>
                <a:sym typeface="Malgun Gothic"/>
              </a:rPr>
              <a:t>24.8%</a:t>
            </a:r>
            <a:br>
              <a:rPr lang="ko" sz="1226" b="1" i="0" u="none" strike="noStrike" cap="none">
                <a:solidFill>
                  <a:srgbClr val="D64533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409" b="0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4,964장</a:t>
            </a:r>
            <a:endParaRPr sz="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40"/>
          <p:cNvSpPr/>
          <p:nvPr/>
        </p:nvSpPr>
        <p:spPr>
          <a:xfrm>
            <a:off x="596576" y="3026985"/>
            <a:ext cx="1517700" cy="280500"/>
          </a:xfrm>
          <a:prstGeom prst="roundRect">
            <a:avLst>
              <a:gd name="adj" fmla="val 9000"/>
            </a:avLst>
          </a:prstGeom>
          <a:solidFill>
            <a:srgbClr val="F4F6F8"/>
          </a:solidFill>
          <a:ln>
            <a:noFill/>
          </a:ln>
        </p:spPr>
        <p:txBody>
          <a:bodyPr spcFirstLastPara="1" wrap="square" lIns="28075" tIns="28075" rIns="28075" bIns="28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40"/>
          <p:cNvSpPr/>
          <p:nvPr/>
        </p:nvSpPr>
        <p:spPr>
          <a:xfrm>
            <a:off x="694934" y="3130704"/>
            <a:ext cx="73200" cy="729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txBody>
          <a:bodyPr spcFirstLastPara="1" wrap="square" lIns="28075" tIns="28075" rIns="28075" bIns="28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40"/>
          <p:cNvSpPr/>
          <p:nvPr/>
        </p:nvSpPr>
        <p:spPr>
          <a:xfrm>
            <a:off x="821394" y="3026985"/>
            <a:ext cx="5619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613"/>
              <a:buFont typeface="Malgun Gothic"/>
              <a:buNone/>
            </a:pPr>
            <a:r>
              <a:rPr lang="ko" sz="613" b="1" i="0" u="none" strike="noStrike" cap="non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OK</a:t>
            </a:r>
            <a:endParaRPr sz="61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40"/>
          <p:cNvSpPr/>
          <p:nvPr/>
        </p:nvSpPr>
        <p:spPr>
          <a:xfrm>
            <a:off x="1411543" y="3066230"/>
            <a:ext cx="618300" cy="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613"/>
              <a:buFont typeface="Malgun Gothic"/>
              <a:buNone/>
            </a:pPr>
            <a:r>
              <a:rPr lang="ko" sz="613" b="1" i="0" u="none" strike="noStrike" cap="non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15,036장</a:t>
            </a:r>
            <a:endParaRPr sz="61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40"/>
          <p:cNvSpPr/>
          <p:nvPr/>
        </p:nvSpPr>
        <p:spPr>
          <a:xfrm>
            <a:off x="1411543" y="3167146"/>
            <a:ext cx="6183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409"/>
              <a:buFont typeface="Malgun Gothic"/>
              <a:buNone/>
            </a:pPr>
            <a:r>
              <a:rPr lang="ko" sz="409" b="0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75.2%</a:t>
            </a:r>
            <a:endParaRPr sz="40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40"/>
          <p:cNvSpPr/>
          <p:nvPr/>
        </p:nvSpPr>
        <p:spPr>
          <a:xfrm>
            <a:off x="596576" y="3405419"/>
            <a:ext cx="1517700" cy="280500"/>
          </a:xfrm>
          <a:prstGeom prst="roundRect">
            <a:avLst>
              <a:gd name="adj" fmla="val 9000"/>
            </a:avLst>
          </a:prstGeom>
          <a:solidFill>
            <a:srgbClr val="FCEAE3"/>
          </a:solidFill>
          <a:ln w="13000" cap="flat" cmpd="sng">
            <a:solidFill>
              <a:srgbClr val="E065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8075" tIns="28075" rIns="28075" bIns="28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40"/>
          <p:cNvSpPr/>
          <p:nvPr/>
        </p:nvSpPr>
        <p:spPr>
          <a:xfrm>
            <a:off x="694934" y="3509138"/>
            <a:ext cx="73200" cy="72900"/>
          </a:xfrm>
          <a:prstGeom prst="ellipse">
            <a:avLst/>
          </a:prstGeom>
          <a:solidFill>
            <a:srgbClr val="E0654A"/>
          </a:solidFill>
          <a:ln>
            <a:noFill/>
          </a:ln>
        </p:spPr>
        <p:txBody>
          <a:bodyPr spcFirstLastPara="1" wrap="square" lIns="28075" tIns="28075" rIns="28075" bIns="28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40"/>
          <p:cNvSpPr/>
          <p:nvPr/>
        </p:nvSpPr>
        <p:spPr>
          <a:xfrm>
            <a:off x="821394" y="3405419"/>
            <a:ext cx="5619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613"/>
              <a:buFont typeface="Malgun Gothic"/>
              <a:buNone/>
            </a:pPr>
            <a:r>
              <a:rPr lang="ko" sz="613" b="1" i="0" u="none" strike="noStrike" cap="non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NG</a:t>
            </a:r>
            <a:endParaRPr sz="61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40"/>
          <p:cNvSpPr/>
          <p:nvPr/>
        </p:nvSpPr>
        <p:spPr>
          <a:xfrm>
            <a:off x="1411543" y="3444664"/>
            <a:ext cx="618300" cy="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613"/>
              <a:buFont typeface="Malgun Gothic"/>
              <a:buNone/>
            </a:pPr>
            <a:r>
              <a:rPr lang="ko" sz="613" b="1" i="0" u="none" strike="noStrike" cap="non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4,964장</a:t>
            </a:r>
            <a:endParaRPr sz="61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0"/>
          <p:cNvSpPr/>
          <p:nvPr/>
        </p:nvSpPr>
        <p:spPr>
          <a:xfrm>
            <a:off x="1411543" y="3545580"/>
            <a:ext cx="6183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409"/>
              <a:buFont typeface="Malgun Gothic"/>
              <a:buNone/>
            </a:pPr>
            <a:r>
              <a:rPr lang="ko" sz="409" b="0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24.8%</a:t>
            </a:r>
            <a:endParaRPr sz="40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6" name="Google Shape;446;p40"/>
          <p:cNvCxnSpPr/>
          <p:nvPr/>
        </p:nvCxnSpPr>
        <p:spPr>
          <a:xfrm>
            <a:off x="6690463" y="1949100"/>
            <a:ext cx="0" cy="1139400"/>
          </a:xfrm>
          <a:prstGeom prst="straightConnector1">
            <a:avLst/>
          </a:prstGeom>
          <a:noFill/>
          <a:ln w="8550" cap="flat" cmpd="sng">
            <a:solidFill>
              <a:srgbClr val="D8DEE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7" name="Google Shape;447;p40"/>
          <p:cNvSpPr/>
          <p:nvPr/>
        </p:nvSpPr>
        <p:spPr>
          <a:xfrm>
            <a:off x="6134800" y="2056871"/>
            <a:ext cx="51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539"/>
              <a:buFont typeface="Malgun Gothic"/>
              <a:buNone/>
            </a:pPr>
            <a:r>
              <a:rPr lang="ko" sz="1039" b="1" i="0" u="none" strike="noStrike" cap="non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 웨이퍼</a:t>
            </a:r>
            <a:endParaRPr sz="1039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40"/>
          <p:cNvSpPr/>
          <p:nvPr/>
        </p:nvSpPr>
        <p:spPr>
          <a:xfrm>
            <a:off x="6690463" y="2056871"/>
            <a:ext cx="1188900" cy="292500"/>
          </a:xfrm>
          <a:prstGeom prst="roundRect">
            <a:avLst>
              <a:gd name="adj" fmla="val 5263"/>
            </a:avLst>
          </a:prstGeom>
          <a:solidFill>
            <a:srgbClr val="4A90D9"/>
          </a:solidFill>
          <a:ln>
            <a:noFill/>
          </a:ln>
        </p:spPr>
        <p:txBody>
          <a:bodyPr spcFirstLastPara="1" wrap="square" lIns="30850" tIns="30850" rIns="30850" bIns="30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40"/>
          <p:cNvSpPr/>
          <p:nvPr/>
        </p:nvSpPr>
        <p:spPr>
          <a:xfrm>
            <a:off x="7499833" y="2056871"/>
            <a:ext cx="338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3"/>
              <a:buFont typeface="Malgun Gothic"/>
              <a:buNone/>
            </a:pPr>
            <a:r>
              <a:rPr lang="ko" sz="1263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1.53</a:t>
            </a:r>
            <a:endParaRPr sz="1263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40"/>
          <p:cNvSpPr/>
          <p:nvPr/>
        </p:nvSpPr>
        <p:spPr>
          <a:xfrm>
            <a:off x="6134800" y="2549536"/>
            <a:ext cx="51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539"/>
              <a:buFont typeface="Malgun Gothic"/>
              <a:buNone/>
            </a:pPr>
            <a:r>
              <a:rPr lang="ko" sz="1039" b="1" i="0" u="none" strike="noStrike" cap="non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Fail 웨이퍼</a:t>
            </a:r>
            <a:endParaRPr sz="1039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0"/>
          <p:cNvSpPr/>
          <p:nvPr/>
        </p:nvSpPr>
        <p:spPr>
          <a:xfrm>
            <a:off x="6690463" y="2549536"/>
            <a:ext cx="1919100" cy="292500"/>
          </a:xfrm>
          <a:prstGeom prst="roundRect">
            <a:avLst>
              <a:gd name="adj" fmla="val 5263"/>
            </a:avLst>
          </a:prstGeom>
          <a:solidFill>
            <a:srgbClr val="E0654A"/>
          </a:solidFill>
          <a:ln>
            <a:noFill/>
          </a:ln>
        </p:spPr>
        <p:txBody>
          <a:bodyPr spcFirstLastPara="1" wrap="square" lIns="30850" tIns="30850" rIns="30850" bIns="30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40"/>
          <p:cNvSpPr/>
          <p:nvPr/>
        </p:nvSpPr>
        <p:spPr>
          <a:xfrm>
            <a:off x="8230236" y="2549536"/>
            <a:ext cx="338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3"/>
              <a:buFont typeface="Malgun Gothic"/>
              <a:buNone/>
            </a:pPr>
            <a:r>
              <a:rPr lang="ko" sz="1263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2.47</a:t>
            </a:r>
            <a:endParaRPr sz="1263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40"/>
          <p:cNvSpPr/>
          <p:nvPr/>
        </p:nvSpPr>
        <p:spPr>
          <a:xfrm>
            <a:off x="6094650" y="1208150"/>
            <a:ext cx="26172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◆ Pass/Fail 별 TTV After 평균값 비교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54" name="Google Shape;454;p40"/>
          <p:cNvCxnSpPr/>
          <p:nvPr/>
        </p:nvCxnSpPr>
        <p:spPr>
          <a:xfrm>
            <a:off x="8110358" y="1759621"/>
            <a:ext cx="6900" cy="131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55" name="Google Shape;455;p40"/>
          <p:cNvSpPr/>
          <p:nvPr/>
        </p:nvSpPr>
        <p:spPr>
          <a:xfrm>
            <a:off x="8058275" y="1668600"/>
            <a:ext cx="3387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3"/>
              <a:buFont typeface="Malgun Gothic"/>
              <a:buNone/>
            </a:pPr>
            <a:r>
              <a:rPr lang="ko" sz="1263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263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40"/>
          <p:cNvSpPr/>
          <p:nvPr/>
        </p:nvSpPr>
        <p:spPr>
          <a:xfrm>
            <a:off x="545625" y="4598746"/>
            <a:ext cx="7955400" cy="5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000" i="1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※ 분석 대상 LOT:</a:t>
            </a:r>
            <a:endParaRPr sz="1000" i="1">
              <a:solidFill>
                <a:srgbClr val="1B7A5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000" i="1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좌: 전체 LOT </a:t>
            </a:r>
            <a:endParaRPr sz="1000" i="1">
              <a:solidFill>
                <a:srgbClr val="1B7A5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000" i="1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우: Primary Failure이 BG_Crack_Scratch 인 경우</a:t>
            </a:r>
            <a:endParaRPr sz="1000" i="1">
              <a:solidFill>
                <a:srgbClr val="1B7A5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1"/>
          <p:cNvSpPr/>
          <p:nvPr/>
        </p:nvSpPr>
        <p:spPr>
          <a:xfrm>
            <a:off x="390825" y="723325"/>
            <a:ext cx="8366700" cy="34947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41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 및 분석 - After_Crack, TTV</a:t>
            </a:r>
            <a:endParaRPr sz="2300" b="1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63" name="Google Shape;463;p41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4" name="Google Shape;464;p41"/>
          <p:cNvSpPr txBox="1"/>
          <p:nvPr/>
        </p:nvSpPr>
        <p:spPr>
          <a:xfrm>
            <a:off x="9931675" y="3391700"/>
            <a:ext cx="1836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465" name="Google Shape;465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99952" y="1141675"/>
            <a:ext cx="4079473" cy="302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4925" y="1224738"/>
            <a:ext cx="3262219" cy="2860098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1"/>
          <p:cNvSpPr/>
          <p:nvPr/>
        </p:nvSpPr>
        <p:spPr>
          <a:xfrm>
            <a:off x="385432" y="4348505"/>
            <a:ext cx="8366700" cy="653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41"/>
          <p:cNvSpPr/>
          <p:nvPr/>
        </p:nvSpPr>
        <p:spPr>
          <a:xfrm>
            <a:off x="390825" y="4348400"/>
            <a:ext cx="83667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ko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TTV / Crack After Scatter 간 상관계수: </a:t>
            </a:r>
            <a:r>
              <a:rPr lang="ko" sz="1200" b="1">
                <a:solidFill>
                  <a:srgbClr val="D64533"/>
                </a:solidFill>
                <a:latin typeface="Calibri"/>
                <a:ea typeface="Calibri"/>
                <a:cs typeface="Calibri"/>
                <a:sym typeface="Calibri"/>
              </a:rPr>
              <a:t>0.694</a:t>
            </a:r>
            <a:endParaRPr sz="1200" b="1">
              <a:solidFill>
                <a:srgbClr val="D645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크랙이 TTV를 일으킨다는 인과관계가 아니라, 동일 근본원인 공유 (척 평탄·휠 마모·테이프)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41"/>
          <p:cNvSpPr/>
          <p:nvPr/>
        </p:nvSpPr>
        <p:spPr>
          <a:xfrm>
            <a:off x="476053" y="4531111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chemeClr val="accent6"/>
              </a:highlight>
            </a:endParaRPr>
          </a:p>
        </p:txBody>
      </p:sp>
      <p:sp>
        <p:nvSpPr>
          <p:cNvPr id="470" name="Google Shape;470;p41"/>
          <p:cNvSpPr/>
          <p:nvPr/>
        </p:nvSpPr>
        <p:spPr>
          <a:xfrm>
            <a:off x="476053" y="4531111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41"/>
          <p:cNvSpPr/>
          <p:nvPr/>
        </p:nvSpPr>
        <p:spPr>
          <a:xfrm>
            <a:off x="596570" y="832598"/>
            <a:ext cx="288000" cy="2880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41"/>
          <p:cNvSpPr/>
          <p:nvPr/>
        </p:nvSpPr>
        <p:spPr>
          <a:xfrm>
            <a:off x="1008050" y="820065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lang="ko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상관관계 분석</a:t>
            </a:r>
            <a:endParaRPr b="1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1"/>
          <p:cNvSpPr/>
          <p:nvPr/>
        </p:nvSpPr>
        <p:spPr>
          <a:xfrm>
            <a:off x="596570" y="832598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2"/>
          <p:cNvSpPr/>
          <p:nvPr/>
        </p:nvSpPr>
        <p:spPr>
          <a:xfrm>
            <a:off x="198400" y="3624948"/>
            <a:ext cx="8906700" cy="1301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3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479" name="Google Shape;479;p42"/>
          <p:cNvSpPr/>
          <p:nvPr/>
        </p:nvSpPr>
        <p:spPr>
          <a:xfrm>
            <a:off x="118650" y="864325"/>
            <a:ext cx="8906700" cy="2472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3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480" name="Google Shape;480;p42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 i="0" u="none" strike="noStrike" cap="none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원인 - Rough Grinding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1" name="Google Shape;481;p42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2" name="Google Shape;482;p42"/>
          <p:cNvSpPr/>
          <p:nvPr/>
        </p:nvSpPr>
        <p:spPr>
          <a:xfrm>
            <a:off x="495689" y="1131553"/>
            <a:ext cx="2578200" cy="1851600"/>
          </a:xfrm>
          <a:prstGeom prst="roundRect">
            <a:avLst>
              <a:gd name="adj" fmla="val 3704"/>
            </a:avLst>
          </a:prstGeom>
          <a:solidFill>
            <a:srgbClr val="F6F8FA"/>
          </a:solidFill>
          <a:ln w="12700" cap="flat" cmpd="sng">
            <a:solidFill>
              <a:srgbClr val="E2E6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675" tIns="68675" rIns="68675" bIns="68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483" name="Google Shape;483;p42"/>
          <p:cNvSpPr/>
          <p:nvPr/>
        </p:nvSpPr>
        <p:spPr>
          <a:xfrm>
            <a:off x="715695" y="1351009"/>
            <a:ext cx="453900" cy="452700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spcFirstLastPara="1" wrap="square" lIns="68675" tIns="68675" rIns="68675" bIns="68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484" name="Google Shape;484;p42"/>
          <p:cNvSpPr/>
          <p:nvPr/>
        </p:nvSpPr>
        <p:spPr>
          <a:xfrm>
            <a:off x="715695" y="1351009"/>
            <a:ext cx="4539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Malgun Gothic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</a:rPr>
              <a:t>✓</a:t>
            </a:r>
            <a:endParaRPr sz="17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85" name="Google Shape;485;p42"/>
          <p:cNvSpPr/>
          <p:nvPr/>
        </p:nvSpPr>
        <p:spPr>
          <a:xfrm>
            <a:off x="1286337" y="1364725"/>
            <a:ext cx="16845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E5A"/>
              </a:buClr>
              <a:buSzPts val="800"/>
              <a:buFont typeface="Malgun Gothic"/>
              <a:buNone/>
            </a:pPr>
            <a:r>
              <a:rPr lang="ko" sz="800" b="1" i="0" u="none" strike="noStrike" cap="none">
                <a:solidFill>
                  <a:srgbClr val="1E8E5A"/>
                </a:solidFill>
              </a:rPr>
              <a:t>STEP 1</a:t>
            </a:r>
            <a:endParaRPr sz="8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86" name="Google Shape;486;p42"/>
          <p:cNvSpPr/>
          <p:nvPr/>
        </p:nvSpPr>
        <p:spPr>
          <a:xfrm>
            <a:off x="1286337" y="1515600"/>
            <a:ext cx="1650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100"/>
              <a:buFont typeface="Malgun Gothic"/>
              <a:buNone/>
            </a:pPr>
            <a:r>
              <a:rPr lang="ko" sz="1100" b="1" i="0" u="none" strike="noStrike" cap="none">
                <a:solidFill>
                  <a:srgbClr val="1F3A5F"/>
                </a:solidFill>
              </a:rPr>
              <a:t>스크래치는 이미 개선</a:t>
            </a:r>
            <a:endParaRPr sz="11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87" name="Google Shape;487;p42"/>
          <p:cNvSpPr/>
          <p:nvPr/>
        </p:nvSpPr>
        <p:spPr>
          <a:xfrm>
            <a:off x="729446" y="2023093"/>
            <a:ext cx="2131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24E"/>
              </a:buClr>
              <a:buSzPts val="900"/>
              <a:buFont typeface="Malgun Gothic"/>
              <a:buNone/>
            </a:pPr>
            <a:r>
              <a:rPr lang="ko" sz="900" i="0" u="none" strike="noStrike" cap="none">
                <a:solidFill>
                  <a:srgbClr val="3A424E"/>
                </a:solidFill>
              </a:rPr>
              <a:t>BG 후 스크래치 평균 2.93 → 1.24 감소.</a:t>
            </a:r>
            <a:endParaRPr sz="900" i="0" u="none" strike="noStrike" cap="none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24E"/>
              </a:buClr>
              <a:buSzPts val="900"/>
              <a:buFont typeface="Malgun Gothic"/>
              <a:buNone/>
            </a:pPr>
            <a:r>
              <a:rPr lang="ko" sz="900" i="0" u="none" strike="noStrike" cap="none">
                <a:solidFill>
                  <a:srgbClr val="3A424E"/>
                </a:solidFill>
              </a:rPr>
              <a:t>Fine Grinding 상태가 상대적으로</a:t>
            </a:r>
            <a:endParaRPr sz="900" i="0" u="none" strike="noStrike" cap="none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24E"/>
              </a:buClr>
              <a:buSzPts val="900"/>
              <a:buFont typeface="Malgun Gothic"/>
              <a:buNone/>
            </a:pPr>
            <a:r>
              <a:rPr lang="ko" sz="900" i="0" u="none" strike="noStrike" cap="none">
                <a:solidFill>
                  <a:srgbClr val="3A424E"/>
                </a:solidFill>
              </a:rPr>
              <a:t>안정적이라는 신호.</a:t>
            </a:r>
            <a:endParaRPr sz="9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88" name="Google Shape;488;p42"/>
          <p:cNvSpPr/>
          <p:nvPr/>
        </p:nvSpPr>
        <p:spPr>
          <a:xfrm>
            <a:off x="3362647" y="1131553"/>
            <a:ext cx="2578200" cy="1851600"/>
          </a:xfrm>
          <a:prstGeom prst="roundRect">
            <a:avLst>
              <a:gd name="adj" fmla="val 3704"/>
            </a:avLst>
          </a:prstGeom>
          <a:solidFill>
            <a:srgbClr val="F6F8FA"/>
          </a:solidFill>
          <a:ln w="12700" cap="flat" cmpd="sng">
            <a:solidFill>
              <a:srgbClr val="E2E6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675" tIns="68675" rIns="68675" bIns="68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489" name="Google Shape;489;p42"/>
          <p:cNvSpPr/>
          <p:nvPr/>
        </p:nvSpPr>
        <p:spPr>
          <a:xfrm>
            <a:off x="3582653" y="1351009"/>
            <a:ext cx="453900" cy="452700"/>
          </a:xfrm>
          <a:prstGeom prst="ellipse">
            <a:avLst/>
          </a:prstGeom>
          <a:solidFill>
            <a:srgbClr val="2F6FB5"/>
          </a:solidFill>
          <a:ln>
            <a:noFill/>
          </a:ln>
        </p:spPr>
        <p:txBody>
          <a:bodyPr spcFirstLastPara="1" wrap="square" lIns="68675" tIns="68675" rIns="68675" bIns="68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490" name="Google Shape;490;p42"/>
          <p:cNvSpPr/>
          <p:nvPr/>
        </p:nvSpPr>
        <p:spPr>
          <a:xfrm>
            <a:off x="3582653" y="1351009"/>
            <a:ext cx="4539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Malgun Gothic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</a:rPr>
              <a:t>▶</a:t>
            </a:r>
            <a:endParaRPr sz="17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91" name="Google Shape;491;p42"/>
          <p:cNvSpPr/>
          <p:nvPr/>
        </p:nvSpPr>
        <p:spPr>
          <a:xfrm>
            <a:off x="4153295" y="1364725"/>
            <a:ext cx="16845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FB5"/>
              </a:buClr>
              <a:buSzPts val="800"/>
              <a:buFont typeface="Malgun Gothic"/>
              <a:buNone/>
            </a:pPr>
            <a:r>
              <a:rPr lang="ko" sz="800" b="1" i="0" u="none" strike="noStrike" cap="none">
                <a:solidFill>
                  <a:srgbClr val="2F6FB5"/>
                </a:solidFill>
              </a:rPr>
              <a:t>STEP 2</a:t>
            </a:r>
            <a:endParaRPr sz="8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92" name="Google Shape;492;p42"/>
          <p:cNvSpPr/>
          <p:nvPr/>
        </p:nvSpPr>
        <p:spPr>
          <a:xfrm>
            <a:off x="4153295" y="1515600"/>
            <a:ext cx="1650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100"/>
              <a:buFont typeface="Malgun Gothic"/>
              <a:buNone/>
            </a:pPr>
            <a:r>
              <a:rPr lang="ko" sz="1100" b="1" i="0" u="none" strike="noStrike" cap="none">
                <a:solidFill>
                  <a:srgbClr val="1F3A5F"/>
                </a:solidFill>
              </a:rPr>
              <a:t>Rough Grinding 우선</a:t>
            </a:r>
            <a:endParaRPr sz="11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93" name="Google Shape;493;p42"/>
          <p:cNvSpPr/>
          <p:nvPr/>
        </p:nvSpPr>
        <p:spPr>
          <a:xfrm>
            <a:off x="3596404" y="2023093"/>
            <a:ext cx="2131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24E"/>
              </a:buClr>
              <a:buSzPts val="900"/>
              <a:buFont typeface="Malgun Gothic"/>
              <a:buNone/>
            </a:pPr>
            <a:r>
              <a:rPr lang="ko" sz="900" i="0" u="none" strike="noStrike" cap="none">
                <a:solidFill>
                  <a:srgbClr val="3A424E"/>
                </a:solidFill>
              </a:rPr>
              <a:t>Fine 개선 우선순위는 뒤로.</a:t>
            </a:r>
            <a:endParaRPr sz="900" i="0" u="none" strike="noStrike" cap="none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24E"/>
              </a:buClr>
              <a:buSzPts val="900"/>
              <a:buFont typeface="Malgun Gothic"/>
              <a:buNone/>
            </a:pPr>
            <a:r>
              <a:rPr lang="ko" sz="900" i="0" u="none" strike="noStrike" cap="none">
                <a:solidFill>
                  <a:srgbClr val="3A424E"/>
                </a:solidFill>
              </a:rPr>
              <a:t>남은 과제인 크랙 저감을 위해</a:t>
            </a:r>
            <a:endParaRPr sz="900" i="0" u="none" strike="noStrike" cap="none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24E"/>
              </a:buClr>
              <a:buSzPts val="900"/>
              <a:buFont typeface="Malgun Gothic"/>
              <a:buNone/>
            </a:pPr>
            <a:r>
              <a:rPr lang="ko" sz="900" i="0" u="none" strike="noStrike" cap="none">
                <a:solidFill>
                  <a:srgbClr val="3A424E"/>
                </a:solidFill>
              </a:rPr>
              <a:t>Rough 단계를 우선 개선.</a:t>
            </a:r>
            <a:endParaRPr sz="9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94" name="Google Shape;494;p42"/>
          <p:cNvSpPr/>
          <p:nvPr/>
        </p:nvSpPr>
        <p:spPr>
          <a:xfrm>
            <a:off x="6229605" y="1131553"/>
            <a:ext cx="2578200" cy="1851600"/>
          </a:xfrm>
          <a:prstGeom prst="roundRect">
            <a:avLst>
              <a:gd name="adj" fmla="val 3704"/>
            </a:avLst>
          </a:prstGeom>
          <a:solidFill>
            <a:srgbClr val="F6F8FA"/>
          </a:solidFill>
          <a:ln w="12700" cap="flat" cmpd="sng">
            <a:solidFill>
              <a:srgbClr val="E2E6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675" tIns="68675" rIns="68675" bIns="68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495" name="Google Shape;495;p42"/>
          <p:cNvSpPr/>
          <p:nvPr/>
        </p:nvSpPr>
        <p:spPr>
          <a:xfrm>
            <a:off x="6449612" y="1351009"/>
            <a:ext cx="453900" cy="4527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68675" tIns="68675" rIns="68675" bIns="68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496" name="Google Shape;496;p42"/>
          <p:cNvSpPr/>
          <p:nvPr/>
        </p:nvSpPr>
        <p:spPr>
          <a:xfrm>
            <a:off x="6449612" y="1351009"/>
            <a:ext cx="4539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Malgun Gothic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</a:rPr>
              <a:t>＝</a:t>
            </a:r>
            <a:endParaRPr sz="17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97" name="Google Shape;497;p42"/>
          <p:cNvSpPr/>
          <p:nvPr/>
        </p:nvSpPr>
        <p:spPr>
          <a:xfrm>
            <a:off x="7020253" y="1364725"/>
            <a:ext cx="16845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Malgun Gothic"/>
              <a:buNone/>
            </a:pPr>
            <a:r>
              <a:rPr lang="ko" sz="800" b="1" i="0" u="none" strike="noStrike" cap="none">
                <a:solidFill>
                  <a:srgbClr val="C0392B"/>
                </a:solidFill>
              </a:rPr>
              <a:t>STEP 3</a:t>
            </a:r>
            <a:endParaRPr sz="8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98" name="Google Shape;498;p42"/>
          <p:cNvSpPr/>
          <p:nvPr/>
        </p:nvSpPr>
        <p:spPr>
          <a:xfrm>
            <a:off x="7020253" y="1515600"/>
            <a:ext cx="1650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100"/>
              <a:buFont typeface="Malgun Gothic"/>
              <a:buNone/>
            </a:pPr>
            <a:r>
              <a:rPr lang="ko" sz="1100" b="1">
                <a:solidFill>
                  <a:srgbClr val="1F3A5F"/>
                </a:solidFill>
              </a:rPr>
              <a:t>Crack, </a:t>
            </a:r>
            <a:r>
              <a:rPr lang="ko" sz="1100" b="1" i="0" u="none" strike="noStrike" cap="none">
                <a:solidFill>
                  <a:srgbClr val="1F3A5F"/>
                </a:solidFill>
              </a:rPr>
              <a:t>TTV</a:t>
            </a:r>
            <a:endParaRPr sz="1100" b="1">
              <a:solidFill>
                <a:srgbClr val="1F3A5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100"/>
              <a:buFont typeface="Malgun Gothic"/>
              <a:buNone/>
            </a:pPr>
            <a:r>
              <a:rPr lang="ko" sz="1100" b="1" i="0" u="none" strike="noStrike" cap="none">
                <a:solidFill>
                  <a:srgbClr val="1F3A5F"/>
                </a:solidFill>
              </a:rPr>
              <a:t>동반 개선 기대</a:t>
            </a:r>
            <a:endParaRPr sz="11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99" name="Google Shape;499;p42"/>
          <p:cNvSpPr/>
          <p:nvPr/>
        </p:nvSpPr>
        <p:spPr>
          <a:xfrm>
            <a:off x="6346449" y="2023100"/>
            <a:ext cx="234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24E"/>
              </a:buClr>
              <a:buSzPts val="900"/>
              <a:buFont typeface="Malgun Gothic"/>
              <a:buNone/>
            </a:pPr>
            <a:r>
              <a:rPr lang="ko" sz="900" i="0" u="none" strike="noStrike" cap="none">
                <a:solidFill>
                  <a:srgbClr val="3A424E"/>
                </a:solidFill>
              </a:rPr>
              <a:t>Rough의 잔류응력이 크랙·TTV 공통 기점.</a:t>
            </a:r>
            <a:endParaRPr sz="900" i="0" u="none" strike="noStrike" cap="none">
              <a:solidFill>
                <a:srgbClr val="3A424E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24E"/>
              </a:buClr>
              <a:buSzPts val="900"/>
              <a:buFont typeface="Malgun Gothic"/>
              <a:buNone/>
            </a:pPr>
            <a:r>
              <a:rPr lang="ko" sz="900" i="0" u="none" strike="noStrike" cap="none">
                <a:solidFill>
                  <a:srgbClr val="3A424E"/>
                </a:solidFill>
              </a:rPr>
              <a:t>응력 저감 → 크랙·TTV 동시 개선.</a:t>
            </a:r>
            <a:endParaRPr sz="900" i="0" u="none" strike="noStrike" cap="none">
              <a:solidFill>
                <a:srgbClr val="3A424E"/>
              </a:solidFill>
            </a:endParaRPr>
          </a:p>
        </p:txBody>
      </p:sp>
      <p:sp>
        <p:nvSpPr>
          <p:cNvPr id="500" name="Google Shape;500;p42"/>
          <p:cNvSpPr/>
          <p:nvPr/>
        </p:nvSpPr>
        <p:spPr>
          <a:xfrm>
            <a:off x="736325" y="3624952"/>
            <a:ext cx="7700100" cy="10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Malgun Gothic"/>
              <a:buNone/>
            </a:pPr>
            <a:r>
              <a:rPr lang="ko" sz="1600" b="1" i="0" u="none" strike="noStrike" cap="none">
                <a:solidFill>
                  <a:srgbClr val="C0392B"/>
                </a:solidFill>
              </a:rPr>
              <a:t>결론</a:t>
            </a:r>
            <a:endParaRPr sz="1600" b="1" i="0" u="none" strike="noStrike" cap="none">
              <a:solidFill>
                <a:srgbClr val="C0392B"/>
              </a:solidFill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Malgun Gothic"/>
              <a:buNone/>
            </a:pPr>
            <a:r>
              <a:rPr lang="ko" sz="1200" i="0" u="none" strike="noStrike" cap="none">
                <a:solidFill>
                  <a:srgbClr val="2C3542"/>
                </a:solidFill>
              </a:rPr>
              <a:t>크랙·TTV를 줄이고 관리하는 방향으로 공정을 개선하되, 스크래치는 이미 개선된 만큼 Fine이 아닌 </a:t>
            </a:r>
            <a:r>
              <a:rPr lang="ko" sz="1200" b="1" i="0" u="none" strike="noStrike" cap="none">
                <a:solidFill>
                  <a:srgbClr val="C0392B"/>
                </a:solidFill>
              </a:rPr>
              <a:t>Rough Grinding 단계를 우선 개선</a:t>
            </a:r>
            <a:r>
              <a:rPr lang="ko" sz="1200" i="0" u="none" strike="noStrike" cap="none">
                <a:solidFill>
                  <a:srgbClr val="2C3542"/>
                </a:solidFill>
              </a:rPr>
              <a:t>한다.</a:t>
            </a:r>
            <a:endParaRPr sz="12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01" name="Google Shape;501;p42"/>
          <p:cNvSpPr/>
          <p:nvPr/>
        </p:nvSpPr>
        <p:spPr>
          <a:xfrm>
            <a:off x="3034154" y="1131553"/>
            <a:ext cx="2889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2BD"/>
              </a:buClr>
              <a:buSzPts val="1700"/>
              <a:buFont typeface="Malgun Gothic"/>
              <a:buNone/>
            </a:pPr>
            <a:r>
              <a:rPr lang="ko" sz="1700" b="1" i="0" u="none" strike="noStrike" cap="none">
                <a:solidFill>
                  <a:srgbClr val="AAB2BD"/>
                </a:solidFill>
              </a:rPr>
              <a:t>→</a:t>
            </a:r>
            <a:endParaRPr sz="17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02" name="Google Shape;502;p42"/>
          <p:cNvSpPr/>
          <p:nvPr/>
        </p:nvSpPr>
        <p:spPr>
          <a:xfrm>
            <a:off x="5901112" y="1131553"/>
            <a:ext cx="2889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2BD"/>
              </a:buClr>
              <a:buSzPts val="1700"/>
              <a:buFont typeface="Malgun Gothic"/>
              <a:buNone/>
            </a:pPr>
            <a:r>
              <a:rPr lang="ko" sz="1700" b="1" i="0" u="none" strike="noStrike" cap="none">
                <a:solidFill>
                  <a:srgbClr val="AAB2BD"/>
                </a:solidFill>
              </a:rPr>
              <a:t>→</a:t>
            </a:r>
            <a:endParaRPr sz="1700" i="0" u="none" strike="noStrike" cap="non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3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 i="0" u="none" strike="noStrike" cap="none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Rough Grinding 이상 원인 분석 (Fishbone Diagram)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43"/>
          <p:cNvSpPr/>
          <p:nvPr/>
        </p:nvSpPr>
        <p:spPr>
          <a:xfrm>
            <a:off x="7728785" y="2338225"/>
            <a:ext cx="1340700" cy="1062900"/>
          </a:xfrm>
          <a:prstGeom prst="roundRect">
            <a:avLst>
              <a:gd name="adj" fmla="val 5161"/>
            </a:avLst>
          </a:prstGeom>
          <a:solidFill>
            <a:srgbClr val="1B3A5E"/>
          </a:solidFill>
          <a:ln>
            <a:noFill/>
          </a:ln>
        </p:spPr>
        <p:txBody>
          <a:bodyPr spcFirstLastPara="1" wrap="square" lIns="68675" tIns="68675" rIns="68675" bIns="68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43"/>
          <p:cNvSpPr/>
          <p:nvPr/>
        </p:nvSpPr>
        <p:spPr>
          <a:xfrm>
            <a:off x="7728785" y="2338225"/>
            <a:ext cx="1340700" cy="10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lang="ko"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Rough Grinding</a:t>
            </a:r>
            <a:br>
              <a:rPr lang="ko"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이상 발생</a:t>
            </a:r>
            <a:br>
              <a:rPr lang="ko"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 b="0" i="0" u="none" strike="noStrike" cap="none">
                <a:solidFill>
                  <a:srgbClr val="D6DCE5"/>
                </a:solidFill>
                <a:latin typeface="Malgun Gothic"/>
                <a:ea typeface="Malgun Gothic"/>
                <a:cs typeface="Malgun Gothic"/>
                <a:sym typeface="Malgun Gothic"/>
              </a:rPr>
              <a:t>(Crack, Scratch)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1" name="Google Shape;511;p4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091" y="891187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64955" y="891187"/>
            <a:ext cx="274320" cy="2743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3" name="Google Shape;513;p43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4" name="Google Shape;514;p43"/>
          <p:cNvSpPr/>
          <p:nvPr/>
        </p:nvSpPr>
        <p:spPr>
          <a:xfrm>
            <a:off x="1334850" y="4464205"/>
            <a:ext cx="1684500" cy="534900"/>
          </a:xfrm>
          <a:prstGeom prst="roundRect">
            <a:avLst>
              <a:gd name="adj" fmla="val 11538"/>
            </a:avLst>
          </a:prstGeom>
          <a:solidFill>
            <a:srgbClr val="1B3A5E"/>
          </a:solidFill>
          <a:ln w="9525" cap="flat" cmpd="sng">
            <a:solidFill>
              <a:srgbClr val="1B3A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675" tIns="68675" rIns="68675" bIns="68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5" name="Google Shape;515;p4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58603" y="4594507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43"/>
          <p:cNvSpPr/>
          <p:nvPr/>
        </p:nvSpPr>
        <p:spPr>
          <a:xfrm>
            <a:off x="1712986" y="4464205"/>
            <a:ext cx="12720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lang="ko" sz="12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Material</a:t>
            </a:r>
            <a:br>
              <a:rPr lang="ko" sz="12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 b="0" i="0" u="none" strike="noStrike" cap="none">
                <a:solidFill>
                  <a:srgbClr val="D6DCE5"/>
                </a:solidFill>
                <a:latin typeface="Malgun Gothic"/>
                <a:ea typeface="Malgun Gothic"/>
                <a:cs typeface="Malgun Gothic"/>
                <a:sym typeface="Malgun Gothic"/>
              </a:rPr>
              <a:t>(자재)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43"/>
          <p:cNvSpPr/>
          <p:nvPr/>
        </p:nvSpPr>
        <p:spPr>
          <a:xfrm>
            <a:off x="4772450" y="4464205"/>
            <a:ext cx="1890600" cy="534900"/>
          </a:xfrm>
          <a:prstGeom prst="roundRect">
            <a:avLst>
              <a:gd name="adj" fmla="val 11538"/>
            </a:avLst>
          </a:prstGeom>
          <a:solidFill>
            <a:srgbClr val="1B3A5E"/>
          </a:solidFill>
          <a:ln w="9525" cap="flat" cmpd="sng">
            <a:solidFill>
              <a:srgbClr val="1B3A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675" tIns="68675" rIns="68675" bIns="68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8" name="Google Shape;518;p4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96203" y="4594507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43"/>
          <p:cNvSpPr/>
          <p:nvPr/>
        </p:nvSpPr>
        <p:spPr>
          <a:xfrm>
            <a:off x="5150585" y="4464205"/>
            <a:ext cx="14781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lang="ko" sz="12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Environment</a:t>
            </a:r>
            <a:br>
              <a:rPr lang="ko" sz="12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 b="0" i="0" u="none" strike="noStrike" cap="none">
                <a:solidFill>
                  <a:srgbClr val="D6DCE5"/>
                </a:solidFill>
                <a:latin typeface="Malgun Gothic"/>
                <a:ea typeface="Malgun Gothic"/>
                <a:cs typeface="Malgun Gothic"/>
                <a:sym typeface="Malgun Gothic"/>
              </a:rPr>
              <a:t>(환경)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0" name="Google Shape;520;p43"/>
          <p:cNvCxnSpPr/>
          <p:nvPr/>
        </p:nvCxnSpPr>
        <p:spPr>
          <a:xfrm rot="10800000" flipH="1">
            <a:off x="5597577" y="2873005"/>
            <a:ext cx="893700" cy="1591200"/>
          </a:xfrm>
          <a:prstGeom prst="straightConnector1">
            <a:avLst/>
          </a:prstGeom>
          <a:noFill/>
          <a:ln w="34925" cap="flat" cmpd="sng">
            <a:solidFill>
              <a:srgbClr val="1B3A5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1" name="Google Shape;521;p43"/>
          <p:cNvSpPr/>
          <p:nvPr/>
        </p:nvSpPr>
        <p:spPr>
          <a:xfrm>
            <a:off x="3927487" y="3462536"/>
            <a:ext cx="1718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1" i="0" u="none" strike="noStrike" cap="none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Particle 유입</a:t>
            </a:r>
            <a:endParaRPr sz="1000" b="0" i="0" u="none" strike="noStrike" cap="none">
              <a:solidFill>
                <a:srgbClr val="1B3A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2" name="Google Shape;522;p43"/>
          <p:cNvCxnSpPr/>
          <p:nvPr/>
        </p:nvCxnSpPr>
        <p:spPr>
          <a:xfrm>
            <a:off x="5680663" y="3651086"/>
            <a:ext cx="343800" cy="0"/>
          </a:xfrm>
          <a:prstGeom prst="straightConnector1">
            <a:avLst/>
          </a:prstGeom>
          <a:noFill/>
          <a:ln w="25400" cap="flat" cmpd="sng">
            <a:solidFill>
              <a:srgbClr val="1B3A5E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23" name="Google Shape;523;p43"/>
          <p:cNvSpPr/>
          <p:nvPr/>
        </p:nvSpPr>
        <p:spPr>
          <a:xfrm>
            <a:off x="4198752" y="2956542"/>
            <a:ext cx="1718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1" i="0" u="none" strike="noStrike" cap="none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진동 유입</a:t>
            </a:r>
            <a:endParaRPr sz="1000" b="0" i="0" u="none" strike="noStrike" cap="none">
              <a:solidFill>
                <a:srgbClr val="1B3A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4" name="Google Shape;524;p43"/>
          <p:cNvCxnSpPr/>
          <p:nvPr/>
        </p:nvCxnSpPr>
        <p:spPr>
          <a:xfrm>
            <a:off x="5951928" y="3145092"/>
            <a:ext cx="343800" cy="0"/>
          </a:xfrm>
          <a:prstGeom prst="straightConnector1">
            <a:avLst/>
          </a:prstGeom>
          <a:noFill/>
          <a:ln w="25400" cap="flat" cmpd="sng">
            <a:solidFill>
              <a:srgbClr val="1B3A5E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25" name="Google Shape;525;p43"/>
          <p:cNvCxnSpPr/>
          <p:nvPr/>
        </p:nvCxnSpPr>
        <p:spPr>
          <a:xfrm rot="10800000" flipH="1">
            <a:off x="1953826" y="2873005"/>
            <a:ext cx="893700" cy="1591200"/>
          </a:xfrm>
          <a:prstGeom prst="straightConnector1">
            <a:avLst/>
          </a:prstGeom>
          <a:noFill/>
          <a:ln w="34925" cap="flat" cmpd="sng">
            <a:solidFill>
              <a:srgbClr val="1B3A5E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26" name="Google Shape;526;p43"/>
          <p:cNvGrpSpPr/>
          <p:nvPr/>
        </p:nvGrpSpPr>
        <p:grpSpPr>
          <a:xfrm>
            <a:off x="-10275" y="2956542"/>
            <a:ext cx="2662251" cy="1389089"/>
            <a:chOff x="-73212" y="2847167"/>
            <a:chExt cx="2662251" cy="1389089"/>
          </a:xfrm>
        </p:grpSpPr>
        <p:sp>
          <p:nvSpPr>
            <p:cNvPr id="527" name="Google Shape;527;p43"/>
            <p:cNvSpPr/>
            <p:nvPr/>
          </p:nvSpPr>
          <p:spPr>
            <a:xfrm>
              <a:off x="-73212" y="3859156"/>
              <a:ext cx="17187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ko" sz="1000" b="1" i="0" u="none" strike="noStrike" cap="non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냉각수 품질 저하</a:t>
              </a:r>
              <a:endParaRPr sz="1000" b="0" i="0" u="none" strike="noStrike" cap="none">
                <a:solidFill>
                  <a:srgbClr val="1B3A5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28" name="Google Shape;528;p43"/>
            <p:cNvCxnSpPr/>
            <p:nvPr/>
          </p:nvCxnSpPr>
          <p:spPr>
            <a:xfrm>
              <a:off x="1679964" y="4047706"/>
              <a:ext cx="343800" cy="0"/>
            </a:xfrm>
            <a:prstGeom prst="straightConnector1">
              <a:avLst/>
            </a:prstGeom>
            <a:noFill/>
            <a:ln w="25400" cap="flat" cmpd="sng">
              <a:solidFill>
                <a:srgbClr val="1B3A5E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29" name="Google Shape;529;p43"/>
            <p:cNvSpPr/>
            <p:nvPr/>
          </p:nvSpPr>
          <p:spPr>
            <a:xfrm>
              <a:off x="220798" y="3353161"/>
              <a:ext cx="17187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ko" sz="1000" b="1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Wafer 자체 결함</a:t>
              </a:r>
              <a:endParaRPr sz="1000">
                <a:solidFill>
                  <a:srgbClr val="1B3A5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30" name="Google Shape;530;p43"/>
            <p:cNvCxnSpPr/>
            <p:nvPr/>
          </p:nvCxnSpPr>
          <p:spPr>
            <a:xfrm>
              <a:off x="1973974" y="3541711"/>
              <a:ext cx="343800" cy="0"/>
            </a:xfrm>
            <a:prstGeom prst="straightConnector1">
              <a:avLst/>
            </a:prstGeom>
            <a:noFill/>
            <a:ln w="25400" cap="flat" cmpd="sng">
              <a:solidFill>
                <a:srgbClr val="1B3A5E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31" name="Google Shape;531;p43"/>
            <p:cNvSpPr/>
            <p:nvPr/>
          </p:nvSpPr>
          <p:spPr>
            <a:xfrm>
              <a:off x="492063" y="2847167"/>
              <a:ext cx="17187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ko" sz="1000" b="1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BG Tape 이상</a:t>
              </a:r>
              <a:endParaRPr sz="1100">
                <a:solidFill>
                  <a:schemeClr val="dk1"/>
                </a:solidFill>
              </a:endParaRPr>
            </a:p>
          </p:txBody>
        </p:sp>
        <p:cxnSp>
          <p:nvCxnSpPr>
            <p:cNvPr id="532" name="Google Shape;532;p43"/>
            <p:cNvCxnSpPr/>
            <p:nvPr/>
          </p:nvCxnSpPr>
          <p:spPr>
            <a:xfrm>
              <a:off x="2245239" y="3035717"/>
              <a:ext cx="343800" cy="0"/>
            </a:xfrm>
            <a:prstGeom prst="straightConnector1">
              <a:avLst/>
            </a:prstGeom>
            <a:noFill/>
            <a:ln w="25400" cap="flat" cmpd="sng">
              <a:solidFill>
                <a:srgbClr val="1B3A5E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533" name="Google Shape;533;p43"/>
          <p:cNvGrpSpPr/>
          <p:nvPr/>
        </p:nvGrpSpPr>
        <p:grpSpPr>
          <a:xfrm>
            <a:off x="-79235" y="760885"/>
            <a:ext cx="7773708" cy="2126124"/>
            <a:chOff x="-142172" y="651510"/>
            <a:chExt cx="7773708" cy="2126124"/>
          </a:xfrm>
        </p:grpSpPr>
        <p:cxnSp>
          <p:nvCxnSpPr>
            <p:cNvPr id="534" name="Google Shape;534;p43"/>
            <p:cNvCxnSpPr/>
            <p:nvPr/>
          </p:nvCxnSpPr>
          <p:spPr>
            <a:xfrm>
              <a:off x="378136" y="2777490"/>
              <a:ext cx="7253400" cy="0"/>
            </a:xfrm>
            <a:prstGeom prst="straightConnector1">
              <a:avLst/>
            </a:prstGeom>
            <a:noFill/>
            <a:ln w="88900" cap="flat" cmpd="sng">
              <a:solidFill>
                <a:srgbClr val="1B3A5E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35" name="Google Shape;535;p43"/>
            <p:cNvSpPr/>
            <p:nvPr/>
          </p:nvSpPr>
          <p:spPr>
            <a:xfrm>
              <a:off x="859400" y="651510"/>
              <a:ext cx="1890600" cy="534900"/>
            </a:xfrm>
            <a:prstGeom prst="roundRect">
              <a:avLst>
                <a:gd name="adj" fmla="val 11538"/>
              </a:avLst>
            </a:prstGeom>
            <a:solidFill>
              <a:srgbClr val="1B3A5E"/>
            </a:solidFill>
            <a:ln>
              <a:noFill/>
            </a:ln>
          </p:spPr>
          <p:txBody>
            <a:bodyPr spcFirstLastPara="1" wrap="square" lIns="68675" tIns="68675" rIns="68675" bIns="68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36" name="Google Shape;536;p43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3153" y="781812"/>
              <a:ext cx="274320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43"/>
            <p:cNvSpPr/>
            <p:nvPr/>
          </p:nvSpPr>
          <p:spPr>
            <a:xfrm>
              <a:off x="1237536" y="651510"/>
              <a:ext cx="14781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675" tIns="34325" rIns="68675" bIns="343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algun Gothic"/>
                <a:buNone/>
              </a:pPr>
              <a:r>
                <a:rPr lang="ko" sz="12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Man / Method</a:t>
              </a:r>
              <a:br>
                <a:rPr lang="ko" sz="12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" sz="800" b="0" i="0" u="none" strike="noStrike" cap="none">
                  <a:solidFill>
                    <a:srgbClr val="D6DCE5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(작업·공정)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43"/>
            <p:cNvSpPr/>
            <p:nvPr/>
          </p:nvSpPr>
          <p:spPr>
            <a:xfrm>
              <a:off x="4778263" y="651510"/>
              <a:ext cx="1753200" cy="534900"/>
            </a:xfrm>
            <a:prstGeom prst="roundRect">
              <a:avLst>
                <a:gd name="adj" fmla="val 11538"/>
              </a:avLst>
            </a:prstGeom>
            <a:solidFill>
              <a:srgbClr val="1B3A5E"/>
            </a:solidFill>
            <a:ln>
              <a:noFill/>
            </a:ln>
          </p:spPr>
          <p:txBody>
            <a:bodyPr spcFirstLastPara="1" wrap="square" lIns="68675" tIns="68675" rIns="68675" bIns="68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39" name="Google Shape;539;p43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902017" y="781812"/>
              <a:ext cx="274320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43"/>
            <p:cNvSpPr/>
            <p:nvPr/>
          </p:nvSpPr>
          <p:spPr>
            <a:xfrm>
              <a:off x="5156399" y="651510"/>
              <a:ext cx="13407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675" tIns="34325" rIns="68675" bIns="343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algun Gothic"/>
                <a:buNone/>
              </a:pPr>
              <a:r>
                <a:rPr lang="ko" sz="12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Machine</a:t>
              </a:r>
              <a:br>
                <a:rPr lang="ko" sz="12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" sz="800" b="0" i="0" u="none" strike="noStrike" cap="none">
                  <a:solidFill>
                    <a:srgbClr val="D6DCE5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(장비)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41" name="Google Shape;541;p43"/>
            <p:cNvCxnSpPr/>
            <p:nvPr/>
          </p:nvCxnSpPr>
          <p:spPr>
            <a:xfrm>
              <a:off x="1821928" y="1186434"/>
              <a:ext cx="893700" cy="1591200"/>
            </a:xfrm>
            <a:prstGeom prst="straightConnector1">
              <a:avLst/>
            </a:prstGeom>
            <a:noFill/>
            <a:ln w="34925" cap="flat" cmpd="sng">
              <a:solidFill>
                <a:srgbClr val="1B3A5E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2" name="Google Shape;542;p43"/>
            <p:cNvCxnSpPr/>
            <p:nvPr/>
          </p:nvCxnSpPr>
          <p:spPr>
            <a:xfrm>
              <a:off x="5672039" y="1186434"/>
              <a:ext cx="893700" cy="1591200"/>
            </a:xfrm>
            <a:prstGeom prst="straightConnector1">
              <a:avLst/>
            </a:prstGeom>
            <a:noFill/>
            <a:ln w="34925" cap="flat" cmpd="sng">
              <a:solidFill>
                <a:srgbClr val="1B3A5E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43" name="Google Shape;543;p43"/>
            <p:cNvSpPr/>
            <p:nvPr/>
          </p:nvSpPr>
          <p:spPr>
            <a:xfrm>
              <a:off x="-142172" y="1305008"/>
              <a:ext cx="17187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3A5E"/>
                </a:buClr>
                <a:buSzPts val="1000"/>
                <a:buFont typeface="Malgun Gothic"/>
                <a:buNone/>
              </a:pPr>
              <a:r>
                <a:rPr lang="ko" sz="1000" b="1" i="0" u="none" strike="noStrike" cap="non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연삭 조건 과다</a:t>
              </a:r>
              <a:br>
                <a:rPr lang="ko" sz="1000" b="1" i="0" u="none" strike="noStrike" cap="non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" sz="800" b="0" i="0" u="none" strike="noStrike" cap="none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(Feed Rate, 연삭량, 압력 과다)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44" name="Google Shape;544;p43"/>
            <p:cNvCxnSpPr/>
            <p:nvPr/>
          </p:nvCxnSpPr>
          <p:spPr>
            <a:xfrm>
              <a:off x="1611004" y="1493558"/>
              <a:ext cx="343800" cy="0"/>
            </a:xfrm>
            <a:prstGeom prst="straightConnector1">
              <a:avLst/>
            </a:prstGeom>
            <a:noFill/>
            <a:ln w="25400" cap="flat" cmpd="sng">
              <a:solidFill>
                <a:srgbClr val="1B3A5E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45" name="Google Shape;545;p43"/>
            <p:cNvSpPr/>
            <p:nvPr/>
          </p:nvSpPr>
          <p:spPr>
            <a:xfrm>
              <a:off x="151838" y="1811002"/>
              <a:ext cx="17187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3A5E"/>
                </a:buClr>
                <a:buSzPts val="1000"/>
                <a:buFont typeface="Malgun Gothic"/>
                <a:buNone/>
              </a:pPr>
              <a:r>
                <a:rPr lang="ko" sz="1000" b="1" i="0" u="none" strike="noStrike" cap="non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Recipe </a:t>
              </a:r>
              <a:r>
                <a:rPr lang="ko" sz="1000" b="1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적용 </a:t>
              </a:r>
              <a:r>
                <a:rPr lang="ko" sz="1000" b="1" i="0" u="none" strike="noStrike" cap="non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미흡</a:t>
              </a:r>
              <a:br>
                <a:rPr lang="ko" sz="1000" b="1" i="0" u="none" strike="noStrike" cap="non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" sz="800" b="0" i="0" u="none" strike="noStrike" cap="none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(Grinding, 냉각, 세정, </a:t>
              </a:r>
              <a:r>
                <a:rPr lang="ko" sz="800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압력</a:t>
              </a:r>
              <a:r>
                <a:rPr lang="ko" sz="800" b="0" i="0" u="none" strike="noStrike" cap="none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)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46" name="Google Shape;546;p43"/>
            <p:cNvCxnSpPr/>
            <p:nvPr/>
          </p:nvCxnSpPr>
          <p:spPr>
            <a:xfrm>
              <a:off x="1905014" y="1999552"/>
              <a:ext cx="343800" cy="0"/>
            </a:xfrm>
            <a:prstGeom prst="straightConnector1">
              <a:avLst/>
            </a:prstGeom>
            <a:noFill/>
            <a:ln w="25400" cap="flat" cmpd="sng">
              <a:solidFill>
                <a:srgbClr val="1B3A5E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47" name="Google Shape;547;p43"/>
            <p:cNvSpPr/>
            <p:nvPr/>
          </p:nvSpPr>
          <p:spPr>
            <a:xfrm>
              <a:off x="423103" y="2316997"/>
              <a:ext cx="17187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3A5E"/>
                </a:buClr>
                <a:buSzPts val="1000"/>
                <a:buFont typeface="Malgun Gothic"/>
                <a:buNone/>
              </a:pPr>
              <a:r>
                <a:rPr lang="ko" sz="1000" b="1" i="0" u="none" strike="noStrike" cap="non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작업 관리 미흡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48" name="Google Shape;548;p43"/>
            <p:cNvCxnSpPr/>
            <p:nvPr/>
          </p:nvCxnSpPr>
          <p:spPr>
            <a:xfrm>
              <a:off x="2176279" y="2505547"/>
              <a:ext cx="343800" cy="0"/>
            </a:xfrm>
            <a:prstGeom prst="straightConnector1">
              <a:avLst/>
            </a:prstGeom>
            <a:noFill/>
            <a:ln w="25400" cap="flat" cmpd="sng">
              <a:solidFill>
                <a:srgbClr val="1B3A5E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49" name="Google Shape;549;p43"/>
            <p:cNvSpPr/>
            <p:nvPr/>
          </p:nvSpPr>
          <p:spPr>
            <a:xfrm>
              <a:off x="3719732" y="1305008"/>
              <a:ext cx="17187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3A5E"/>
                </a:buClr>
                <a:buSzPts val="1000"/>
                <a:buFont typeface="Malgun Gothic"/>
                <a:buNone/>
              </a:pPr>
              <a:r>
                <a:rPr lang="ko" sz="1000" b="1" i="0" u="none" strike="noStrike" cap="non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Grinding Wheel 이상</a:t>
              </a:r>
              <a:br>
                <a:rPr lang="ko" sz="1000" b="1" i="0" u="none" strike="noStrike" cap="non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" sz="800" b="0" i="0" u="none" strike="noStrike" cap="none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(Wheel </a:t>
              </a:r>
              <a:r>
                <a:rPr lang="ko" sz="800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메쉬 크기,</a:t>
              </a:r>
              <a:r>
                <a:rPr lang="ko" sz="800" b="0" i="0" u="none" strike="noStrike" cap="none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마모, 오염)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50" name="Google Shape;550;p43"/>
            <p:cNvCxnSpPr/>
            <p:nvPr/>
          </p:nvCxnSpPr>
          <p:spPr>
            <a:xfrm>
              <a:off x="5472908" y="1493558"/>
              <a:ext cx="343800" cy="0"/>
            </a:xfrm>
            <a:prstGeom prst="straightConnector1">
              <a:avLst/>
            </a:prstGeom>
            <a:noFill/>
            <a:ln w="25400" cap="flat" cmpd="sng">
              <a:solidFill>
                <a:srgbClr val="1B3A5E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51" name="Google Shape;551;p43"/>
            <p:cNvSpPr/>
            <p:nvPr/>
          </p:nvSpPr>
          <p:spPr>
            <a:xfrm>
              <a:off x="4002344" y="1811002"/>
              <a:ext cx="17187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3A5E"/>
                </a:buClr>
                <a:buSzPts val="1000"/>
                <a:buFont typeface="Malgun Gothic"/>
                <a:buNone/>
              </a:pPr>
              <a:r>
                <a:rPr lang="ko" sz="1000" b="1" i="0" u="none" strike="noStrike" cap="non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Wafer Chuck 이상</a:t>
              </a:r>
              <a:br>
                <a:rPr lang="ko" sz="1000" b="1" i="0" u="none" strike="noStrike" cap="non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" sz="800" b="0" i="0" u="none" strike="noStrike" cap="none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" sz="800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회전 속도 이상, </a:t>
              </a:r>
              <a:r>
                <a:rPr lang="ko" sz="800" b="0" i="0" u="none" strike="noStrike" cap="none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평탄도 불량)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52" name="Google Shape;552;p43"/>
            <p:cNvCxnSpPr/>
            <p:nvPr/>
          </p:nvCxnSpPr>
          <p:spPr>
            <a:xfrm>
              <a:off x="5755519" y="1999552"/>
              <a:ext cx="343800" cy="0"/>
            </a:xfrm>
            <a:prstGeom prst="straightConnector1">
              <a:avLst/>
            </a:prstGeom>
            <a:noFill/>
            <a:ln w="25400" cap="flat" cmpd="sng">
              <a:solidFill>
                <a:srgbClr val="1B3A5E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53" name="Google Shape;553;p43"/>
            <p:cNvSpPr/>
            <p:nvPr/>
          </p:nvSpPr>
          <p:spPr>
            <a:xfrm>
              <a:off x="4104149" y="2316997"/>
              <a:ext cx="18906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3A5E"/>
                </a:buClr>
                <a:buSzPts val="1000"/>
                <a:buFont typeface="Malgun Gothic"/>
                <a:buNone/>
              </a:pPr>
              <a:r>
                <a:rPr lang="ko" sz="1000" b="1" i="0" u="none" strike="noStrike" cap="non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센서 정밀도 · Calibration 이상</a:t>
              </a:r>
              <a:br>
                <a:rPr lang="ko" sz="1000" b="1" i="0" u="none" strike="noStrike" cap="non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" sz="800" b="0" i="0" u="none" strike="noStrike" cap="none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(인라인 게이지, 냉</a:t>
              </a:r>
              <a:r>
                <a:rPr lang="ko" sz="800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각</a:t>
              </a:r>
              <a:r>
                <a:rPr lang="ko" sz="800" b="0" i="0" u="none" strike="noStrike" cap="none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계)</a:t>
              </a:r>
              <a:endParaRPr sz="1000" b="1" i="0" u="none" strike="noStrike" cap="none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554" name="Google Shape;554;p43"/>
            <p:cNvCxnSpPr/>
            <p:nvPr/>
          </p:nvCxnSpPr>
          <p:spPr>
            <a:xfrm>
              <a:off x="6029333" y="2505547"/>
              <a:ext cx="343800" cy="0"/>
            </a:xfrm>
            <a:prstGeom prst="straightConnector1">
              <a:avLst/>
            </a:prstGeom>
            <a:noFill/>
            <a:ln w="25400" cap="flat" cmpd="sng">
              <a:solidFill>
                <a:srgbClr val="1B3A5E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555" name="Google Shape;555;p43"/>
          <p:cNvSpPr/>
          <p:nvPr/>
        </p:nvSpPr>
        <p:spPr>
          <a:xfrm>
            <a:off x="3653347" y="3963374"/>
            <a:ext cx="1718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공정 중 열 변형</a:t>
            </a:r>
            <a:endParaRPr sz="1000" b="1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56" name="Google Shape;556;p43"/>
          <p:cNvCxnSpPr/>
          <p:nvPr/>
        </p:nvCxnSpPr>
        <p:spPr>
          <a:xfrm>
            <a:off x="5406523" y="4151924"/>
            <a:ext cx="343800" cy="0"/>
          </a:xfrm>
          <a:prstGeom prst="straightConnector1">
            <a:avLst/>
          </a:prstGeom>
          <a:noFill/>
          <a:ln w="25400" cap="flat" cmpd="sng">
            <a:solidFill>
              <a:srgbClr val="1B3A5E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57" name="Google Shape;557;p43"/>
          <p:cNvSpPr/>
          <p:nvPr/>
        </p:nvSpPr>
        <p:spPr>
          <a:xfrm>
            <a:off x="4198763" y="1848475"/>
            <a:ext cx="2097000" cy="480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43"/>
          <p:cNvSpPr/>
          <p:nvPr/>
        </p:nvSpPr>
        <p:spPr>
          <a:xfrm>
            <a:off x="62938" y="1361375"/>
            <a:ext cx="2097000" cy="480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43"/>
          <p:cNvSpPr/>
          <p:nvPr/>
        </p:nvSpPr>
        <p:spPr>
          <a:xfrm>
            <a:off x="272363" y="1848463"/>
            <a:ext cx="2097000" cy="480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43"/>
          <p:cNvSpPr/>
          <p:nvPr/>
        </p:nvSpPr>
        <p:spPr>
          <a:xfrm>
            <a:off x="4274963" y="2332610"/>
            <a:ext cx="2249400" cy="480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4"/>
          <p:cNvSpPr/>
          <p:nvPr/>
        </p:nvSpPr>
        <p:spPr>
          <a:xfrm>
            <a:off x="118650" y="646792"/>
            <a:ext cx="8906700" cy="44673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44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원인 분석 - Rough Grinding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7" name="Google Shape;567;p44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68" name="Google Shape;568;p44"/>
          <p:cNvGraphicFramePr/>
          <p:nvPr/>
        </p:nvGraphicFramePr>
        <p:xfrm>
          <a:off x="370725" y="6993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{88C05641-6689-463D-B8B3-EEC80B338015}</a:tableStyleId>
              </a:tblPr>
              <a:tblGrid>
                <a:gridCol w="840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0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rgbClr val="1B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E"/>
                        </a:buClr>
                        <a:buSzPts val="1100"/>
                        <a:buFont typeface="Calibri"/>
                        <a:buNone/>
                      </a:pPr>
                      <a:r>
                        <a:rPr lang="ko" b="1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◆ Rough Grinding 시 연삭 조건 과다</a:t>
                      </a:r>
                      <a:endParaRPr b="1">
                        <a:solidFill>
                          <a:srgbClr val="1A1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457200" lvl="0" indent="-3175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E"/>
                        </a:buClr>
                        <a:buSzPts val="1400"/>
                        <a:buFont typeface="Calibri"/>
                        <a:buChar char="-"/>
                      </a:pPr>
                      <a:r>
                        <a:rPr lang="ko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Rough Grinding 과도한 Feed Rate와 압력</a:t>
                      </a:r>
                      <a:endParaRPr>
                        <a:solidFill>
                          <a:srgbClr val="1A1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1A1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b="1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◆ Wafer Chuck 이상</a:t>
                      </a:r>
                      <a:endParaRPr b="1">
                        <a:solidFill>
                          <a:srgbClr val="1A1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457200" lvl="0" indent="-3175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E"/>
                        </a:buClr>
                        <a:buSzPts val="1400"/>
                        <a:buFont typeface="Calibri"/>
                        <a:buChar char="-"/>
                      </a:pPr>
                      <a:r>
                        <a:rPr lang="ko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이물질 점검, Chuck 평탄도 점검</a:t>
                      </a:r>
                      <a:endParaRPr>
                        <a:solidFill>
                          <a:srgbClr val="1A1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1A1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b="1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◆ Recipe 적용 미흡</a:t>
                      </a:r>
                      <a:endParaRPr b="1">
                        <a:solidFill>
                          <a:srgbClr val="1A1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457200" lvl="0" indent="-3175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E"/>
                        </a:buClr>
                        <a:buSzPts val="1400"/>
                        <a:buFont typeface="Calibri"/>
                        <a:buChar char="-"/>
                      </a:pPr>
                      <a:r>
                        <a:rPr lang="ko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Recipe 설정값 대비 장비 Actual 값 편차 </a:t>
                      </a:r>
                      <a:endParaRPr>
                        <a:solidFill>
                          <a:srgbClr val="1A1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4572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(Grinding, 냉각, 세정, 압력)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b="1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◆ 센서 정밀도 · Calibration 이상</a:t>
                      </a:r>
                      <a:endParaRPr b="1">
                        <a:solidFill>
                          <a:srgbClr val="1A1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457200" lvl="0" indent="-3175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E"/>
                        </a:buClr>
                        <a:buSzPts val="1400"/>
                        <a:buFont typeface="Calibri"/>
                        <a:buChar char="-"/>
                      </a:pPr>
                      <a:r>
                        <a:rPr lang="ko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냉각계 온도 센서, 압력 센서, In-line 두께 계측기</a:t>
                      </a:r>
                      <a:endParaRPr>
                        <a:solidFill>
                          <a:srgbClr val="1A1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1A1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5"/>
          <p:cNvSpPr/>
          <p:nvPr/>
        </p:nvSpPr>
        <p:spPr>
          <a:xfrm>
            <a:off x="414337" y="257175"/>
            <a:ext cx="2571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2C79B7"/>
                </a:solidFill>
              </a:rPr>
              <a:t>BG 원인 분석</a:t>
            </a:r>
            <a:endParaRPr sz="1100"/>
          </a:p>
        </p:txBody>
      </p:sp>
      <p:sp>
        <p:nvSpPr>
          <p:cNvPr id="575" name="Google Shape;575;p45"/>
          <p:cNvSpPr/>
          <p:nvPr/>
        </p:nvSpPr>
        <p:spPr>
          <a:xfrm>
            <a:off x="414338" y="542925"/>
            <a:ext cx="75009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900" b="1">
                <a:solidFill>
                  <a:srgbClr val="173657"/>
                </a:solidFill>
              </a:rPr>
              <a:t>Fishbone 후보 중 4개 원인을 실행 대상으로 선정한다</a:t>
            </a:r>
            <a:endParaRPr sz="1100"/>
          </a:p>
        </p:txBody>
      </p:sp>
      <p:sp>
        <p:nvSpPr>
          <p:cNvPr id="576" name="Google Shape;576;p45"/>
          <p:cNvSpPr/>
          <p:nvPr/>
        </p:nvSpPr>
        <p:spPr>
          <a:xfrm>
            <a:off x="414338" y="914400"/>
            <a:ext cx="78581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687481"/>
                </a:solidFill>
              </a:rPr>
              <a:t>확정 원인이 아니라, 데이터·메커니즘·검증 가능성을 기준으로 우선 검증할 원인을 고른다.</a:t>
            </a:r>
            <a:endParaRPr sz="1100"/>
          </a:p>
        </p:txBody>
      </p:sp>
      <p:sp>
        <p:nvSpPr>
          <p:cNvPr id="577" name="Google Shape;577;p45"/>
          <p:cNvSpPr/>
          <p:nvPr/>
        </p:nvSpPr>
        <p:spPr>
          <a:xfrm>
            <a:off x="8572500" y="300038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B9C9D8"/>
                </a:solidFill>
              </a:rPr>
              <a:t>15R</a:t>
            </a:r>
            <a:endParaRPr sz="1100"/>
          </a:p>
        </p:txBody>
      </p:sp>
      <p:sp>
        <p:nvSpPr>
          <p:cNvPr id="578" name="Google Shape;578;p45"/>
          <p:cNvSpPr/>
          <p:nvPr/>
        </p:nvSpPr>
        <p:spPr>
          <a:xfrm>
            <a:off x="614363" y="1543050"/>
            <a:ext cx="1785937" cy="1785938"/>
          </a:xfrm>
          <a:prstGeom prst="roundRect">
            <a:avLst>
              <a:gd name="adj" fmla="val 3200"/>
            </a:avLst>
          </a:prstGeom>
          <a:solidFill>
            <a:srgbClr val="F4F7FA"/>
          </a:solidFill>
          <a:ln w="9525" cap="flat" cmpd="sng">
            <a:solidFill>
              <a:srgbClr val="B313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45"/>
          <p:cNvSpPr/>
          <p:nvPr/>
        </p:nvSpPr>
        <p:spPr>
          <a:xfrm>
            <a:off x="771525" y="1700213"/>
            <a:ext cx="3429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B3132E"/>
                </a:solidFill>
              </a:rPr>
              <a:t>01</a:t>
            </a:r>
            <a:endParaRPr sz="1100"/>
          </a:p>
        </p:txBody>
      </p:sp>
      <p:sp>
        <p:nvSpPr>
          <p:cNvPr id="580" name="Google Shape;580;p45"/>
          <p:cNvSpPr/>
          <p:nvPr/>
        </p:nvSpPr>
        <p:spPr>
          <a:xfrm>
            <a:off x="785813" y="2057400"/>
            <a:ext cx="1443038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rgbClr val="173657"/>
                </a:solidFill>
              </a:rPr>
              <a:t>Rough Grinding 조건</a:t>
            </a:r>
            <a:endParaRPr sz="1100"/>
          </a:p>
        </p:txBody>
      </p:sp>
      <p:sp>
        <p:nvSpPr>
          <p:cNvPr id="581" name="Google Shape;581;p45"/>
          <p:cNvSpPr/>
          <p:nvPr/>
        </p:nvSpPr>
        <p:spPr>
          <a:xfrm>
            <a:off x="800100" y="2457450"/>
            <a:ext cx="141446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Feed Rate·RPM·가공압력 과다/불균일</a:t>
            </a:r>
            <a:endParaRPr sz="1100"/>
          </a:p>
        </p:txBody>
      </p:sp>
      <p:sp>
        <p:nvSpPr>
          <p:cNvPr id="582" name="Google Shape;582;p45"/>
          <p:cNvSpPr/>
          <p:nvPr/>
        </p:nvSpPr>
        <p:spPr>
          <a:xfrm>
            <a:off x="885825" y="2928938"/>
            <a:ext cx="1243013" cy="228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 cap="flat" cmpd="sng">
            <a:solidFill>
              <a:srgbClr val="B313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45"/>
          <p:cNvSpPr/>
          <p:nvPr/>
        </p:nvSpPr>
        <p:spPr>
          <a:xfrm>
            <a:off x="942975" y="2993231"/>
            <a:ext cx="1128713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B3132E"/>
                </a:solidFill>
              </a:rPr>
              <a:t>영향: Crack, TTV</a:t>
            </a:r>
            <a:endParaRPr sz="1100"/>
          </a:p>
        </p:txBody>
      </p:sp>
      <p:sp>
        <p:nvSpPr>
          <p:cNvPr id="584" name="Google Shape;584;p45"/>
          <p:cNvSpPr/>
          <p:nvPr/>
        </p:nvSpPr>
        <p:spPr>
          <a:xfrm>
            <a:off x="2657475" y="1543050"/>
            <a:ext cx="1785938" cy="1785938"/>
          </a:xfrm>
          <a:prstGeom prst="roundRect">
            <a:avLst>
              <a:gd name="adj" fmla="val 3200"/>
            </a:avLst>
          </a:prstGeom>
          <a:solidFill>
            <a:srgbClr val="F4F7FA"/>
          </a:solidFill>
          <a:ln w="9525" cap="flat" cmpd="sng">
            <a:solidFill>
              <a:srgbClr val="16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45"/>
          <p:cNvSpPr/>
          <p:nvPr/>
        </p:nvSpPr>
        <p:spPr>
          <a:xfrm>
            <a:off x="2814638" y="1700213"/>
            <a:ext cx="3429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16BFA0"/>
                </a:solidFill>
              </a:rPr>
              <a:t>02</a:t>
            </a:r>
            <a:endParaRPr sz="1100"/>
          </a:p>
        </p:txBody>
      </p:sp>
      <p:sp>
        <p:nvSpPr>
          <p:cNvPr id="586" name="Google Shape;586;p45"/>
          <p:cNvSpPr/>
          <p:nvPr/>
        </p:nvSpPr>
        <p:spPr>
          <a:xfrm>
            <a:off x="2828925" y="2057400"/>
            <a:ext cx="1443038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rgbClr val="173657"/>
                </a:solidFill>
              </a:rPr>
              <a:t>Wafer Chuck 상태</a:t>
            </a:r>
            <a:endParaRPr sz="1100"/>
          </a:p>
        </p:txBody>
      </p:sp>
      <p:sp>
        <p:nvSpPr>
          <p:cNvPr id="587" name="Google Shape;587;p45"/>
          <p:cNvSpPr/>
          <p:nvPr/>
        </p:nvSpPr>
        <p:spPr>
          <a:xfrm>
            <a:off x="2843213" y="2457450"/>
            <a:ext cx="141446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이물, 평탄도, Vacuum 이상</a:t>
            </a:r>
            <a:endParaRPr sz="1100"/>
          </a:p>
        </p:txBody>
      </p:sp>
      <p:sp>
        <p:nvSpPr>
          <p:cNvPr id="588" name="Google Shape;588;p45"/>
          <p:cNvSpPr/>
          <p:nvPr/>
        </p:nvSpPr>
        <p:spPr>
          <a:xfrm>
            <a:off x="2928938" y="2928938"/>
            <a:ext cx="1243013" cy="228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 cap="flat" cmpd="sng">
            <a:solidFill>
              <a:srgbClr val="16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45"/>
          <p:cNvSpPr/>
          <p:nvPr/>
        </p:nvSpPr>
        <p:spPr>
          <a:xfrm>
            <a:off x="2986088" y="2993231"/>
            <a:ext cx="1128713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16BFA0"/>
                </a:solidFill>
              </a:rPr>
              <a:t>영향: TTV, Scratch</a:t>
            </a:r>
            <a:endParaRPr sz="1100"/>
          </a:p>
        </p:txBody>
      </p:sp>
      <p:sp>
        <p:nvSpPr>
          <p:cNvPr id="590" name="Google Shape;590;p45"/>
          <p:cNvSpPr/>
          <p:nvPr/>
        </p:nvSpPr>
        <p:spPr>
          <a:xfrm>
            <a:off x="4700588" y="1543050"/>
            <a:ext cx="1785938" cy="1785938"/>
          </a:xfrm>
          <a:prstGeom prst="roundRect">
            <a:avLst>
              <a:gd name="adj" fmla="val 3200"/>
            </a:avLst>
          </a:prstGeom>
          <a:solidFill>
            <a:srgbClr val="F4F7FA"/>
          </a:solidFill>
          <a:ln w="9525" cap="flat" cmpd="sng">
            <a:solidFill>
              <a:srgbClr val="F2A5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45"/>
          <p:cNvSpPr/>
          <p:nvPr/>
        </p:nvSpPr>
        <p:spPr>
          <a:xfrm>
            <a:off x="4857750" y="1700213"/>
            <a:ext cx="3429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F2A51A"/>
                </a:solidFill>
              </a:rPr>
              <a:t>03</a:t>
            </a:r>
            <a:endParaRPr sz="1100"/>
          </a:p>
        </p:txBody>
      </p:sp>
      <p:sp>
        <p:nvSpPr>
          <p:cNvPr id="592" name="Google Shape;592;p45"/>
          <p:cNvSpPr/>
          <p:nvPr/>
        </p:nvSpPr>
        <p:spPr>
          <a:xfrm>
            <a:off x="4872038" y="2057400"/>
            <a:ext cx="1443038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rgbClr val="173657"/>
                </a:solidFill>
              </a:rPr>
              <a:t>Set-Actual 편차</a:t>
            </a:r>
            <a:endParaRPr sz="1100"/>
          </a:p>
        </p:txBody>
      </p:sp>
      <p:sp>
        <p:nvSpPr>
          <p:cNvPr id="593" name="Google Shape;593;p45"/>
          <p:cNvSpPr/>
          <p:nvPr/>
        </p:nvSpPr>
        <p:spPr>
          <a:xfrm>
            <a:off x="4886325" y="2457450"/>
            <a:ext cx="141446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Recipe Set과 장비 Actual 불일치</a:t>
            </a:r>
            <a:endParaRPr sz="1100"/>
          </a:p>
        </p:txBody>
      </p:sp>
      <p:sp>
        <p:nvSpPr>
          <p:cNvPr id="594" name="Google Shape;594;p45"/>
          <p:cNvSpPr/>
          <p:nvPr/>
        </p:nvSpPr>
        <p:spPr>
          <a:xfrm>
            <a:off x="4972050" y="2928938"/>
            <a:ext cx="1243013" cy="228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 cap="flat" cmpd="sng">
            <a:solidFill>
              <a:srgbClr val="F2A5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45"/>
          <p:cNvSpPr/>
          <p:nvPr/>
        </p:nvSpPr>
        <p:spPr>
          <a:xfrm>
            <a:off x="5029200" y="2993231"/>
            <a:ext cx="1128713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F2A51A"/>
                </a:solidFill>
              </a:rPr>
              <a:t>영향: Crack, TTV</a:t>
            </a:r>
            <a:endParaRPr sz="1100"/>
          </a:p>
        </p:txBody>
      </p:sp>
      <p:sp>
        <p:nvSpPr>
          <p:cNvPr id="596" name="Google Shape;596;p45"/>
          <p:cNvSpPr/>
          <p:nvPr/>
        </p:nvSpPr>
        <p:spPr>
          <a:xfrm>
            <a:off x="6743700" y="1543050"/>
            <a:ext cx="1785938" cy="1785938"/>
          </a:xfrm>
          <a:prstGeom prst="roundRect">
            <a:avLst>
              <a:gd name="adj" fmla="val 3200"/>
            </a:avLst>
          </a:prstGeom>
          <a:solidFill>
            <a:srgbClr val="F4F7FA"/>
          </a:solidFill>
          <a:ln w="9525" cap="flat" cmpd="sng">
            <a:solidFill>
              <a:srgbClr val="2C79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45"/>
          <p:cNvSpPr/>
          <p:nvPr/>
        </p:nvSpPr>
        <p:spPr>
          <a:xfrm>
            <a:off x="6900863" y="1700213"/>
            <a:ext cx="3429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2C79B7"/>
                </a:solidFill>
              </a:rPr>
              <a:t>04</a:t>
            </a:r>
            <a:endParaRPr sz="1100"/>
          </a:p>
        </p:txBody>
      </p:sp>
      <p:sp>
        <p:nvSpPr>
          <p:cNvPr id="598" name="Google Shape;598;p45"/>
          <p:cNvSpPr/>
          <p:nvPr/>
        </p:nvSpPr>
        <p:spPr>
          <a:xfrm>
            <a:off x="6915150" y="2057400"/>
            <a:ext cx="1443038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rgbClr val="173657"/>
                </a:solidFill>
              </a:rPr>
              <a:t>Sensor Calibration</a:t>
            </a:r>
            <a:endParaRPr sz="1100"/>
          </a:p>
        </p:txBody>
      </p:sp>
      <p:sp>
        <p:nvSpPr>
          <p:cNvPr id="599" name="Google Shape;599;p45"/>
          <p:cNvSpPr/>
          <p:nvPr/>
        </p:nvSpPr>
        <p:spPr>
          <a:xfrm>
            <a:off x="6929438" y="2457450"/>
            <a:ext cx="141446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측정 Drift 또는 계측 신뢰성 저하</a:t>
            </a:r>
            <a:endParaRPr sz="1100"/>
          </a:p>
        </p:txBody>
      </p:sp>
      <p:sp>
        <p:nvSpPr>
          <p:cNvPr id="600" name="Google Shape;600;p45"/>
          <p:cNvSpPr/>
          <p:nvPr/>
        </p:nvSpPr>
        <p:spPr>
          <a:xfrm>
            <a:off x="7015163" y="2928938"/>
            <a:ext cx="1243013" cy="228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 cap="flat" cmpd="sng">
            <a:solidFill>
              <a:srgbClr val="2C79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45"/>
          <p:cNvSpPr/>
          <p:nvPr/>
        </p:nvSpPr>
        <p:spPr>
          <a:xfrm>
            <a:off x="7072313" y="2993231"/>
            <a:ext cx="1128713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2C79B7"/>
                </a:solidFill>
              </a:rPr>
              <a:t>영향: TTV 오판</a:t>
            </a:r>
            <a:endParaRPr sz="1100"/>
          </a:p>
        </p:txBody>
      </p:sp>
      <p:sp>
        <p:nvSpPr>
          <p:cNvPr id="602" name="Google Shape;602;p45"/>
          <p:cNvSpPr/>
          <p:nvPr/>
        </p:nvSpPr>
        <p:spPr>
          <a:xfrm>
            <a:off x="771525" y="3914775"/>
            <a:ext cx="7600950" cy="414338"/>
          </a:xfrm>
          <a:prstGeom prst="roundRect">
            <a:avLst>
              <a:gd name="adj" fmla="val 10345"/>
            </a:avLst>
          </a:prstGeom>
          <a:solidFill>
            <a:srgbClr val="EAF3FA"/>
          </a:solidFill>
          <a:ln w="9525" cap="flat" cmpd="sng">
            <a:solidFill>
              <a:srgbClr val="C7DF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45"/>
          <p:cNvSpPr/>
          <p:nvPr/>
        </p:nvSpPr>
        <p:spPr>
          <a:xfrm>
            <a:off x="971550" y="4043363"/>
            <a:ext cx="428625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2C79B7"/>
                </a:solidFill>
              </a:rPr>
              <a:t>주의</a:t>
            </a:r>
            <a:endParaRPr sz="1100"/>
          </a:p>
        </p:txBody>
      </p:sp>
      <p:sp>
        <p:nvSpPr>
          <p:cNvPr id="604" name="Google Shape;604;p45"/>
          <p:cNvSpPr/>
          <p:nvPr/>
        </p:nvSpPr>
        <p:spPr>
          <a:xfrm>
            <a:off x="1500188" y="4036219"/>
            <a:ext cx="58578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네 가지는 ‘확정 근본원인’이 아니라 실행계획에서 실제 품질 영향 여부를 검증할 우선 후보이다.</a:t>
            </a:r>
            <a:endParaRPr sz="1100"/>
          </a:p>
        </p:txBody>
      </p:sp>
      <p:sp>
        <p:nvSpPr>
          <p:cNvPr id="605" name="Google Shape;605;p45"/>
          <p:cNvSpPr/>
          <p:nvPr/>
        </p:nvSpPr>
        <p:spPr>
          <a:xfrm>
            <a:off x="414338" y="4886325"/>
            <a:ext cx="80010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 b="0">
                <a:solidFill>
                  <a:srgbClr val="8392A2"/>
                </a:solidFill>
              </a:rPr>
              <a:t>출처: BG 불량분석 (1).pptx 14~15p 및 발표자 대본.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6"/>
          <p:cNvSpPr/>
          <p:nvPr/>
        </p:nvSpPr>
        <p:spPr>
          <a:xfrm>
            <a:off x="414337" y="257175"/>
            <a:ext cx="2571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2C79B7"/>
                </a:solidFill>
              </a:rPr>
              <a:t>BG 개선안 도출</a:t>
            </a:r>
            <a:endParaRPr sz="1100"/>
          </a:p>
        </p:txBody>
      </p:sp>
      <p:sp>
        <p:nvSpPr>
          <p:cNvPr id="612" name="Google Shape;612;p46"/>
          <p:cNvSpPr/>
          <p:nvPr/>
        </p:nvSpPr>
        <p:spPr>
          <a:xfrm>
            <a:off x="414338" y="542925"/>
            <a:ext cx="75009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900" b="1">
                <a:solidFill>
                  <a:srgbClr val="173657"/>
                </a:solidFill>
              </a:rPr>
              <a:t>개선안은 즉시 점검 → 기준화 → 최적화 → 예방관리로 확장한다</a:t>
            </a:r>
            <a:endParaRPr sz="1100"/>
          </a:p>
        </p:txBody>
      </p:sp>
      <p:sp>
        <p:nvSpPr>
          <p:cNvPr id="613" name="Google Shape;613;p46"/>
          <p:cNvSpPr/>
          <p:nvPr/>
        </p:nvSpPr>
        <p:spPr>
          <a:xfrm>
            <a:off x="414338" y="914400"/>
            <a:ext cx="78581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687481"/>
                </a:solidFill>
              </a:rPr>
              <a:t>단기 조치만 나열하지 않고, 중기/장기 관리체계로 이어지도록 개선안을 묶는다.</a:t>
            </a:r>
            <a:endParaRPr sz="1100"/>
          </a:p>
        </p:txBody>
      </p:sp>
      <p:sp>
        <p:nvSpPr>
          <p:cNvPr id="614" name="Google Shape;614;p46"/>
          <p:cNvSpPr/>
          <p:nvPr/>
        </p:nvSpPr>
        <p:spPr>
          <a:xfrm>
            <a:off x="8572500" y="300038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B9C9D8"/>
                </a:solidFill>
              </a:rPr>
              <a:t>16R</a:t>
            </a:r>
            <a:endParaRPr sz="1100"/>
          </a:p>
        </p:txBody>
      </p:sp>
      <p:sp>
        <p:nvSpPr>
          <p:cNvPr id="615" name="Google Shape;615;p46"/>
          <p:cNvSpPr/>
          <p:nvPr/>
        </p:nvSpPr>
        <p:spPr>
          <a:xfrm>
            <a:off x="614363" y="1557338"/>
            <a:ext cx="2428875" cy="2271713"/>
          </a:xfrm>
          <a:prstGeom prst="roundRect">
            <a:avLst>
              <a:gd name="adj" fmla="val 2516"/>
            </a:avLst>
          </a:prstGeom>
          <a:solidFill>
            <a:srgbClr val="EAF3FA"/>
          </a:solidFill>
          <a:ln w="9525" cap="flat" cmpd="sng">
            <a:solidFill>
              <a:srgbClr val="2C79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46"/>
          <p:cNvSpPr/>
          <p:nvPr/>
        </p:nvSpPr>
        <p:spPr>
          <a:xfrm>
            <a:off x="785813" y="1728788"/>
            <a:ext cx="614363" cy="214313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 cap="flat" cmpd="sng">
            <a:solidFill>
              <a:srgbClr val="2C79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46"/>
          <p:cNvSpPr/>
          <p:nvPr/>
        </p:nvSpPr>
        <p:spPr>
          <a:xfrm>
            <a:off x="842963" y="1778794"/>
            <a:ext cx="500063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2C79B7"/>
                </a:solidFill>
              </a:rPr>
              <a:t>단기</a:t>
            </a:r>
            <a:endParaRPr sz="1100"/>
          </a:p>
        </p:txBody>
      </p:sp>
      <p:sp>
        <p:nvSpPr>
          <p:cNvPr id="618" name="Google Shape;618;p46"/>
          <p:cNvSpPr/>
          <p:nvPr/>
        </p:nvSpPr>
        <p:spPr>
          <a:xfrm>
            <a:off x="842963" y="2057400"/>
            <a:ext cx="1971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>
                <a:solidFill>
                  <a:srgbClr val="173657"/>
                </a:solidFill>
              </a:rPr>
              <a:t>즉시 점검</a:t>
            </a:r>
            <a:endParaRPr sz="1100"/>
          </a:p>
        </p:txBody>
      </p:sp>
      <p:sp>
        <p:nvSpPr>
          <p:cNvPr id="619" name="Google Shape;619;p46"/>
          <p:cNvSpPr/>
          <p:nvPr/>
        </p:nvSpPr>
        <p:spPr>
          <a:xfrm>
            <a:off x="857250" y="2514600"/>
            <a:ext cx="1943100" cy="30003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 cap="flat" cmpd="sng">
            <a:solidFill>
              <a:srgbClr val="D9E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46"/>
          <p:cNvSpPr/>
          <p:nvPr/>
        </p:nvSpPr>
        <p:spPr>
          <a:xfrm>
            <a:off x="942975" y="2607469"/>
            <a:ext cx="1771650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Sensor Calibration</a:t>
            </a:r>
            <a:endParaRPr sz="1100"/>
          </a:p>
        </p:txBody>
      </p:sp>
      <p:sp>
        <p:nvSpPr>
          <p:cNvPr id="621" name="Google Shape;621;p46"/>
          <p:cNvSpPr/>
          <p:nvPr/>
        </p:nvSpPr>
        <p:spPr>
          <a:xfrm>
            <a:off x="857250" y="2914650"/>
            <a:ext cx="1943100" cy="30003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 cap="flat" cmpd="sng">
            <a:solidFill>
              <a:srgbClr val="D9E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46"/>
          <p:cNvSpPr/>
          <p:nvPr/>
        </p:nvSpPr>
        <p:spPr>
          <a:xfrm>
            <a:off x="942975" y="3007519"/>
            <a:ext cx="1771650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Chuck 세정·평탄도/Vacuum 점검</a:t>
            </a:r>
            <a:endParaRPr sz="1100"/>
          </a:p>
        </p:txBody>
      </p:sp>
      <p:sp>
        <p:nvSpPr>
          <p:cNvPr id="623" name="Google Shape;623;p46"/>
          <p:cNvSpPr/>
          <p:nvPr/>
        </p:nvSpPr>
        <p:spPr>
          <a:xfrm>
            <a:off x="857250" y="3314700"/>
            <a:ext cx="1943100" cy="30003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 cap="flat" cmpd="sng">
            <a:solidFill>
              <a:srgbClr val="D9E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46"/>
          <p:cNvSpPr/>
          <p:nvPr/>
        </p:nvSpPr>
        <p:spPr>
          <a:xfrm>
            <a:off x="942975" y="3407569"/>
            <a:ext cx="1771650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Set-Actual 교차검증</a:t>
            </a:r>
            <a:endParaRPr sz="1100"/>
          </a:p>
        </p:txBody>
      </p:sp>
      <p:sp>
        <p:nvSpPr>
          <p:cNvPr id="625" name="Google Shape;625;p46"/>
          <p:cNvSpPr/>
          <p:nvPr/>
        </p:nvSpPr>
        <p:spPr>
          <a:xfrm>
            <a:off x="3093244" y="2586038"/>
            <a:ext cx="2000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 b="1">
                <a:solidFill>
                  <a:srgbClr val="A5B2C1"/>
                </a:solidFill>
              </a:rPr>
              <a:t>→</a:t>
            </a:r>
            <a:endParaRPr sz="1100"/>
          </a:p>
        </p:txBody>
      </p:sp>
      <p:sp>
        <p:nvSpPr>
          <p:cNvPr id="626" name="Google Shape;626;p46"/>
          <p:cNvSpPr/>
          <p:nvPr/>
        </p:nvSpPr>
        <p:spPr>
          <a:xfrm>
            <a:off x="3343275" y="1557338"/>
            <a:ext cx="2428875" cy="2271713"/>
          </a:xfrm>
          <a:prstGeom prst="roundRect">
            <a:avLst>
              <a:gd name="adj" fmla="val 2516"/>
            </a:avLst>
          </a:prstGeom>
          <a:solidFill>
            <a:srgbClr val="FFF5DF"/>
          </a:solidFill>
          <a:ln w="9525" cap="flat" cmpd="sng">
            <a:solidFill>
              <a:srgbClr val="F2A5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46"/>
          <p:cNvSpPr/>
          <p:nvPr/>
        </p:nvSpPr>
        <p:spPr>
          <a:xfrm>
            <a:off x="3514725" y="1728788"/>
            <a:ext cx="614363" cy="214313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 cap="flat" cmpd="sng">
            <a:solidFill>
              <a:srgbClr val="F2A5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46"/>
          <p:cNvSpPr/>
          <p:nvPr/>
        </p:nvSpPr>
        <p:spPr>
          <a:xfrm>
            <a:off x="3571875" y="1778794"/>
            <a:ext cx="500063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F2A51A"/>
                </a:solidFill>
              </a:rPr>
              <a:t>중기</a:t>
            </a:r>
            <a:endParaRPr sz="1100"/>
          </a:p>
        </p:txBody>
      </p:sp>
      <p:sp>
        <p:nvSpPr>
          <p:cNvPr id="629" name="Google Shape;629;p46"/>
          <p:cNvSpPr/>
          <p:nvPr/>
        </p:nvSpPr>
        <p:spPr>
          <a:xfrm>
            <a:off x="3571875" y="2057400"/>
            <a:ext cx="1971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>
                <a:solidFill>
                  <a:srgbClr val="173657"/>
                </a:solidFill>
              </a:rPr>
              <a:t>기준화·검증</a:t>
            </a:r>
            <a:endParaRPr sz="1100"/>
          </a:p>
        </p:txBody>
      </p:sp>
      <p:sp>
        <p:nvSpPr>
          <p:cNvPr id="630" name="Google Shape;630;p46"/>
          <p:cNvSpPr/>
          <p:nvPr/>
        </p:nvSpPr>
        <p:spPr>
          <a:xfrm>
            <a:off x="3586163" y="2514600"/>
            <a:ext cx="1943100" cy="30003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 cap="flat" cmpd="sng">
            <a:solidFill>
              <a:srgbClr val="D9E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46"/>
          <p:cNvSpPr/>
          <p:nvPr/>
        </p:nvSpPr>
        <p:spPr>
          <a:xfrm>
            <a:off x="3671888" y="2607469"/>
            <a:ext cx="1771650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Parameter별 허용편차 설정</a:t>
            </a:r>
            <a:endParaRPr sz="1100"/>
          </a:p>
        </p:txBody>
      </p:sp>
      <p:sp>
        <p:nvSpPr>
          <p:cNvPr id="632" name="Google Shape;632;p46"/>
          <p:cNvSpPr/>
          <p:nvPr/>
        </p:nvSpPr>
        <p:spPr>
          <a:xfrm>
            <a:off x="3586163" y="2914650"/>
            <a:ext cx="1943100" cy="30003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 cap="flat" cmpd="sng">
            <a:solidFill>
              <a:srgbClr val="D9E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46"/>
          <p:cNvSpPr/>
          <p:nvPr/>
        </p:nvSpPr>
        <p:spPr>
          <a:xfrm>
            <a:off x="3671888" y="3007519"/>
            <a:ext cx="1771650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Rough 조건별 Crack·TTV 영향 검증</a:t>
            </a:r>
            <a:endParaRPr sz="1100"/>
          </a:p>
        </p:txBody>
      </p:sp>
      <p:sp>
        <p:nvSpPr>
          <p:cNvPr id="634" name="Google Shape;634;p46"/>
          <p:cNvSpPr/>
          <p:nvPr/>
        </p:nvSpPr>
        <p:spPr>
          <a:xfrm>
            <a:off x="3586163" y="3314700"/>
            <a:ext cx="1943100" cy="30003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 cap="flat" cmpd="sng">
            <a:solidFill>
              <a:srgbClr val="D9E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46"/>
          <p:cNvSpPr/>
          <p:nvPr/>
        </p:nvSpPr>
        <p:spPr>
          <a:xfrm>
            <a:off x="3671888" y="3407569"/>
            <a:ext cx="1771650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최적 조건 DOE 도출</a:t>
            </a:r>
            <a:endParaRPr sz="1100"/>
          </a:p>
        </p:txBody>
      </p:sp>
      <p:sp>
        <p:nvSpPr>
          <p:cNvPr id="636" name="Google Shape;636;p46"/>
          <p:cNvSpPr/>
          <p:nvPr/>
        </p:nvSpPr>
        <p:spPr>
          <a:xfrm>
            <a:off x="5822156" y="2586038"/>
            <a:ext cx="2000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 b="1">
                <a:solidFill>
                  <a:srgbClr val="A5B2C1"/>
                </a:solidFill>
              </a:rPr>
              <a:t>→</a:t>
            </a:r>
            <a:endParaRPr sz="1100"/>
          </a:p>
        </p:txBody>
      </p:sp>
      <p:sp>
        <p:nvSpPr>
          <p:cNvPr id="637" name="Google Shape;637;p46"/>
          <p:cNvSpPr/>
          <p:nvPr/>
        </p:nvSpPr>
        <p:spPr>
          <a:xfrm>
            <a:off x="6072188" y="1557338"/>
            <a:ext cx="2428875" cy="2271713"/>
          </a:xfrm>
          <a:prstGeom prst="roundRect">
            <a:avLst>
              <a:gd name="adj" fmla="val 2516"/>
            </a:avLst>
          </a:prstGeom>
          <a:solidFill>
            <a:srgbClr val="E7F7F2"/>
          </a:solidFill>
          <a:ln w="9525" cap="flat" cmpd="sng">
            <a:solidFill>
              <a:srgbClr val="16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46"/>
          <p:cNvSpPr/>
          <p:nvPr/>
        </p:nvSpPr>
        <p:spPr>
          <a:xfrm>
            <a:off x="6243638" y="1728788"/>
            <a:ext cx="614363" cy="214313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 cap="flat" cmpd="sng">
            <a:solidFill>
              <a:srgbClr val="16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46"/>
          <p:cNvSpPr/>
          <p:nvPr/>
        </p:nvSpPr>
        <p:spPr>
          <a:xfrm>
            <a:off x="6300788" y="1778794"/>
            <a:ext cx="500063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16BFA0"/>
                </a:solidFill>
              </a:rPr>
              <a:t>장기</a:t>
            </a:r>
            <a:endParaRPr sz="1100"/>
          </a:p>
        </p:txBody>
      </p:sp>
      <p:sp>
        <p:nvSpPr>
          <p:cNvPr id="640" name="Google Shape;640;p46"/>
          <p:cNvSpPr/>
          <p:nvPr/>
        </p:nvSpPr>
        <p:spPr>
          <a:xfrm>
            <a:off x="6300788" y="2057400"/>
            <a:ext cx="1971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>
                <a:solidFill>
                  <a:srgbClr val="173657"/>
                </a:solidFill>
              </a:rPr>
              <a:t>예방관리</a:t>
            </a:r>
            <a:endParaRPr sz="1100"/>
          </a:p>
        </p:txBody>
      </p:sp>
      <p:sp>
        <p:nvSpPr>
          <p:cNvPr id="641" name="Google Shape;641;p46"/>
          <p:cNvSpPr/>
          <p:nvPr/>
        </p:nvSpPr>
        <p:spPr>
          <a:xfrm>
            <a:off x="6315075" y="2514600"/>
            <a:ext cx="1943100" cy="30003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 cap="flat" cmpd="sng">
            <a:solidFill>
              <a:srgbClr val="D9E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6"/>
          <p:cNvSpPr/>
          <p:nvPr/>
        </p:nvSpPr>
        <p:spPr>
          <a:xfrm>
            <a:off x="6400800" y="2607469"/>
            <a:ext cx="1771650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Recipe 자동 모니터링</a:t>
            </a:r>
            <a:endParaRPr sz="1100"/>
          </a:p>
        </p:txBody>
      </p:sp>
      <p:sp>
        <p:nvSpPr>
          <p:cNvPr id="643" name="Google Shape;643;p46"/>
          <p:cNvSpPr/>
          <p:nvPr/>
        </p:nvSpPr>
        <p:spPr>
          <a:xfrm>
            <a:off x="6315075" y="2914650"/>
            <a:ext cx="1943100" cy="30003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 cap="flat" cmpd="sng">
            <a:solidFill>
              <a:srgbClr val="D9E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6"/>
          <p:cNvSpPr/>
          <p:nvPr/>
        </p:nvSpPr>
        <p:spPr>
          <a:xfrm>
            <a:off x="6400800" y="3007519"/>
            <a:ext cx="1771650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SPC 기반 이상감지</a:t>
            </a:r>
            <a:endParaRPr sz="1100"/>
          </a:p>
        </p:txBody>
      </p:sp>
      <p:sp>
        <p:nvSpPr>
          <p:cNvPr id="645" name="Google Shape;645;p46"/>
          <p:cNvSpPr/>
          <p:nvPr/>
        </p:nvSpPr>
        <p:spPr>
          <a:xfrm>
            <a:off x="6315075" y="3314700"/>
            <a:ext cx="1943100" cy="30003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 cap="flat" cmpd="sng">
            <a:solidFill>
              <a:srgbClr val="D9E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46"/>
          <p:cNvSpPr/>
          <p:nvPr/>
        </p:nvSpPr>
        <p:spPr>
          <a:xfrm>
            <a:off x="6400800" y="3407569"/>
            <a:ext cx="1771650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Predictive Maintenance 검토</a:t>
            </a:r>
            <a:endParaRPr sz="1100"/>
          </a:p>
        </p:txBody>
      </p:sp>
      <p:sp>
        <p:nvSpPr>
          <p:cNvPr id="647" name="Google Shape;647;p46"/>
          <p:cNvSpPr/>
          <p:nvPr/>
        </p:nvSpPr>
        <p:spPr>
          <a:xfrm>
            <a:off x="857250" y="4100513"/>
            <a:ext cx="7429500" cy="300038"/>
          </a:xfrm>
          <a:prstGeom prst="roundRect">
            <a:avLst>
              <a:gd name="adj" fmla="val 14286"/>
            </a:avLst>
          </a:prstGeom>
          <a:solidFill>
            <a:srgbClr val="FCECEF"/>
          </a:solidFill>
          <a:ln w="9525" cap="flat" cmpd="sng">
            <a:solidFill>
              <a:srgbClr val="F4C7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46"/>
          <p:cNvSpPr/>
          <p:nvPr/>
        </p:nvSpPr>
        <p:spPr>
          <a:xfrm>
            <a:off x="1057275" y="4186238"/>
            <a:ext cx="642938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B3132E"/>
                </a:solidFill>
              </a:rPr>
              <a:t>선정 기준</a:t>
            </a:r>
            <a:endParaRPr sz="1100"/>
          </a:p>
        </p:txBody>
      </p:sp>
      <p:sp>
        <p:nvSpPr>
          <p:cNvPr id="649" name="Google Shape;649;p46"/>
          <p:cNvSpPr/>
          <p:nvPr/>
        </p:nvSpPr>
        <p:spPr>
          <a:xfrm>
            <a:off x="1800225" y="4179094"/>
            <a:ext cx="542925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초록색/강조 항목은 실행 가능성과 개선 효율을 고려해 우선 실행 대상으로 선정한다.</a:t>
            </a:r>
            <a:endParaRPr sz="1100"/>
          </a:p>
        </p:txBody>
      </p:sp>
      <p:sp>
        <p:nvSpPr>
          <p:cNvPr id="650" name="Google Shape;650;p46"/>
          <p:cNvSpPr/>
          <p:nvPr/>
        </p:nvSpPr>
        <p:spPr>
          <a:xfrm>
            <a:off x="414338" y="4886325"/>
            <a:ext cx="80010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 b="0">
                <a:solidFill>
                  <a:srgbClr val="8392A2"/>
                </a:solidFill>
              </a:rPr>
              <a:t>출처: BG 불량분석 (1).pptx 16p 및 발표자 대본.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7"/>
          <p:cNvSpPr/>
          <p:nvPr/>
        </p:nvSpPr>
        <p:spPr>
          <a:xfrm>
            <a:off x="414337" y="257175"/>
            <a:ext cx="2571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2C79B7"/>
                </a:solidFill>
              </a:rPr>
              <a:t>BG 개선안 비교</a:t>
            </a:r>
            <a:endParaRPr sz="1100"/>
          </a:p>
        </p:txBody>
      </p:sp>
      <p:sp>
        <p:nvSpPr>
          <p:cNvPr id="657" name="Google Shape;657;p47"/>
          <p:cNvSpPr/>
          <p:nvPr/>
        </p:nvSpPr>
        <p:spPr>
          <a:xfrm>
            <a:off x="414338" y="542925"/>
            <a:ext cx="75009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900" b="1">
                <a:solidFill>
                  <a:srgbClr val="173657"/>
                </a:solidFill>
              </a:rPr>
              <a:t>개선안은 효과와 리스크를 함께 보고 실행 순서를 정한다</a:t>
            </a:r>
            <a:endParaRPr sz="1100"/>
          </a:p>
        </p:txBody>
      </p:sp>
      <p:sp>
        <p:nvSpPr>
          <p:cNvPr id="658" name="Google Shape;658;p47"/>
          <p:cNvSpPr/>
          <p:nvPr/>
        </p:nvSpPr>
        <p:spPr>
          <a:xfrm>
            <a:off x="414338" y="914400"/>
            <a:ext cx="78581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687481"/>
                </a:solidFill>
              </a:rPr>
              <a:t>Rough 조건은 효과가 크지만 검증 부담이 있고, Sensor·Chuck·Recipe는 선행 안정화 조치로 묶는다.</a:t>
            </a:r>
            <a:endParaRPr sz="1100"/>
          </a:p>
        </p:txBody>
      </p:sp>
      <p:sp>
        <p:nvSpPr>
          <p:cNvPr id="659" name="Google Shape;659;p47"/>
          <p:cNvSpPr/>
          <p:nvPr/>
        </p:nvSpPr>
        <p:spPr>
          <a:xfrm>
            <a:off x="8572500" y="300038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B9C9D8"/>
                </a:solidFill>
              </a:rPr>
              <a:t>17R</a:t>
            </a:r>
            <a:endParaRPr sz="1100"/>
          </a:p>
        </p:txBody>
      </p:sp>
      <p:sp>
        <p:nvSpPr>
          <p:cNvPr id="660" name="Google Shape;660;p47"/>
          <p:cNvSpPr/>
          <p:nvPr/>
        </p:nvSpPr>
        <p:spPr>
          <a:xfrm>
            <a:off x="500063" y="1471613"/>
            <a:ext cx="7858125" cy="2486025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9525" cap="flat" cmpd="sng">
            <a:solidFill>
              <a:srgbClr val="D9E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47"/>
          <p:cNvSpPr/>
          <p:nvPr/>
        </p:nvSpPr>
        <p:spPr>
          <a:xfrm>
            <a:off x="500063" y="1471613"/>
            <a:ext cx="7858125" cy="314325"/>
          </a:xfrm>
          <a:prstGeom prst="rect">
            <a:avLst/>
          </a:prstGeom>
          <a:solidFill>
            <a:srgbClr val="1F456B"/>
          </a:solidFill>
          <a:ln w="9525" cap="flat" cmpd="sng">
            <a:solidFill>
              <a:srgbClr val="1F45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47"/>
          <p:cNvSpPr/>
          <p:nvPr/>
        </p:nvSpPr>
        <p:spPr>
          <a:xfrm>
            <a:off x="557213" y="1557338"/>
            <a:ext cx="1457325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FFFFFF"/>
                </a:solidFill>
              </a:rPr>
              <a:t>개선안</a:t>
            </a:r>
            <a:endParaRPr sz="1100"/>
          </a:p>
        </p:txBody>
      </p:sp>
      <p:sp>
        <p:nvSpPr>
          <p:cNvPr id="663" name="Google Shape;663;p47"/>
          <p:cNvSpPr/>
          <p:nvPr/>
        </p:nvSpPr>
        <p:spPr>
          <a:xfrm>
            <a:off x="2128838" y="1557338"/>
            <a:ext cx="1671638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FFFFFF"/>
                </a:solidFill>
              </a:rPr>
              <a:t>기대 효과</a:t>
            </a:r>
            <a:endParaRPr sz="1100"/>
          </a:p>
        </p:txBody>
      </p:sp>
      <p:sp>
        <p:nvSpPr>
          <p:cNvPr id="664" name="Google Shape;664;p47"/>
          <p:cNvSpPr/>
          <p:nvPr/>
        </p:nvSpPr>
        <p:spPr>
          <a:xfrm>
            <a:off x="3914775" y="1557338"/>
            <a:ext cx="814388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FFFFFF"/>
                </a:solidFill>
              </a:rPr>
              <a:t>효과</a:t>
            </a:r>
            <a:endParaRPr sz="1100"/>
          </a:p>
        </p:txBody>
      </p:sp>
      <p:sp>
        <p:nvSpPr>
          <p:cNvPr id="665" name="Google Shape;665;p47"/>
          <p:cNvSpPr/>
          <p:nvPr/>
        </p:nvSpPr>
        <p:spPr>
          <a:xfrm>
            <a:off x="4843463" y="1557338"/>
            <a:ext cx="814388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FFFFFF"/>
                </a:solidFill>
              </a:rPr>
              <a:t>난이도</a:t>
            </a:r>
            <a:endParaRPr sz="1100"/>
          </a:p>
        </p:txBody>
      </p:sp>
      <p:sp>
        <p:nvSpPr>
          <p:cNvPr id="666" name="Google Shape;666;p47"/>
          <p:cNvSpPr/>
          <p:nvPr/>
        </p:nvSpPr>
        <p:spPr>
          <a:xfrm>
            <a:off x="5772150" y="1557338"/>
            <a:ext cx="2528888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FFFFFF"/>
                </a:solidFill>
              </a:rPr>
              <a:t>리스크/주의점</a:t>
            </a:r>
            <a:endParaRPr sz="1100"/>
          </a:p>
        </p:txBody>
      </p:sp>
      <p:sp>
        <p:nvSpPr>
          <p:cNvPr id="667" name="Google Shape;667;p47"/>
          <p:cNvSpPr/>
          <p:nvPr/>
        </p:nvSpPr>
        <p:spPr>
          <a:xfrm>
            <a:off x="500063" y="1785938"/>
            <a:ext cx="7858125" cy="5429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47"/>
          <p:cNvSpPr/>
          <p:nvPr/>
        </p:nvSpPr>
        <p:spPr>
          <a:xfrm>
            <a:off x="571500" y="194310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F2A51A"/>
                </a:solidFill>
              </a:rPr>
              <a:t>Recipe Set-Actual</a:t>
            </a:r>
            <a:endParaRPr sz="1100"/>
          </a:p>
        </p:txBody>
      </p:sp>
      <p:sp>
        <p:nvSpPr>
          <p:cNvPr id="669" name="Google Shape;669;p47"/>
          <p:cNvSpPr/>
          <p:nvPr/>
        </p:nvSpPr>
        <p:spPr>
          <a:xfrm>
            <a:off x="2143125" y="1943100"/>
            <a:ext cx="164306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173657"/>
                </a:solidFill>
              </a:rPr>
              <a:t>공정조건 안정화</a:t>
            </a:r>
            <a:endParaRPr sz="1100"/>
          </a:p>
        </p:txBody>
      </p:sp>
      <p:sp>
        <p:nvSpPr>
          <p:cNvPr id="670" name="Google Shape;670;p47"/>
          <p:cNvSpPr/>
          <p:nvPr/>
        </p:nvSpPr>
        <p:spPr>
          <a:xfrm>
            <a:off x="3929063" y="1943100"/>
            <a:ext cx="78581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173657"/>
                </a:solidFill>
              </a:rPr>
              <a:t>낮음</a:t>
            </a:r>
            <a:endParaRPr sz="1100"/>
          </a:p>
        </p:txBody>
      </p:sp>
      <p:sp>
        <p:nvSpPr>
          <p:cNvPr id="671" name="Google Shape;671;p47"/>
          <p:cNvSpPr/>
          <p:nvPr/>
        </p:nvSpPr>
        <p:spPr>
          <a:xfrm>
            <a:off x="4857750" y="1943100"/>
            <a:ext cx="78581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173657"/>
                </a:solidFill>
              </a:rPr>
              <a:t>낮음</a:t>
            </a:r>
            <a:endParaRPr sz="1100"/>
          </a:p>
        </p:txBody>
      </p:sp>
      <p:sp>
        <p:nvSpPr>
          <p:cNvPr id="672" name="Google Shape;672;p47"/>
          <p:cNvSpPr/>
          <p:nvPr/>
        </p:nvSpPr>
        <p:spPr>
          <a:xfrm>
            <a:off x="5786438" y="1943100"/>
            <a:ext cx="250031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173657"/>
                </a:solidFill>
              </a:rPr>
              <a:t>공정 유연성 저하 가능</a:t>
            </a:r>
            <a:endParaRPr sz="1100"/>
          </a:p>
        </p:txBody>
      </p:sp>
      <p:sp>
        <p:nvSpPr>
          <p:cNvPr id="673" name="Google Shape;673;p47"/>
          <p:cNvSpPr/>
          <p:nvPr/>
        </p:nvSpPr>
        <p:spPr>
          <a:xfrm>
            <a:off x="500063" y="2328863"/>
            <a:ext cx="7858125" cy="542925"/>
          </a:xfrm>
          <a:prstGeom prst="rect">
            <a:avLst/>
          </a:prstGeom>
          <a:solidFill>
            <a:srgbClr val="F7FAFC"/>
          </a:solidFill>
          <a:ln w="9525" cap="flat" cmpd="sng">
            <a:solidFill>
              <a:srgbClr val="D9E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47"/>
          <p:cNvSpPr/>
          <p:nvPr/>
        </p:nvSpPr>
        <p:spPr>
          <a:xfrm>
            <a:off x="571500" y="2486025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2C79B7"/>
                </a:solidFill>
              </a:rPr>
              <a:t>Sensor Calibration</a:t>
            </a:r>
            <a:endParaRPr sz="1100"/>
          </a:p>
        </p:txBody>
      </p:sp>
      <p:sp>
        <p:nvSpPr>
          <p:cNvPr id="675" name="Google Shape;675;p47"/>
          <p:cNvSpPr/>
          <p:nvPr/>
        </p:nvSpPr>
        <p:spPr>
          <a:xfrm>
            <a:off x="2143125" y="2486025"/>
            <a:ext cx="164306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173657"/>
                </a:solidFill>
              </a:rPr>
              <a:t>측정 신뢰성 확보</a:t>
            </a:r>
            <a:endParaRPr sz="1100"/>
          </a:p>
        </p:txBody>
      </p:sp>
      <p:sp>
        <p:nvSpPr>
          <p:cNvPr id="676" name="Google Shape;676;p47"/>
          <p:cNvSpPr/>
          <p:nvPr/>
        </p:nvSpPr>
        <p:spPr>
          <a:xfrm>
            <a:off x="3929063" y="2486025"/>
            <a:ext cx="78581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173657"/>
                </a:solidFill>
              </a:rPr>
              <a:t>낮음</a:t>
            </a:r>
            <a:endParaRPr sz="1100"/>
          </a:p>
        </p:txBody>
      </p:sp>
      <p:sp>
        <p:nvSpPr>
          <p:cNvPr id="677" name="Google Shape;677;p47"/>
          <p:cNvSpPr/>
          <p:nvPr/>
        </p:nvSpPr>
        <p:spPr>
          <a:xfrm>
            <a:off x="4857750" y="2486025"/>
            <a:ext cx="78581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173657"/>
                </a:solidFill>
              </a:rPr>
              <a:t>중간</a:t>
            </a:r>
            <a:endParaRPr sz="1100"/>
          </a:p>
        </p:txBody>
      </p:sp>
      <p:sp>
        <p:nvSpPr>
          <p:cNvPr id="678" name="Google Shape;678;p47"/>
          <p:cNvSpPr/>
          <p:nvPr/>
        </p:nvSpPr>
        <p:spPr>
          <a:xfrm>
            <a:off x="5786438" y="2486025"/>
            <a:ext cx="250031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173657"/>
                </a:solidFill>
              </a:rPr>
              <a:t>교정 중 설비 사용 제한</a:t>
            </a:r>
            <a:endParaRPr sz="1100"/>
          </a:p>
        </p:txBody>
      </p:sp>
      <p:sp>
        <p:nvSpPr>
          <p:cNvPr id="679" name="Google Shape;679;p47"/>
          <p:cNvSpPr/>
          <p:nvPr/>
        </p:nvSpPr>
        <p:spPr>
          <a:xfrm>
            <a:off x="500063" y="2871788"/>
            <a:ext cx="7858125" cy="5429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47"/>
          <p:cNvSpPr/>
          <p:nvPr/>
        </p:nvSpPr>
        <p:spPr>
          <a:xfrm>
            <a:off x="571500" y="302895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16BFA0"/>
                </a:solidFill>
              </a:rPr>
              <a:t>Chuck 점검</a:t>
            </a:r>
            <a:endParaRPr sz="1100"/>
          </a:p>
        </p:txBody>
      </p:sp>
      <p:sp>
        <p:nvSpPr>
          <p:cNvPr id="681" name="Google Shape;681;p47"/>
          <p:cNvSpPr/>
          <p:nvPr/>
        </p:nvSpPr>
        <p:spPr>
          <a:xfrm>
            <a:off x="2143125" y="3028950"/>
            <a:ext cx="164306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173657"/>
                </a:solidFill>
              </a:rPr>
              <a:t>국부 응력·TTV/Scratch 완화</a:t>
            </a:r>
            <a:endParaRPr sz="1100"/>
          </a:p>
        </p:txBody>
      </p:sp>
      <p:sp>
        <p:nvSpPr>
          <p:cNvPr id="682" name="Google Shape;682;p47"/>
          <p:cNvSpPr/>
          <p:nvPr/>
        </p:nvSpPr>
        <p:spPr>
          <a:xfrm>
            <a:off x="3929063" y="3028950"/>
            <a:ext cx="78581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173657"/>
                </a:solidFill>
              </a:rPr>
              <a:t>중간</a:t>
            </a:r>
            <a:endParaRPr sz="1100"/>
          </a:p>
        </p:txBody>
      </p:sp>
      <p:sp>
        <p:nvSpPr>
          <p:cNvPr id="683" name="Google Shape;683;p47"/>
          <p:cNvSpPr/>
          <p:nvPr/>
        </p:nvSpPr>
        <p:spPr>
          <a:xfrm>
            <a:off x="4857750" y="3028950"/>
            <a:ext cx="78581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173657"/>
                </a:solidFill>
              </a:rPr>
              <a:t>중간</a:t>
            </a:r>
            <a:endParaRPr sz="1100"/>
          </a:p>
        </p:txBody>
      </p:sp>
      <p:sp>
        <p:nvSpPr>
          <p:cNvPr id="684" name="Google Shape;684;p47"/>
          <p:cNvSpPr/>
          <p:nvPr/>
        </p:nvSpPr>
        <p:spPr>
          <a:xfrm>
            <a:off x="5786438" y="3028950"/>
            <a:ext cx="250031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173657"/>
                </a:solidFill>
              </a:rPr>
              <a:t>세정/부품 교체 비용 가능</a:t>
            </a:r>
            <a:endParaRPr sz="1100"/>
          </a:p>
        </p:txBody>
      </p:sp>
      <p:sp>
        <p:nvSpPr>
          <p:cNvPr id="685" name="Google Shape;685;p47"/>
          <p:cNvSpPr/>
          <p:nvPr/>
        </p:nvSpPr>
        <p:spPr>
          <a:xfrm>
            <a:off x="500063" y="3414713"/>
            <a:ext cx="7858125" cy="542925"/>
          </a:xfrm>
          <a:prstGeom prst="rect">
            <a:avLst/>
          </a:prstGeom>
          <a:solidFill>
            <a:srgbClr val="F7FAFC"/>
          </a:solidFill>
          <a:ln w="9525" cap="flat" cmpd="sng">
            <a:solidFill>
              <a:srgbClr val="D9E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47"/>
          <p:cNvSpPr/>
          <p:nvPr/>
        </p:nvSpPr>
        <p:spPr>
          <a:xfrm>
            <a:off x="571500" y="3571875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B3132E"/>
                </a:solidFill>
              </a:rPr>
              <a:t>Rough 조건 DOE</a:t>
            </a:r>
            <a:endParaRPr sz="1100"/>
          </a:p>
        </p:txBody>
      </p:sp>
      <p:sp>
        <p:nvSpPr>
          <p:cNvPr id="687" name="Google Shape;687;p47"/>
          <p:cNvSpPr/>
          <p:nvPr/>
        </p:nvSpPr>
        <p:spPr>
          <a:xfrm>
            <a:off x="2143125" y="3571875"/>
            <a:ext cx="164306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173657"/>
                </a:solidFill>
              </a:rPr>
              <a:t>Crack 직접 저감 가능성 큼</a:t>
            </a:r>
            <a:endParaRPr sz="1100"/>
          </a:p>
        </p:txBody>
      </p:sp>
      <p:sp>
        <p:nvSpPr>
          <p:cNvPr id="688" name="Google Shape;688;p47"/>
          <p:cNvSpPr/>
          <p:nvPr/>
        </p:nvSpPr>
        <p:spPr>
          <a:xfrm>
            <a:off x="3929063" y="3571875"/>
            <a:ext cx="78581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173657"/>
                </a:solidFill>
              </a:rPr>
              <a:t>높음</a:t>
            </a:r>
            <a:endParaRPr sz="1100"/>
          </a:p>
        </p:txBody>
      </p:sp>
      <p:sp>
        <p:nvSpPr>
          <p:cNvPr id="689" name="Google Shape;689;p47"/>
          <p:cNvSpPr/>
          <p:nvPr/>
        </p:nvSpPr>
        <p:spPr>
          <a:xfrm>
            <a:off x="4857750" y="3571875"/>
            <a:ext cx="78581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173657"/>
                </a:solidFill>
              </a:rPr>
              <a:t>높음</a:t>
            </a:r>
            <a:endParaRPr sz="1100"/>
          </a:p>
        </p:txBody>
      </p:sp>
      <p:sp>
        <p:nvSpPr>
          <p:cNvPr id="690" name="Google Shape;690;p47"/>
          <p:cNvSpPr/>
          <p:nvPr/>
        </p:nvSpPr>
        <p:spPr>
          <a:xfrm>
            <a:off x="5786438" y="3571875"/>
            <a:ext cx="250031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173657"/>
                </a:solidFill>
              </a:rPr>
              <a:t>TTV/생산성 영향, Wafer 투입 필요</a:t>
            </a:r>
            <a:endParaRPr sz="1100"/>
          </a:p>
        </p:txBody>
      </p:sp>
      <p:sp>
        <p:nvSpPr>
          <p:cNvPr id="691" name="Google Shape;691;p47"/>
          <p:cNvSpPr/>
          <p:nvPr/>
        </p:nvSpPr>
        <p:spPr>
          <a:xfrm>
            <a:off x="842963" y="4214813"/>
            <a:ext cx="7458075" cy="300038"/>
          </a:xfrm>
          <a:prstGeom prst="roundRect">
            <a:avLst>
              <a:gd name="adj" fmla="val 14286"/>
            </a:avLst>
          </a:prstGeom>
          <a:solidFill>
            <a:srgbClr val="E7F7F2"/>
          </a:solidFill>
          <a:ln w="9525" cap="flat" cmpd="sng">
            <a:solidFill>
              <a:srgbClr val="BEE7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47"/>
          <p:cNvSpPr/>
          <p:nvPr/>
        </p:nvSpPr>
        <p:spPr>
          <a:xfrm>
            <a:off x="1028700" y="4300538"/>
            <a:ext cx="642938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16BFA0"/>
                </a:solidFill>
              </a:rPr>
              <a:t>실행 순서</a:t>
            </a:r>
            <a:endParaRPr sz="1100"/>
          </a:p>
        </p:txBody>
      </p:sp>
      <p:sp>
        <p:nvSpPr>
          <p:cNvPr id="693" name="Google Shape;693;p47"/>
          <p:cNvSpPr/>
          <p:nvPr/>
        </p:nvSpPr>
        <p:spPr>
          <a:xfrm>
            <a:off x="1771650" y="4293394"/>
            <a:ext cx="542925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Sensor·Chuck 선점검 → Recipe 기준화 → Rough DOE 검증 후 최적조건 표준화</a:t>
            </a:r>
            <a:endParaRPr sz="1100"/>
          </a:p>
        </p:txBody>
      </p:sp>
      <p:sp>
        <p:nvSpPr>
          <p:cNvPr id="694" name="Google Shape;694;p47"/>
          <p:cNvSpPr/>
          <p:nvPr/>
        </p:nvSpPr>
        <p:spPr>
          <a:xfrm>
            <a:off x="414338" y="4886325"/>
            <a:ext cx="80010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 b="0">
                <a:solidFill>
                  <a:srgbClr val="8392A2"/>
                </a:solidFill>
              </a:rPr>
              <a:t>출처: BG 불량분석 (1).pptx 17p 발표자 대본.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48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개선안 도출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0" name="Google Shape;700;p48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1" name="Google Shape;701;p48"/>
          <p:cNvSpPr/>
          <p:nvPr/>
        </p:nvSpPr>
        <p:spPr>
          <a:xfrm>
            <a:off x="225900" y="733350"/>
            <a:ext cx="8692200" cy="4293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702" name="Google Shape;702;p48"/>
          <p:cNvGraphicFramePr/>
          <p:nvPr/>
        </p:nvGraphicFramePr>
        <p:xfrm>
          <a:off x="363963" y="836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{88C05641-6689-463D-B8B3-EEC80B338015}</a:tableStyleId>
              </a:tblPr>
              <a:tblGrid>
                <a:gridCol w="114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항목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rgbClr val="1B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5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Recipe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5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 b="1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센서 정밀도 Calibration 이상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5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E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300" b="1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Wafer Chuck 이상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5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E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200" b="1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Rough Grinding 시 연삭조건 과다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03" name="Google Shape;703;p48"/>
          <p:cNvGraphicFramePr/>
          <p:nvPr/>
        </p:nvGraphicFramePr>
        <p:xfrm>
          <a:off x="1638038" y="83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{88C05641-6689-463D-B8B3-EEC80B338015}</a:tableStyleId>
              </a:tblPr>
              <a:tblGrid>
                <a:gridCol w="229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6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단기 개선안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rgbClr val="1B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Recipe set - Actual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교차 검증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센서 Calibration 실시 및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 여부 점검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Chuck 이물, 평탄도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점검 및 세정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Rough Grinding 주요 Parameter 점검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Feed Rate/RPM/가공압력 이상 여부 확인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04" name="Google Shape;704;p48"/>
          <p:cNvGraphicFramePr/>
          <p:nvPr/>
        </p:nvGraphicFramePr>
        <p:xfrm>
          <a:off x="4060363" y="836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{88C05641-6689-463D-B8B3-EEC80B338015}</a:tableStyleId>
              </a:tblPr>
              <a:tblGrid>
                <a:gridCol w="229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중기 개선안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 - Actual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허용 편차 기준 설정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Calibration 주기 및 허용오차 기준 설정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Chuck 평탄도 및 Vacuum 관리 기준 설정 및 PM 주기 최적화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5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Rough Grinding 조건별 TTV-Crack 영향 검증 및 최적화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05" name="Google Shape;705;p48"/>
          <p:cNvGraphicFramePr/>
          <p:nvPr/>
        </p:nvGraphicFramePr>
        <p:xfrm>
          <a:off x="6482688" y="836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{88C05641-6689-463D-B8B3-EEC80B338015}</a:tableStyleId>
              </a:tblPr>
              <a:tblGrid>
                <a:gridCol w="229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장기 개선안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rgbClr val="1B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Recipe-Actual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자동 모니터링 체계 구축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SPC 기반 이상 감지 체계 구축 - Parameter Trend/관리한계 관리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설비 Predictive Maintenance 구축 - Chuck 평탄도/ Vacuum 이상 사전 감지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SPC 기반 이상 감지 체계 구축 - Parameter Trend/관리한계 관리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06" name="Google Shape;706;p48"/>
          <p:cNvSpPr/>
          <p:nvPr/>
        </p:nvSpPr>
        <p:spPr>
          <a:xfrm>
            <a:off x="1638013" y="2137938"/>
            <a:ext cx="2297400" cy="891600"/>
          </a:xfrm>
          <a:prstGeom prst="rect">
            <a:avLst/>
          </a:prstGeom>
          <a:solidFill>
            <a:srgbClr val="E4F5F1"/>
          </a:solidFill>
          <a:ln w="1905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센서 Calibration 실시 및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이상 여부 점검</a:t>
            </a:r>
            <a:endParaRPr/>
          </a:p>
        </p:txBody>
      </p:sp>
      <p:sp>
        <p:nvSpPr>
          <p:cNvPr id="707" name="Google Shape;707;p48"/>
          <p:cNvSpPr/>
          <p:nvPr/>
        </p:nvSpPr>
        <p:spPr>
          <a:xfrm>
            <a:off x="4060338" y="1232938"/>
            <a:ext cx="2297400" cy="891600"/>
          </a:xfrm>
          <a:prstGeom prst="rect">
            <a:avLst/>
          </a:prstGeom>
          <a:solidFill>
            <a:srgbClr val="E4F5F1"/>
          </a:solidFill>
          <a:ln w="1905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- Actual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허용 편차 기준 설정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48"/>
          <p:cNvSpPr/>
          <p:nvPr/>
        </p:nvSpPr>
        <p:spPr>
          <a:xfrm>
            <a:off x="1638013" y="3042938"/>
            <a:ext cx="2297400" cy="891600"/>
          </a:xfrm>
          <a:prstGeom prst="rect">
            <a:avLst/>
          </a:prstGeom>
          <a:solidFill>
            <a:srgbClr val="E4F5F1"/>
          </a:solidFill>
          <a:ln w="1905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Chuck 이물, 평탄도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점검 및 세정</a:t>
            </a:r>
            <a:endParaRPr/>
          </a:p>
        </p:txBody>
      </p:sp>
      <p:sp>
        <p:nvSpPr>
          <p:cNvPr id="709" name="Google Shape;709;p48"/>
          <p:cNvSpPr/>
          <p:nvPr/>
        </p:nvSpPr>
        <p:spPr>
          <a:xfrm>
            <a:off x="4060338" y="3947938"/>
            <a:ext cx="2297400" cy="975300"/>
          </a:xfrm>
          <a:prstGeom prst="rect">
            <a:avLst/>
          </a:prstGeom>
          <a:solidFill>
            <a:srgbClr val="E4F5F1"/>
          </a:solidFill>
          <a:ln w="1905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Rough Grinding 조건별 TTV-Crack 영향 검증 및 최적화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49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개선안 비교 및 최적안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5" name="Google Shape;715;p49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6" name="Google Shape;716;p49"/>
          <p:cNvSpPr/>
          <p:nvPr/>
        </p:nvSpPr>
        <p:spPr>
          <a:xfrm>
            <a:off x="142625" y="780875"/>
            <a:ext cx="8860800" cy="4208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717" name="Google Shape;717;p49"/>
          <p:cNvGraphicFramePr/>
          <p:nvPr/>
        </p:nvGraphicFramePr>
        <p:xfrm>
          <a:off x="230238" y="8800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{88C05641-6689-463D-B8B3-EEC80B338015}</a:tableStyleId>
              </a:tblPr>
              <a:tblGrid>
                <a:gridCol w="87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3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항목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효과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리스크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적용 난이도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비용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18" name="Google Shape;718;p49"/>
          <p:cNvGraphicFramePr/>
          <p:nvPr/>
        </p:nvGraphicFramePr>
        <p:xfrm>
          <a:off x="1203549" y="8800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{88C05641-6689-463D-B8B3-EEC80B338015}</a:tableStyleId>
              </a:tblPr>
              <a:tblGrid>
                <a:gridCol w="185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3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Recipe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기준 재정립으로 인한 공정 조건 안정화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관리 강화에 따른 공정 유연성 저하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기존 Parameter 비교로 적용 용이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기존 데이터 활용으로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추가 비용 낮음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19" name="Google Shape;719;p49"/>
          <p:cNvGraphicFramePr/>
          <p:nvPr/>
        </p:nvGraphicFramePr>
        <p:xfrm>
          <a:off x="3156632" y="8800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{88C05641-6689-463D-B8B3-EEC80B338015}</a:tableStyleId>
              </a:tblPr>
              <a:tblGrid>
                <a:gridCol w="185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3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Sensor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측정 신뢰성 확보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Calibration 중 측정/설비 사용 제한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Calibration 절차 활용으로 적용 용이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Calibration 및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정기 점검 비용 발생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20" name="Google Shape;720;p49"/>
          <p:cNvGraphicFramePr/>
          <p:nvPr/>
        </p:nvGraphicFramePr>
        <p:xfrm>
          <a:off x="5109694" y="8749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{88C05641-6689-463D-B8B3-EEC80B338015}</a:tableStyleId>
              </a:tblPr>
              <a:tblGrid>
                <a:gridCol w="185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3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Chuck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국부 응력 저감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점검/정비 중 설비 가동 제한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평탄도/Vacuum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점검 및 관리기준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설정 필요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세정/점검/부품 교체 비용 발생 가능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21" name="Google Shape;721;p49"/>
          <p:cNvGraphicFramePr/>
          <p:nvPr/>
        </p:nvGraphicFramePr>
        <p:xfrm>
          <a:off x="7062764" y="8800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{88C05641-6689-463D-B8B3-EEC80B338015}</a:tableStyleId>
              </a:tblPr>
              <a:tblGrid>
                <a:gridCol w="185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3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Rough Grinding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Crack 발생 저감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조건 변경 시 TTV/생산성/품질 변동 가능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조건별 영향 검증 및 DOE 필요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 및 공정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검증에 따른 시간과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Wafer 비용 발생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50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 계획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7" name="Google Shape;727;p50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8" name="Google Shape;728;p50"/>
          <p:cNvSpPr/>
          <p:nvPr/>
        </p:nvSpPr>
        <p:spPr>
          <a:xfrm>
            <a:off x="90300" y="876752"/>
            <a:ext cx="8963400" cy="38016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0550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000" tIns="76000" rIns="76000" bIns="7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63"/>
          </a:p>
        </p:txBody>
      </p:sp>
      <p:sp>
        <p:nvSpPr>
          <p:cNvPr id="729" name="Google Shape;729;p50"/>
          <p:cNvSpPr/>
          <p:nvPr/>
        </p:nvSpPr>
        <p:spPr>
          <a:xfrm>
            <a:off x="90300" y="876752"/>
            <a:ext cx="8963400" cy="422400"/>
          </a:xfrm>
          <a:prstGeom prst="rect">
            <a:avLst/>
          </a:prstGeom>
          <a:solidFill>
            <a:srgbClr val="1F456B"/>
          </a:solidFill>
          <a:ln w="10550" cap="flat" cmpd="sng">
            <a:solidFill>
              <a:srgbClr val="1F45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000" tIns="76000" rIns="76000" bIns="7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63"/>
          </a:p>
        </p:txBody>
      </p:sp>
      <p:sp>
        <p:nvSpPr>
          <p:cNvPr id="730" name="Google Shape;730;p50"/>
          <p:cNvSpPr/>
          <p:nvPr/>
        </p:nvSpPr>
        <p:spPr>
          <a:xfrm>
            <a:off x="153650" y="876766"/>
            <a:ext cx="10926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00" tIns="38000" rIns="76000" bIns="3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98" b="1">
                <a:solidFill>
                  <a:srgbClr val="FFFFFF"/>
                </a:solidFill>
              </a:rPr>
              <a:t>항목</a:t>
            </a:r>
            <a:endParaRPr sz="1630"/>
          </a:p>
        </p:txBody>
      </p:sp>
      <p:sp>
        <p:nvSpPr>
          <p:cNvPr id="731" name="Google Shape;731;p50"/>
          <p:cNvSpPr/>
          <p:nvPr/>
        </p:nvSpPr>
        <p:spPr>
          <a:xfrm>
            <a:off x="1373031" y="876766"/>
            <a:ext cx="10770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00" tIns="38000" rIns="76000" bIns="3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98" b="1">
                <a:solidFill>
                  <a:srgbClr val="FFFFFF"/>
                </a:solidFill>
              </a:rPr>
              <a:t>현재 문제</a:t>
            </a:r>
            <a:endParaRPr sz="1630"/>
          </a:p>
        </p:txBody>
      </p:sp>
      <p:sp>
        <p:nvSpPr>
          <p:cNvPr id="732" name="Google Shape;732;p50"/>
          <p:cNvSpPr/>
          <p:nvPr/>
        </p:nvSpPr>
        <p:spPr>
          <a:xfrm>
            <a:off x="2576575" y="876766"/>
            <a:ext cx="13776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00" tIns="38000" rIns="76000" bIns="3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98" b="1">
                <a:solidFill>
                  <a:srgbClr val="FFFFFF"/>
                </a:solidFill>
              </a:rPr>
              <a:t>원인</a:t>
            </a:r>
            <a:endParaRPr sz="1630"/>
          </a:p>
        </p:txBody>
      </p:sp>
      <p:sp>
        <p:nvSpPr>
          <p:cNvPr id="733" name="Google Shape;733;p50"/>
          <p:cNvSpPr/>
          <p:nvPr/>
        </p:nvSpPr>
        <p:spPr>
          <a:xfrm>
            <a:off x="4081006" y="876766"/>
            <a:ext cx="18213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00" tIns="38000" rIns="76000" bIns="3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98" b="1">
                <a:solidFill>
                  <a:srgbClr val="FFFFFF"/>
                </a:solidFill>
              </a:rPr>
              <a:t>개선안</a:t>
            </a:r>
            <a:endParaRPr sz="1630"/>
          </a:p>
        </p:txBody>
      </p:sp>
      <p:sp>
        <p:nvSpPr>
          <p:cNvPr id="734" name="Google Shape;734;p50"/>
          <p:cNvSpPr/>
          <p:nvPr/>
        </p:nvSpPr>
        <p:spPr>
          <a:xfrm>
            <a:off x="6028847" y="876766"/>
            <a:ext cx="16944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00" tIns="38000" rIns="76000" bIns="3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98" b="1">
                <a:solidFill>
                  <a:srgbClr val="FFFFFF"/>
                </a:solidFill>
              </a:rPr>
              <a:t>기대효과</a:t>
            </a:r>
            <a:endParaRPr sz="1630"/>
          </a:p>
        </p:txBody>
      </p:sp>
      <p:sp>
        <p:nvSpPr>
          <p:cNvPr id="735" name="Google Shape;735;p50"/>
          <p:cNvSpPr/>
          <p:nvPr/>
        </p:nvSpPr>
        <p:spPr>
          <a:xfrm>
            <a:off x="7850000" y="876766"/>
            <a:ext cx="11403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00" tIns="38000" rIns="76000" bIns="3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98" b="1">
                <a:solidFill>
                  <a:srgbClr val="FFFFFF"/>
                </a:solidFill>
              </a:rPr>
              <a:t>담당/일정</a:t>
            </a:r>
            <a:endParaRPr sz="1630"/>
          </a:p>
        </p:txBody>
      </p:sp>
      <p:sp>
        <p:nvSpPr>
          <p:cNvPr id="736" name="Google Shape;736;p50"/>
          <p:cNvSpPr/>
          <p:nvPr/>
        </p:nvSpPr>
        <p:spPr>
          <a:xfrm>
            <a:off x="90300" y="1299145"/>
            <a:ext cx="8963400" cy="844800"/>
          </a:xfrm>
          <a:prstGeom prst="rect">
            <a:avLst/>
          </a:prstGeom>
          <a:solidFill>
            <a:srgbClr val="FFFFFF"/>
          </a:solidFill>
          <a:ln w="10550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000" tIns="76000" rIns="76000" bIns="7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63"/>
          </a:p>
        </p:txBody>
      </p:sp>
      <p:sp>
        <p:nvSpPr>
          <p:cNvPr id="737" name="Google Shape;737;p50"/>
          <p:cNvSpPr/>
          <p:nvPr/>
        </p:nvSpPr>
        <p:spPr>
          <a:xfrm>
            <a:off x="153650" y="1299133"/>
            <a:ext cx="1092600" cy="8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00" tIns="38000" rIns="76000" bIns="3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87" b="1">
                <a:solidFill>
                  <a:srgbClr val="173657"/>
                </a:solidFill>
              </a:rPr>
              <a:t>Set-Actual</a:t>
            </a:r>
            <a:endParaRPr sz="163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87" b="1">
                <a:solidFill>
                  <a:srgbClr val="173657"/>
                </a:solidFill>
              </a:rPr>
              <a:t>허용 편차</a:t>
            </a:r>
            <a:endParaRPr sz="1630"/>
          </a:p>
        </p:txBody>
      </p:sp>
      <p:sp>
        <p:nvSpPr>
          <p:cNvPr id="738" name="Google Shape;738;p50"/>
          <p:cNvSpPr/>
          <p:nvPr/>
        </p:nvSpPr>
        <p:spPr>
          <a:xfrm>
            <a:off x="1373027" y="1491141"/>
            <a:ext cx="10770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00" tIns="38000" rIns="76000" bIns="380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Crack 증가</a:t>
            </a:r>
            <a:endParaRPr sz="143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TTV 불량</a:t>
            </a:r>
            <a:endParaRPr sz="1430"/>
          </a:p>
        </p:txBody>
      </p:sp>
      <p:sp>
        <p:nvSpPr>
          <p:cNvPr id="739" name="Google Shape;739;p50"/>
          <p:cNvSpPr/>
          <p:nvPr/>
        </p:nvSpPr>
        <p:spPr>
          <a:xfrm>
            <a:off x="2576573" y="1491141"/>
            <a:ext cx="13776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00" tIns="38000" rIns="76000" bIns="380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Recipe Set-Actual</a:t>
            </a:r>
            <a:endParaRPr sz="143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편차 가능</a:t>
            </a:r>
            <a:endParaRPr sz="1430"/>
          </a:p>
        </p:txBody>
      </p:sp>
      <p:sp>
        <p:nvSpPr>
          <p:cNvPr id="740" name="Google Shape;740;p50"/>
          <p:cNvSpPr/>
          <p:nvPr/>
        </p:nvSpPr>
        <p:spPr>
          <a:xfrm>
            <a:off x="4081005" y="1414343"/>
            <a:ext cx="1821300" cy="614400"/>
          </a:xfrm>
          <a:prstGeom prst="roundRect">
            <a:avLst>
              <a:gd name="adj" fmla="val 3125"/>
            </a:avLst>
          </a:prstGeom>
          <a:solidFill>
            <a:srgbClr val="E8F7F2"/>
          </a:solidFill>
          <a:ln w="10550" cap="flat" cmpd="sng">
            <a:solidFill>
              <a:srgbClr val="F2A5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000" tIns="76000" rIns="76000" bIns="7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" sz="998" b="1">
                <a:solidFill>
                  <a:srgbClr val="173657"/>
                </a:solidFill>
              </a:rPr>
              <a:t>주요 Parameter별</a:t>
            </a:r>
            <a:endParaRPr sz="133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98" b="1">
                <a:solidFill>
                  <a:srgbClr val="173657"/>
                </a:solidFill>
              </a:rPr>
              <a:t>Set-Actual 허용 편차 </a:t>
            </a:r>
            <a:endParaRPr sz="998" b="1">
              <a:solidFill>
                <a:srgbClr val="173657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" sz="998" b="1">
                <a:solidFill>
                  <a:srgbClr val="173657"/>
                </a:solidFill>
              </a:rPr>
              <a:t>기준 설정</a:t>
            </a:r>
            <a:endParaRPr sz="1330">
              <a:solidFill>
                <a:schemeClr val="dk1"/>
              </a:solidFill>
            </a:endParaRPr>
          </a:p>
        </p:txBody>
      </p:sp>
      <p:sp>
        <p:nvSpPr>
          <p:cNvPr id="741" name="Google Shape;741;p50"/>
          <p:cNvSpPr/>
          <p:nvPr/>
        </p:nvSpPr>
        <p:spPr>
          <a:xfrm>
            <a:off x="6028849" y="1491141"/>
            <a:ext cx="16944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00" tIns="38000" rIns="76000" bIns="380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공정조건 안정화</a:t>
            </a:r>
            <a:endParaRPr sz="143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→ Crack/TTV 감소</a:t>
            </a:r>
            <a:endParaRPr sz="1430"/>
          </a:p>
        </p:txBody>
      </p:sp>
      <p:sp>
        <p:nvSpPr>
          <p:cNvPr id="742" name="Google Shape;742;p50"/>
          <p:cNvSpPr/>
          <p:nvPr/>
        </p:nvSpPr>
        <p:spPr>
          <a:xfrm>
            <a:off x="7850000" y="1299133"/>
            <a:ext cx="1140300" cy="8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00" tIns="38000" rIns="76000" bIns="3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김OO프로</a:t>
            </a:r>
            <a:endParaRPr sz="143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3주</a:t>
            </a:r>
            <a:endParaRPr sz="1430"/>
          </a:p>
        </p:txBody>
      </p:sp>
      <p:sp>
        <p:nvSpPr>
          <p:cNvPr id="743" name="Google Shape;743;p50"/>
          <p:cNvSpPr/>
          <p:nvPr/>
        </p:nvSpPr>
        <p:spPr>
          <a:xfrm>
            <a:off x="90300" y="2143929"/>
            <a:ext cx="8963400" cy="844800"/>
          </a:xfrm>
          <a:prstGeom prst="rect">
            <a:avLst/>
          </a:prstGeom>
          <a:solidFill>
            <a:srgbClr val="F7FAFC"/>
          </a:solidFill>
          <a:ln w="10550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000" tIns="76000" rIns="76000" bIns="7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63"/>
          </a:p>
        </p:txBody>
      </p:sp>
      <p:sp>
        <p:nvSpPr>
          <p:cNvPr id="744" name="Google Shape;744;p50"/>
          <p:cNvSpPr/>
          <p:nvPr/>
        </p:nvSpPr>
        <p:spPr>
          <a:xfrm>
            <a:off x="153650" y="2143930"/>
            <a:ext cx="1092600" cy="8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00" tIns="38000" rIns="76000" bIns="3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87" b="1">
                <a:solidFill>
                  <a:srgbClr val="173657"/>
                </a:solidFill>
              </a:rPr>
              <a:t>Sensor</a:t>
            </a:r>
            <a:endParaRPr sz="163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87" b="1">
                <a:solidFill>
                  <a:srgbClr val="173657"/>
                </a:solidFill>
              </a:rPr>
              <a:t>Calibration</a:t>
            </a:r>
            <a:endParaRPr sz="1630"/>
          </a:p>
        </p:txBody>
      </p:sp>
      <p:sp>
        <p:nvSpPr>
          <p:cNvPr id="745" name="Google Shape;745;p50"/>
          <p:cNvSpPr/>
          <p:nvPr/>
        </p:nvSpPr>
        <p:spPr>
          <a:xfrm>
            <a:off x="1373027" y="2335926"/>
            <a:ext cx="10770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00" tIns="38000" rIns="76000" bIns="380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TTV 측정 이상</a:t>
            </a:r>
            <a:endParaRPr sz="1430"/>
          </a:p>
        </p:txBody>
      </p:sp>
      <p:sp>
        <p:nvSpPr>
          <p:cNvPr id="746" name="Google Shape;746;p50"/>
          <p:cNvSpPr/>
          <p:nvPr/>
        </p:nvSpPr>
        <p:spPr>
          <a:xfrm>
            <a:off x="2576573" y="2335926"/>
            <a:ext cx="13776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00" tIns="38000" rIns="76000" bIns="380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Sensor Calibration</a:t>
            </a:r>
            <a:endParaRPr sz="143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이상/Drift 가능</a:t>
            </a:r>
            <a:endParaRPr sz="1430"/>
          </a:p>
        </p:txBody>
      </p:sp>
      <p:sp>
        <p:nvSpPr>
          <p:cNvPr id="747" name="Google Shape;747;p50"/>
          <p:cNvSpPr/>
          <p:nvPr/>
        </p:nvSpPr>
        <p:spPr>
          <a:xfrm>
            <a:off x="4081005" y="2259127"/>
            <a:ext cx="1821300" cy="614400"/>
          </a:xfrm>
          <a:prstGeom prst="roundRect">
            <a:avLst>
              <a:gd name="adj" fmla="val 3125"/>
            </a:avLst>
          </a:prstGeom>
          <a:solidFill>
            <a:srgbClr val="E8F7F2"/>
          </a:solidFill>
          <a:ln w="10550" cap="flat" cmpd="sng">
            <a:solidFill>
              <a:srgbClr val="2C79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000" tIns="76000" rIns="76000" bIns="7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" sz="998" b="1">
                <a:solidFill>
                  <a:srgbClr val="173657"/>
                </a:solidFill>
              </a:rPr>
              <a:t>Sensor Calibration</a:t>
            </a:r>
            <a:endParaRPr sz="133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" sz="998" b="1">
                <a:solidFill>
                  <a:srgbClr val="173657"/>
                </a:solidFill>
              </a:rPr>
              <a:t>및 측정값 교차검증</a:t>
            </a:r>
            <a:endParaRPr sz="1330">
              <a:solidFill>
                <a:schemeClr val="dk1"/>
              </a:solidFill>
            </a:endParaRPr>
          </a:p>
        </p:txBody>
      </p:sp>
      <p:sp>
        <p:nvSpPr>
          <p:cNvPr id="748" name="Google Shape;748;p50"/>
          <p:cNvSpPr/>
          <p:nvPr/>
        </p:nvSpPr>
        <p:spPr>
          <a:xfrm>
            <a:off x="6028849" y="2335926"/>
            <a:ext cx="16944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00" tIns="38000" rIns="76000" bIns="380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측정 신뢰성 확보</a:t>
            </a:r>
            <a:endParaRPr sz="143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→ TTV 오판 방지</a:t>
            </a:r>
            <a:endParaRPr sz="1430"/>
          </a:p>
        </p:txBody>
      </p:sp>
      <p:sp>
        <p:nvSpPr>
          <p:cNvPr id="749" name="Google Shape;749;p50"/>
          <p:cNvSpPr/>
          <p:nvPr/>
        </p:nvSpPr>
        <p:spPr>
          <a:xfrm>
            <a:off x="7850000" y="2144233"/>
            <a:ext cx="1140300" cy="8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00" tIns="38000" rIns="76000" bIns="3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성OO프로</a:t>
            </a:r>
            <a:endParaRPr sz="143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즉시</a:t>
            </a:r>
            <a:endParaRPr sz="1430"/>
          </a:p>
        </p:txBody>
      </p:sp>
      <p:sp>
        <p:nvSpPr>
          <p:cNvPr id="750" name="Google Shape;750;p50"/>
          <p:cNvSpPr/>
          <p:nvPr/>
        </p:nvSpPr>
        <p:spPr>
          <a:xfrm>
            <a:off x="90300" y="2988714"/>
            <a:ext cx="8963400" cy="844800"/>
          </a:xfrm>
          <a:prstGeom prst="rect">
            <a:avLst/>
          </a:prstGeom>
          <a:solidFill>
            <a:srgbClr val="FFFFFF"/>
          </a:solidFill>
          <a:ln w="10550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000" tIns="76000" rIns="76000" bIns="7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63"/>
          </a:p>
        </p:txBody>
      </p:sp>
      <p:sp>
        <p:nvSpPr>
          <p:cNvPr id="751" name="Google Shape;751;p50"/>
          <p:cNvSpPr/>
          <p:nvPr/>
        </p:nvSpPr>
        <p:spPr>
          <a:xfrm>
            <a:off x="153650" y="2988845"/>
            <a:ext cx="1092600" cy="8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00" tIns="38000" rIns="76000" bIns="3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87" b="1">
                <a:solidFill>
                  <a:srgbClr val="173657"/>
                </a:solidFill>
              </a:rPr>
              <a:t>Wafer Chuck</a:t>
            </a:r>
            <a:endParaRPr sz="163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87" b="1">
                <a:solidFill>
                  <a:srgbClr val="173657"/>
                </a:solidFill>
              </a:rPr>
              <a:t>상태 점검</a:t>
            </a:r>
            <a:endParaRPr sz="1630"/>
          </a:p>
        </p:txBody>
      </p:sp>
      <p:sp>
        <p:nvSpPr>
          <p:cNvPr id="752" name="Google Shape;752;p50"/>
          <p:cNvSpPr/>
          <p:nvPr/>
        </p:nvSpPr>
        <p:spPr>
          <a:xfrm>
            <a:off x="1373027" y="3180711"/>
            <a:ext cx="10770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00" tIns="38000" rIns="76000" bIns="380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TTV 불량</a:t>
            </a:r>
            <a:endParaRPr sz="143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Scratch 증가</a:t>
            </a:r>
            <a:endParaRPr sz="1430"/>
          </a:p>
        </p:txBody>
      </p:sp>
      <p:sp>
        <p:nvSpPr>
          <p:cNvPr id="753" name="Google Shape;753;p50"/>
          <p:cNvSpPr/>
          <p:nvPr/>
        </p:nvSpPr>
        <p:spPr>
          <a:xfrm>
            <a:off x="2576573" y="3180711"/>
            <a:ext cx="13776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00" tIns="38000" rIns="76000" bIns="380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Chuck 이물·평탄도</a:t>
            </a:r>
            <a:endParaRPr sz="143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Vacuum 이상 가능</a:t>
            </a:r>
            <a:endParaRPr sz="1430"/>
          </a:p>
        </p:txBody>
      </p:sp>
      <p:sp>
        <p:nvSpPr>
          <p:cNvPr id="754" name="Google Shape;754;p50"/>
          <p:cNvSpPr/>
          <p:nvPr/>
        </p:nvSpPr>
        <p:spPr>
          <a:xfrm>
            <a:off x="4081005" y="3103912"/>
            <a:ext cx="1821300" cy="614400"/>
          </a:xfrm>
          <a:prstGeom prst="roundRect">
            <a:avLst>
              <a:gd name="adj" fmla="val 3125"/>
            </a:avLst>
          </a:prstGeom>
          <a:solidFill>
            <a:srgbClr val="E8F7F2"/>
          </a:solidFill>
          <a:ln w="10550" cap="flat" cmpd="sng">
            <a:solidFill>
              <a:srgbClr val="19C7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000" tIns="76000" rIns="76000" bIns="7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" sz="998" b="1">
                <a:solidFill>
                  <a:srgbClr val="173657"/>
                </a:solidFill>
              </a:rPr>
              <a:t>Chuck 세정 및</a:t>
            </a:r>
            <a:endParaRPr sz="133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" sz="998" b="1">
                <a:solidFill>
                  <a:srgbClr val="173657"/>
                </a:solidFill>
              </a:rPr>
              <a:t>평탄도/Vacuum 상태 점검</a:t>
            </a:r>
            <a:endParaRPr sz="1330">
              <a:solidFill>
                <a:schemeClr val="dk1"/>
              </a:solidFill>
            </a:endParaRPr>
          </a:p>
        </p:txBody>
      </p:sp>
      <p:sp>
        <p:nvSpPr>
          <p:cNvPr id="755" name="Google Shape;755;p50"/>
          <p:cNvSpPr/>
          <p:nvPr/>
        </p:nvSpPr>
        <p:spPr>
          <a:xfrm>
            <a:off x="6028849" y="3180711"/>
            <a:ext cx="16944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00" tIns="38000" rIns="76000" bIns="380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Wafer 지지 안정화</a:t>
            </a:r>
            <a:endParaRPr sz="143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→ TTV/Scratch 개선</a:t>
            </a:r>
            <a:endParaRPr sz="1430"/>
          </a:p>
        </p:txBody>
      </p:sp>
      <p:sp>
        <p:nvSpPr>
          <p:cNvPr id="756" name="Google Shape;756;p50"/>
          <p:cNvSpPr/>
          <p:nvPr/>
        </p:nvSpPr>
        <p:spPr>
          <a:xfrm>
            <a:off x="7850000" y="2989027"/>
            <a:ext cx="1140300" cy="8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00" tIns="38000" rIns="76000" bIns="3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정OO프로</a:t>
            </a:r>
            <a:endParaRPr sz="143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즉시</a:t>
            </a:r>
            <a:endParaRPr sz="1430"/>
          </a:p>
        </p:txBody>
      </p:sp>
      <p:sp>
        <p:nvSpPr>
          <p:cNvPr id="757" name="Google Shape;757;p50"/>
          <p:cNvSpPr/>
          <p:nvPr/>
        </p:nvSpPr>
        <p:spPr>
          <a:xfrm>
            <a:off x="90300" y="3833499"/>
            <a:ext cx="8963400" cy="844800"/>
          </a:xfrm>
          <a:prstGeom prst="rect">
            <a:avLst/>
          </a:prstGeom>
          <a:solidFill>
            <a:srgbClr val="F7FAFC"/>
          </a:solidFill>
          <a:ln w="10550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000" tIns="76000" rIns="76000" bIns="7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63"/>
          </a:p>
        </p:txBody>
      </p:sp>
      <p:sp>
        <p:nvSpPr>
          <p:cNvPr id="758" name="Google Shape;758;p50"/>
          <p:cNvSpPr/>
          <p:nvPr/>
        </p:nvSpPr>
        <p:spPr>
          <a:xfrm>
            <a:off x="153650" y="3833761"/>
            <a:ext cx="1092600" cy="8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00" tIns="38000" rIns="76000" bIns="3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87" b="1">
                <a:solidFill>
                  <a:srgbClr val="173657"/>
                </a:solidFill>
              </a:rPr>
              <a:t>Rough Grinding</a:t>
            </a:r>
            <a:endParaRPr sz="163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87" b="1">
                <a:solidFill>
                  <a:srgbClr val="173657"/>
                </a:solidFill>
              </a:rPr>
              <a:t>조건 최적화</a:t>
            </a:r>
            <a:endParaRPr sz="1630"/>
          </a:p>
        </p:txBody>
      </p:sp>
      <p:sp>
        <p:nvSpPr>
          <p:cNvPr id="759" name="Google Shape;759;p50"/>
          <p:cNvSpPr/>
          <p:nvPr/>
        </p:nvSpPr>
        <p:spPr>
          <a:xfrm>
            <a:off x="1373027" y="4025495"/>
            <a:ext cx="10770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00" tIns="38000" rIns="76000" bIns="380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Crack 증가</a:t>
            </a:r>
            <a:endParaRPr sz="143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TTV 불량</a:t>
            </a:r>
            <a:endParaRPr sz="1430"/>
          </a:p>
        </p:txBody>
      </p:sp>
      <p:sp>
        <p:nvSpPr>
          <p:cNvPr id="760" name="Google Shape;760;p50"/>
          <p:cNvSpPr/>
          <p:nvPr/>
        </p:nvSpPr>
        <p:spPr>
          <a:xfrm>
            <a:off x="2576573" y="4025495"/>
            <a:ext cx="13776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00" tIns="38000" rIns="76000" bIns="380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연삭 조건에 따른</a:t>
            </a:r>
            <a:endParaRPr sz="143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불균일/과도 하중 가능</a:t>
            </a:r>
            <a:endParaRPr sz="1430"/>
          </a:p>
        </p:txBody>
      </p:sp>
      <p:sp>
        <p:nvSpPr>
          <p:cNvPr id="761" name="Google Shape;761;p50"/>
          <p:cNvSpPr/>
          <p:nvPr/>
        </p:nvSpPr>
        <p:spPr>
          <a:xfrm>
            <a:off x="4081005" y="3948697"/>
            <a:ext cx="1821300" cy="614400"/>
          </a:xfrm>
          <a:prstGeom prst="roundRect">
            <a:avLst>
              <a:gd name="adj" fmla="val 3125"/>
            </a:avLst>
          </a:prstGeom>
          <a:solidFill>
            <a:srgbClr val="E8F7F2"/>
          </a:solidFill>
          <a:ln w="10550" cap="flat" cmpd="sng">
            <a:solidFill>
              <a:srgbClr val="B313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000" tIns="76000" rIns="76000" bIns="7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" sz="998" b="1">
                <a:solidFill>
                  <a:srgbClr val="173657"/>
                </a:solidFill>
              </a:rPr>
              <a:t>Feed Rate/RPM/압력별</a:t>
            </a:r>
            <a:endParaRPr sz="133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" sz="998" b="1">
                <a:solidFill>
                  <a:srgbClr val="173657"/>
                </a:solidFill>
              </a:rPr>
              <a:t>영향 검증 및 최적화</a:t>
            </a:r>
            <a:endParaRPr sz="1330">
              <a:solidFill>
                <a:schemeClr val="dk1"/>
              </a:solidFill>
            </a:endParaRPr>
          </a:p>
        </p:txBody>
      </p:sp>
      <p:sp>
        <p:nvSpPr>
          <p:cNvPr id="762" name="Google Shape;762;p50"/>
          <p:cNvSpPr/>
          <p:nvPr/>
        </p:nvSpPr>
        <p:spPr>
          <a:xfrm>
            <a:off x="6028849" y="4025495"/>
            <a:ext cx="16944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00" tIns="38000" rIns="76000" bIns="380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TTV 안정화 및</a:t>
            </a:r>
            <a:endParaRPr sz="143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Crack 감소</a:t>
            </a:r>
            <a:endParaRPr sz="1430"/>
          </a:p>
        </p:txBody>
      </p:sp>
      <p:sp>
        <p:nvSpPr>
          <p:cNvPr id="763" name="Google Shape;763;p50"/>
          <p:cNvSpPr/>
          <p:nvPr/>
        </p:nvSpPr>
        <p:spPr>
          <a:xfrm>
            <a:off x="7850000" y="3833761"/>
            <a:ext cx="1140300" cy="8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00" tIns="38000" rIns="76000" bIns="3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한OO프로</a:t>
            </a:r>
            <a:endParaRPr sz="143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이OO프로</a:t>
            </a:r>
            <a:endParaRPr sz="143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98" b="0">
                <a:solidFill>
                  <a:srgbClr val="173657"/>
                </a:solidFill>
              </a:rPr>
              <a:t>1개월</a:t>
            </a:r>
            <a:endParaRPr sz="143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8" name="Google Shape;768;p51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9" name="Google Shape;769;p51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구체적 실행 계획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51"/>
          <p:cNvSpPr/>
          <p:nvPr/>
        </p:nvSpPr>
        <p:spPr>
          <a:xfrm>
            <a:off x="228150" y="687550"/>
            <a:ext cx="8692200" cy="4390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771" name="Google Shape;771;p51"/>
          <p:cNvGraphicFramePr/>
          <p:nvPr/>
        </p:nvGraphicFramePr>
        <p:xfrm>
          <a:off x="380436" y="7539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{47F2066A-027F-443B-B902-C019AB88E0B3}</a:tableStyleId>
              </a:tblPr>
              <a:tblGrid>
                <a:gridCol w="115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82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6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7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5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개선</a:t>
                      </a:r>
                      <a:r>
                        <a:rPr lang="ko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안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750" marR="68750" marT="34300" marB="343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담당자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750" marR="68750" marT="34300" marB="343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일정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750" marR="68750" marT="34300" marB="343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검증 항목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750" marR="68750" marT="34300" marB="343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완료 기준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750" marR="68750" marT="34300" marB="343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Follow-up Plan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750" marR="68750" marT="34300" marB="343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5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200" b="1" u="none" strike="noStrike" cap="none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① Rough Grinding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5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200" b="1" u="none" strike="noStrike" cap="none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조건 최적화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0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한OO프로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0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이OO프로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b="1" u="none" strike="noStrike" cap="non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~09.10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b="1" u="none" strike="noStrike" cap="non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(30일)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주요 Parameter별 Crack·TTV 영향 검증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- Feed Rate (100%, 105%, 110%)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- RPM (100%, 105%, 110%)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- 가공압력 (100%, 95%, 90%)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단계별 조정 → Crack·TTV 변화 측정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Crack·TTV Spec 동시 만족 조건 확보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</a:t>
                      </a: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Crack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&lt; 3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</a:t>
                      </a: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TTV &lt; 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um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도출 조건 Recipe 반영·표준화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 양산 적용 후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Trend 모니터링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5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200" b="1" u="none" strike="noStrike" cap="none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② Recipe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5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200" b="1" u="none" strike="noStrike" cap="none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Set-Actual 기준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0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김OO프로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b="1" u="none" strike="noStrike" cap="non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~08.31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b="1" u="none" strike="noStrike" cap="non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(3주)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주요 Parameter </a:t>
                      </a: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Set값 vs Actual 값 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측정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정상/불량군 간 Parameter 편차 비교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Crack·TTV와 Parameter 영향 관계 분석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품질 영향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Parameter 식별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Parameter별 허용 편차 기준 수립 및 시스템 등록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편차 초과 시 알람·인터록 연계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 주기적 기준 재검토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8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5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200" b="1" u="none" strike="noStrike" cap="none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③ Wafer Chuck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5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200" b="1" u="none" strike="noStrike" cap="none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 점검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0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정OO프로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b="1" u="none" strike="noStrike" cap="non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~08.13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</a:t>
                      </a: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Chuck 표면 이물·평탄도 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점검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</a:t>
                      </a: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Vacuum 흡착압 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확인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</a:t>
                      </a: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세정 전후 TTV·Scratch 비교</a:t>
                      </a:r>
                      <a:endParaRPr sz="1200" u="none" strike="noStrike" cap="none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Chuck 위치와 Wafer 이상 위치 Mapping 비교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Chuck 평탄도· Vacuum 관리 기준 만족 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세정 전 대비 TTV/Scratch 개선 확인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정기 세정·점검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주기 표준화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 열화 시 재가공/</a:t>
                      </a:r>
                      <a:endParaRPr sz="1200" u="none" strike="noStrike" cap="none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교체 기준 운영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8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5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200" b="1" u="none" strike="noStrike" cap="none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④ Sensor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5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200" b="1" u="none" strike="noStrike" cap="none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Calibration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0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성OO프로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b="1" u="none" strike="noStrike" cap="non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~08.13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</a:t>
                      </a: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In-line 두께 계측기 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Calibration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Reference Wafer·기준 계측기와 측정값 비교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</a:t>
                      </a: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교정 전후 측정값 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편차 비교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TTV 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측정 오차</a:t>
                      </a: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검증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Reference 대비 측정편차 규격 만족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반복 측정 시 Repeatability 확보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교정 주기 표준 수립 → 이상 시 재교정·계측기 이중화 검토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6" name="Google Shape;776;p52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7" name="Google Shape;777;p52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구체적 실행 계획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8" name="Google Shape;778;p5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012" y="738225"/>
            <a:ext cx="9005976" cy="406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53"/>
          <p:cNvSpPr/>
          <p:nvPr/>
        </p:nvSpPr>
        <p:spPr>
          <a:xfrm>
            <a:off x="400050" y="271463"/>
            <a:ext cx="2143125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2C79B7"/>
                </a:solidFill>
              </a:rPr>
              <a:t>BG 개선안 / 실행계획</a:t>
            </a:r>
            <a:endParaRPr sz="1100"/>
          </a:p>
        </p:txBody>
      </p:sp>
      <p:sp>
        <p:nvSpPr>
          <p:cNvPr id="785" name="Google Shape;785;p53"/>
          <p:cNvSpPr/>
          <p:nvPr/>
        </p:nvSpPr>
        <p:spPr>
          <a:xfrm>
            <a:off x="400050" y="528638"/>
            <a:ext cx="65722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>
                <a:solidFill>
                  <a:srgbClr val="173657"/>
                </a:solidFill>
              </a:rPr>
              <a:t>실행계획은 4개 Action의 순서와 검증지표만 남긴다</a:t>
            </a:r>
            <a:endParaRPr sz="1100"/>
          </a:p>
        </p:txBody>
      </p:sp>
      <p:sp>
        <p:nvSpPr>
          <p:cNvPr id="786" name="Google Shape;786;p53"/>
          <p:cNvSpPr/>
          <p:nvPr/>
        </p:nvSpPr>
        <p:spPr>
          <a:xfrm>
            <a:off x="400050" y="885825"/>
            <a:ext cx="7715250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>
                <a:solidFill>
                  <a:srgbClr val="6A7280"/>
                </a:solidFill>
              </a:rPr>
              <a:t>기존 표의 ‘현재 문제·원인·담당·날짜’를 압축하고, 발표에서는 실행 순서와 KPI 중심으로 설명한다.</a:t>
            </a:r>
            <a:endParaRPr sz="1100"/>
          </a:p>
        </p:txBody>
      </p:sp>
      <p:sp>
        <p:nvSpPr>
          <p:cNvPr id="787" name="Google Shape;787;p53"/>
          <p:cNvSpPr/>
          <p:nvPr/>
        </p:nvSpPr>
        <p:spPr>
          <a:xfrm>
            <a:off x="8643938" y="300038"/>
            <a:ext cx="242888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BBC9D6"/>
                </a:solidFill>
              </a:rPr>
              <a:t>22R</a:t>
            </a:r>
            <a:endParaRPr sz="1100"/>
          </a:p>
        </p:txBody>
      </p:sp>
      <p:sp>
        <p:nvSpPr>
          <p:cNvPr id="788" name="Google Shape;788;p53"/>
          <p:cNvSpPr/>
          <p:nvPr/>
        </p:nvSpPr>
        <p:spPr>
          <a:xfrm>
            <a:off x="514350" y="1428750"/>
            <a:ext cx="1943100" cy="2571750"/>
          </a:xfrm>
          <a:prstGeom prst="roundRect">
            <a:avLst>
              <a:gd name="adj" fmla="val 2941"/>
            </a:avLst>
          </a:prstGeom>
          <a:solidFill>
            <a:srgbClr val="F3F6F9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53"/>
          <p:cNvSpPr/>
          <p:nvPr/>
        </p:nvSpPr>
        <p:spPr>
          <a:xfrm>
            <a:off x="514350" y="1428750"/>
            <a:ext cx="1943100" cy="528638"/>
          </a:xfrm>
          <a:prstGeom prst="roundRect">
            <a:avLst>
              <a:gd name="adj" fmla="val 8108"/>
            </a:avLst>
          </a:prstGeom>
          <a:solidFill>
            <a:srgbClr val="1F456B"/>
          </a:solidFill>
          <a:ln w="9525" cap="flat" cmpd="sng">
            <a:solidFill>
              <a:srgbClr val="1F45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53"/>
          <p:cNvSpPr/>
          <p:nvPr/>
        </p:nvSpPr>
        <p:spPr>
          <a:xfrm>
            <a:off x="657225" y="1557338"/>
            <a:ext cx="38576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 b="1">
                <a:solidFill>
                  <a:srgbClr val="FFFFFF"/>
                </a:solidFill>
              </a:rPr>
              <a:t>01</a:t>
            </a:r>
            <a:endParaRPr sz="1100"/>
          </a:p>
        </p:txBody>
      </p:sp>
      <p:sp>
        <p:nvSpPr>
          <p:cNvPr id="791" name="Google Shape;791;p53"/>
          <p:cNvSpPr/>
          <p:nvPr/>
        </p:nvSpPr>
        <p:spPr>
          <a:xfrm>
            <a:off x="1128713" y="1621631"/>
            <a:ext cx="107156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1">
                <a:solidFill>
                  <a:srgbClr val="FFFFFF"/>
                </a:solidFill>
              </a:rPr>
              <a:t>즉시~1주</a:t>
            </a:r>
            <a:endParaRPr sz="1100"/>
          </a:p>
        </p:txBody>
      </p:sp>
      <p:sp>
        <p:nvSpPr>
          <p:cNvPr id="792" name="Google Shape;792;p53"/>
          <p:cNvSpPr/>
          <p:nvPr/>
        </p:nvSpPr>
        <p:spPr>
          <a:xfrm>
            <a:off x="514350" y="1957388"/>
            <a:ext cx="1943100" cy="57150"/>
          </a:xfrm>
          <a:prstGeom prst="rect">
            <a:avLst/>
          </a:prstGeom>
          <a:solidFill>
            <a:srgbClr val="2C79B7"/>
          </a:solidFill>
          <a:ln w="9525" cap="flat" cmpd="sng">
            <a:solidFill>
              <a:srgbClr val="2C79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53"/>
          <p:cNvSpPr/>
          <p:nvPr/>
        </p:nvSpPr>
        <p:spPr>
          <a:xfrm>
            <a:off x="685800" y="222885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173657"/>
                </a:solidFill>
              </a:rPr>
              <a:t>측정 신뢰성 확보</a:t>
            </a:r>
            <a:endParaRPr sz="1100"/>
          </a:p>
        </p:txBody>
      </p:sp>
      <p:sp>
        <p:nvSpPr>
          <p:cNvPr id="794" name="Google Shape;794;p53"/>
          <p:cNvSpPr/>
          <p:nvPr/>
        </p:nvSpPr>
        <p:spPr>
          <a:xfrm>
            <a:off x="685800" y="2614613"/>
            <a:ext cx="1600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>
                <a:solidFill>
                  <a:srgbClr val="173657"/>
                </a:solidFill>
              </a:rPr>
              <a:t>Sensor Calibration 및 측정값 교차검증</a:t>
            </a:r>
            <a:endParaRPr sz="1100"/>
          </a:p>
        </p:txBody>
      </p:sp>
      <p:sp>
        <p:nvSpPr>
          <p:cNvPr id="795" name="Google Shape;795;p53"/>
          <p:cNvSpPr/>
          <p:nvPr/>
        </p:nvSpPr>
        <p:spPr>
          <a:xfrm>
            <a:off x="685800" y="3214688"/>
            <a:ext cx="1600200" cy="528638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53"/>
          <p:cNvSpPr/>
          <p:nvPr/>
        </p:nvSpPr>
        <p:spPr>
          <a:xfrm>
            <a:off x="814388" y="3314700"/>
            <a:ext cx="7143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2C79B7"/>
                </a:solidFill>
              </a:rPr>
              <a:t>확인 KPI</a:t>
            </a:r>
            <a:endParaRPr sz="1100"/>
          </a:p>
        </p:txBody>
      </p:sp>
      <p:sp>
        <p:nvSpPr>
          <p:cNvPr id="797" name="Google Shape;797;p53"/>
          <p:cNvSpPr/>
          <p:nvPr/>
        </p:nvSpPr>
        <p:spPr>
          <a:xfrm>
            <a:off x="814388" y="3486150"/>
            <a:ext cx="13430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6A7280"/>
                </a:solidFill>
              </a:rPr>
              <a:t>TTV 측정 편차 / 센서 Drift</a:t>
            </a:r>
            <a:endParaRPr sz="1100"/>
          </a:p>
        </p:txBody>
      </p:sp>
      <p:sp>
        <p:nvSpPr>
          <p:cNvPr id="798" name="Google Shape;798;p53"/>
          <p:cNvSpPr/>
          <p:nvPr/>
        </p:nvSpPr>
        <p:spPr>
          <a:xfrm>
            <a:off x="2628900" y="1428750"/>
            <a:ext cx="1943100" cy="2571750"/>
          </a:xfrm>
          <a:prstGeom prst="roundRect">
            <a:avLst>
              <a:gd name="adj" fmla="val 2941"/>
            </a:avLst>
          </a:prstGeom>
          <a:solidFill>
            <a:srgbClr val="F3F6F9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53"/>
          <p:cNvSpPr/>
          <p:nvPr/>
        </p:nvSpPr>
        <p:spPr>
          <a:xfrm>
            <a:off x="2628900" y="1428750"/>
            <a:ext cx="1943100" cy="528638"/>
          </a:xfrm>
          <a:prstGeom prst="roundRect">
            <a:avLst>
              <a:gd name="adj" fmla="val 8108"/>
            </a:avLst>
          </a:prstGeom>
          <a:solidFill>
            <a:srgbClr val="1F456B"/>
          </a:solidFill>
          <a:ln w="9525" cap="flat" cmpd="sng">
            <a:solidFill>
              <a:srgbClr val="1F45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53"/>
          <p:cNvSpPr/>
          <p:nvPr/>
        </p:nvSpPr>
        <p:spPr>
          <a:xfrm>
            <a:off x="2771775" y="1557338"/>
            <a:ext cx="38576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 b="1">
                <a:solidFill>
                  <a:srgbClr val="FFFFFF"/>
                </a:solidFill>
              </a:rPr>
              <a:t>02</a:t>
            </a:r>
            <a:endParaRPr sz="1100"/>
          </a:p>
        </p:txBody>
      </p:sp>
      <p:sp>
        <p:nvSpPr>
          <p:cNvPr id="801" name="Google Shape;801;p53"/>
          <p:cNvSpPr/>
          <p:nvPr/>
        </p:nvSpPr>
        <p:spPr>
          <a:xfrm>
            <a:off x="3243263" y="1621631"/>
            <a:ext cx="107156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1">
                <a:solidFill>
                  <a:srgbClr val="FFFFFF"/>
                </a:solidFill>
              </a:rPr>
              <a:t>즉시~1주</a:t>
            </a:r>
            <a:endParaRPr sz="1100"/>
          </a:p>
        </p:txBody>
      </p:sp>
      <p:sp>
        <p:nvSpPr>
          <p:cNvPr id="802" name="Google Shape;802;p53"/>
          <p:cNvSpPr/>
          <p:nvPr/>
        </p:nvSpPr>
        <p:spPr>
          <a:xfrm>
            <a:off x="2628900" y="1957388"/>
            <a:ext cx="1943100" cy="57150"/>
          </a:xfrm>
          <a:prstGeom prst="rect">
            <a:avLst/>
          </a:prstGeom>
          <a:solidFill>
            <a:srgbClr val="19C7A3"/>
          </a:solidFill>
          <a:ln w="9525" cap="flat" cmpd="sng">
            <a:solidFill>
              <a:srgbClr val="19C7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53"/>
          <p:cNvSpPr/>
          <p:nvPr/>
        </p:nvSpPr>
        <p:spPr>
          <a:xfrm>
            <a:off x="2800350" y="222885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173657"/>
                </a:solidFill>
              </a:rPr>
              <a:t>Chuck 상태 안정화</a:t>
            </a:r>
            <a:endParaRPr sz="1100"/>
          </a:p>
        </p:txBody>
      </p:sp>
      <p:sp>
        <p:nvSpPr>
          <p:cNvPr id="804" name="Google Shape;804;p53"/>
          <p:cNvSpPr/>
          <p:nvPr/>
        </p:nvSpPr>
        <p:spPr>
          <a:xfrm>
            <a:off x="2800350" y="2614613"/>
            <a:ext cx="1600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>
                <a:solidFill>
                  <a:srgbClr val="173657"/>
                </a:solidFill>
              </a:rPr>
              <a:t>Chuck 세정 · 평탄도 · Vacuum 상태 점검</a:t>
            </a:r>
            <a:endParaRPr sz="1100"/>
          </a:p>
        </p:txBody>
      </p:sp>
      <p:sp>
        <p:nvSpPr>
          <p:cNvPr id="805" name="Google Shape;805;p53"/>
          <p:cNvSpPr/>
          <p:nvPr/>
        </p:nvSpPr>
        <p:spPr>
          <a:xfrm>
            <a:off x="2800350" y="3214688"/>
            <a:ext cx="1600200" cy="528638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53"/>
          <p:cNvSpPr/>
          <p:nvPr/>
        </p:nvSpPr>
        <p:spPr>
          <a:xfrm>
            <a:off x="2928938" y="3314700"/>
            <a:ext cx="7143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19C7A3"/>
                </a:solidFill>
              </a:rPr>
              <a:t>확인 KPI</a:t>
            </a:r>
            <a:endParaRPr sz="1100"/>
          </a:p>
        </p:txBody>
      </p:sp>
      <p:sp>
        <p:nvSpPr>
          <p:cNvPr id="807" name="Google Shape;807;p53"/>
          <p:cNvSpPr/>
          <p:nvPr/>
        </p:nvSpPr>
        <p:spPr>
          <a:xfrm>
            <a:off x="2928938" y="3486150"/>
            <a:ext cx="13430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6A7280"/>
                </a:solidFill>
              </a:rPr>
              <a:t>Vacuum 이상 / Chuck 이물 점검 결과</a:t>
            </a:r>
            <a:endParaRPr sz="1100"/>
          </a:p>
        </p:txBody>
      </p:sp>
      <p:sp>
        <p:nvSpPr>
          <p:cNvPr id="808" name="Google Shape;808;p53"/>
          <p:cNvSpPr/>
          <p:nvPr/>
        </p:nvSpPr>
        <p:spPr>
          <a:xfrm>
            <a:off x="4743450" y="1428750"/>
            <a:ext cx="1943100" cy="2571750"/>
          </a:xfrm>
          <a:prstGeom prst="roundRect">
            <a:avLst>
              <a:gd name="adj" fmla="val 2941"/>
            </a:avLst>
          </a:prstGeom>
          <a:solidFill>
            <a:srgbClr val="F3F6F9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53"/>
          <p:cNvSpPr/>
          <p:nvPr/>
        </p:nvSpPr>
        <p:spPr>
          <a:xfrm>
            <a:off x="4743450" y="1428750"/>
            <a:ext cx="1943100" cy="528638"/>
          </a:xfrm>
          <a:prstGeom prst="roundRect">
            <a:avLst>
              <a:gd name="adj" fmla="val 8108"/>
            </a:avLst>
          </a:prstGeom>
          <a:solidFill>
            <a:srgbClr val="1F456B"/>
          </a:solidFill>
          <a:ln w="9525" cap="flat" cmpd="sng">
            <a:solidFill>
              <a:srgbClr val="1F45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53"/>
          <p:cNvSpPr/>
          <p:nvPr/>
        </p:nvSpPr>
        <p:spPr>
          <a:xfrm>
            <a:off x="4886325" y="1557338"/>
            <a:ext cx="38576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 b="1">
                <a:solidFill>
                  <a:srgbClr val="FFFFFF"/>
                </a:solidFill>
              </a:rPr>
              <a:t>03</a:t>
            </a:r>
            <a:endParaRPr sz="1100"/>
          </a:p>
        </p:txBody>
      </p:sp>
      <p:sp>
        <p:nvSpPr>
          <p:cNvPr id="811" name="Google Shape;811;p53"/>
          <p:cNvSpPr/>
          <p:nvPr/>
        </p:nvSpPr>
        <p:spPr>
          <a:xfrm>
            <a:off x="5357813" y="1621631"/>
            <a:ext cx="107156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1">
                <a:solidFill>
                  <a:srgbClr val="FFFFFF"/>
                </a:solidFill>
              </a:rPr>
              <a:t>1~3주</a:t>
            </a:r>
            <a:endParaRPr sz="1100"/>
          </a:p>
        </p:txBody>
      </p:sp>
      <p:sp>
        <p:nvSpPr>
          <p:cNvPr id="812" name="Google Shape;812;p53"/>
          <p:cNvSpPr/>
          <p:nvPr/>
        </p:nvSpPr>
        <p:spPr>
          <a:xfrm>
            <a:off x="4743450" y="1957388"/>
            <a:ext cx="1943100" cy="57150"/>
          </a:xfrm>
          <a:prstGeom prst="rect">
            <a:avLst/>
          </a:prstGeom>
          <a:solidFill>
            <a:srgbClr val="F2A51A"/>
          </a:solidFill>
          <a:ln w="9525" cap="flat" cmpd="sng">
            <a:solidFill>
              <a:srgbClr val="F2A5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53"/>
          <p:cNvSpPr/>
          <p:nvPr/>
        </p:nvSpPr>
        <p:spPr>
          <a:xfrm>
            <a:off x="4914900" y="222885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173657"/>
                </a:solidFill>
              </a:rPr>
              <a:t>Set-Actual 기준화</a:t>
            </a:r>
            <a:endParaRPr sz="1100"/>
          </a:p>
        </p:txBody>
      </p:sp>
      <p:sp>
        <p:nvSpPr>
          <p:cNvPr id="814" name="Google Shape;814;p53"/>
          <p:cNvSpPr/>
          <p:nvPr/>
        </p:nvSpPr>
        <p:spPr>
          <a:xfrm>
            <a:off x="4914900" y="2614613"/>
            <a:ext cx="1600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>
                <a:solidFill>
                  <a:srgbClr val="173657"/>
                </a:solidFill>
              </a:rPr>
              <a:t>주요 Parameter별 허용 편차 기준 설정</a:t>
            </a:r>
            <a:endParaRPr sz="1100"/>
          </a:p>
        </p:txBody>
      </p:sp>
      <p:sp>
        <p:nvSpPr>
          <p:cNvPr id="815" name="Google Shape;815;p53"/>
          <p:cNvSpPr/>
          <p:nvPr/>
        </p:nvSpPr>
        <p:spPr>
          <a:xfrm>
            <a:off x="4914900" y="3214688"/>
            <a:ext cx="1600200" cy="528638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53"/>
          <p:cNvSpPr/>
          <p:nvPr/>
        </p:nvSpPr>
        <p:spPr>
          <a:xfrm>
            <a:off x="5043488" y="3314700"/>
            <a:ext cx="7143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F2A51A"/>
                </a:solidFill>
              </a:rPr>
              <a:t>확인 KPI</a:t>
            </a:r>
            <a:endParaRPr sz="1100"/>
          </a:p>
        </p:txBody>
      </p:sp>
      <p:sp>
        <p:nvSpPr>
          <p:cNvPr id="817" name="Google Shape;817;p53"/>
          <p:cNvSpPr/>
          <p:nvPr/>
        </p:nvSpPr>
        <p:spPr>
          <a:xfrm>
            <a:off x="5043488" y="3486150"/>
            <a:ext cx="13430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6A7280"/>
                </a:solidFill>
              </a:rPr>
              <a:t>Set-Actual 편차율 / 기준 초과 건수</a:t>
            </a:r>
            <a:endParaRPr sz="1100"/>
          </a:p>
        </p:txBody>
      </p:sp>
      <p:sp>
        <p:nvSpPr>
          <p:cNvPr id="818" name="Google Shape;818;p53"/>
          <p:cNvSpPr/>
          <p:nvPr/>
        </p:nvSpPr>
        <p:spPr>
          <a:xfrm>
            <a:off x="6858000" y="1428750"/>
            <a:ext cx="1943100" cy="2571750"/>
          </a:xfrm>
          <a:prstGeom prst="roundRect">
            <a:avLst>
              <a:gd name="adj" fmla="val 2941"/>
            </a:avLst>
          </a:prstGeom>
          <a:solidFill>
            <a:srgbClr val="F3F6F9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53"/>
          <p:cNvSpPr/>
          <p:nvPr/>
        </p:nvSpPr>
        <p:spPr>
          <a:xfrm>
            <a:off x="6858000" y="1428750"/>
            <a:ext cx="1943100" cy="528638"/>
          </a:xfrm>
          <a:prstGeom prst="roundRect">
            <a:avLst>
              <a:gd name="adj" fmla="val 8108"/>
            </a:avLst>
          </a:prstGeom>
          <a:solidFill>
            <a:srgbClr val="1F456B"/>
          </a:solidFill>
          <a:ln w="9525" cap="flat" cmpd="sng">
            <a:solidFill>
              <a:srgbClr val="1F45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53"/>
          <p:cNvSpPr/>
          <p:nvPr/>
        </p:nvSpPr>
        <p:spPr>
          <a:xfrm>
            <a:off x="7000875" y="1557338"/>
            <a:ext cx="38576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 b="1">
                <a:solidFill>
                  <a:srgbClr val="FFFFFF"/>
                </a:solidFill>
              </a:rPr>
              <a:t>04</a:t>
            </a:r>
            <a:endParaRPr sz="1100"/>
          </a:p>
        </p:txBody>
      </p:sp>
      <p:sp>
        <p:nvSpPr>
          <p:cNvPr id="821" name="Google Shape;821;p53"/>
          <p:cNvSpPr/>
          <p:nvPr/>
        </p:nvSpPr>
        <p:spPr>
          <a:xfrm>
            <a:off x="7472363" y="1621631"/>
            <a:ext cx="107156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1">
                <a:solidFill>
                  <a:srgbClr val="FFFFFF"/>
                </a:solidFill>
              </a:rPr>
              <a:t>3~4주</a:t>
            </a:r>
            <a:endParaRPr sz="1100"/>
          </a:p>
        </p:txBody>
      </p:sp>
      <p:sp>
        <p:nvSpPr>
          <p:cNvPr id="822" name="Google Shape;822;p53"/>
          <p:cNvSpPr/>
          <p:nvPr/>
        </p:nvSpPr>
        <p:spPr>
          <a:xfrm>
            <a:off x="6858000" y="1957388"/>
            <a:ext cx="1943100" cy="57150"/>
          </a:xfrm>
          <a:prstGeom prst="rect">
            <a:avLst/>
          </a:prstGeom>
          <a:solidFill>
            <a:srgbClr val="B3132E"/>
          </a:solidFill>
          <a:ln w="9525" cap="flat" cmpd="sng">
            <a:solidFill>
              <a:srgbClr val="B313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53"/>
          <p:cNvSpPr/>
          <p:nvPr/>
        </p:nvSpPr>
        <p:spPr>
          <a:xfrm>
            <a:off x="7029450" y="222885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173657"/>
                </a:solidFill>
              </a:rPr>
              <a:t>Rough 조건 최적화</a:t>
            </a:r>
            <a:endParaRPr sz="1100"/>
          </a:p>
        </p:txBody>
      </p:sp>
      <p:sp>
        <p:nvSpPr>
          <p:cNvPr id="824" name="Google Shape;824;p53"/>
          <p:cNvSpPr/>
          <p:nvPr/>
        </p:nvSpPr>
        <p:spPr>
          <a:xfrm>
            <a:off x="7029450" y="2614613"/>
            <a:ext cx="1600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>
                <a:solidFill>
                  <a:srgbClr val="173657"/>
                </a:solidFill>
              </a:rPr>
              <a:t>Feed Rate · RPM · 가공 압력별 영향 검증</a:t>
            </a:r>
            <a:endParaRPr sz="1100"/>
          </a:p>
        </p:txBody>
      </p:sp>
      <p:sp>
        <p:nvSpPr>
          <p:cNvPr id="825" name="Google Shape;825;p53"/>
          <p:cNvSpPr/>
          <p:nvPr/>
        </p:nvSpPr>
        <p:spPr>
          <a:xfrm>
            <a:off x="7029450" y="3214688"/>
            <a:ext cx="1600200" cy="528638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53"/>
          <p:cNvSpPr/>
          <p:nvPr/>
        </p:nvSpPr>
        <p:spPr>
          <a:xfrm>
            <a:off x="7158038" y="3314700"/>
            <a:ext cx="7143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B3132E"/>
                </a:solidFill>
              </a:rPr>
              <a:t>확인 KPI</a:t>
            </a:r>
            <a:endParaRPr sz="1100"/>
          </a:p>
        </p:txBody>
      </p:sp>
      <p:sp>
        <p:nvSpPr>
          <p:cNvPr id="827" name="Google Shape;827;p53"/>
          <p:cNvSpPr/>
          <p:nvPr/>
        </p:nvSpPr>
        <p:spPr>
          <a:xfrm>
            <a:off x="7158038" y="3486150"/>
            <a:ext cx="13430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6A7280"/>
                </a:solidFill>
              </a:rPr>
              <a:t>Crack NG / TTV NG / 동시 Pass</a:t>
            </a:r>
            <a:endParaRPr sz="1100"/>
          </a:p>
        </p:txBody>
      </p:sp>
      <p:sp>
        <p:nvSpPr>
          <p:cNvPr id="828" name="Google Shape;828;p53"/>
          <p:cNvSpPr/>
          <p:nvPr/>
        </p:nvSpPr>
        <p:spPr>
          <a:xfrm>
            <a:off x="2471738" y="2628900"/>
            <a:ext cx="2000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b="1">
                <a:solidFill>
                  <a:srgbClr val="9AABB8"/>
                </a:solidFill>
              </a:rPr>
              <a:t>→</a:t>
            </a:r>
            <a:endParaRPr sz="1100"/>
          </a:p>
        </p:txBody>
      </p:sp>
      <p:sp>
        <p:nvSpPr>
          <p:cNvPr id="829" name="Google Shape;829;p53"/>
          <p:cNvSpPr/>
          <p:nvPr/>
        </p:nvSpPr>
        <p:spPr>
          <a:xfrm>
            <a:off x="4586288" y="2628900"/>
            <a:ext cx="2000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b="1">
                <a:solidFill>
                  <a:srgbClr val="9AABB8"/>
                </a:solidFill>
              </a:rPr>
              <a:t>→</a:t>
            </a:r>
            <a:endParaRPr sz="1100"/>
          </a:p>
        </p:txBody>
      </p:sp>
      <p:sp>
        <p:nvSpPr>
          <p:cNvPr id="830" name="Google Shape;830;p53"/>
          <p:cNvSpPr/>
          <p:nvPr/>
        </p:nvSpPr>
        <p:spPr>
          <a:xfrm>
            <a:off x="6700838" y="2628900"/>
            <a:ext cx="2000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b="1">
                <a:solidFill>
                  <a:srgbClr val="9AABB8"/>
                </a:solidFill>
              </a:rPr>
              <a:t>→</a:t>
            </a:r>
            <a:endParaRPr sz="1100"/>
          </a:p>
        </p:txBody>
      </p:sp>
      <p:sp>
        <p:nvSpPr>
          <p:cNvPr id="831" name="Google Shape;831;p53"/>
          <p:cNvSpPr/>
          <p:nvPr/>
        </p:nvSpPr>
        <p:spPr>
          <a:xfrm>
            <a:off x="685800" y="4271963"/>
            <a:ext cx="7772400" cy="357188"/>
          </a:xfrm>
          <a:prstGeom prst="roundRect">
            <a:avLst>
              <a:gd name="adj" fmla="val 12000"/>
            </a:avLst>
          </a:prstGeom>
          <a:solidFill>
            <a:srgbClr val="E8F7F2"/>
          </a:solidFill>
          <a:ln w="9525" cap="flat" cmpd="sng">
            <a:solidFill>
              <a:srgbClr val="BDE7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53"/>
          <p:cNvSpPr/>
          <p:nvPr/>
        </p:nvSpPr>
        <p:spPr>
          <a:xfrm>
            <a:off x="871538" y="4379119"/>
            <a:ext cx="785813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1">
                <a:solidFill>
                  <a:srgbClr val="19C7A3"/>
                </a:solidFill>
              </a:rPr>
              <a:t>발표 메시지</a:t>
            </a:r>
            <a:endParaRPr sz="1100"/>
          </a:p>
        </p:txBody>
      </p:sp>
      <p:sp>
        <p:nvSpPr>
          <p:cNvPr id="833" name="Google Shape;833;p53"/>
          <p:cNvSpPr/>
          <p:nvPr/>
        </p:nvSpPr>
        <p:spPr>
          <a:xfrm>
            <a:off x="1757363" y="4371975"/>
            <a:ext cx="6286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>
                <a:solidFill>
                  <a:srgbClr val="173657"/>
                </a:solidFill>
              </a:rPr>
              <a:t>센서·Chuck으로 측정과 고정 상태를 먼저 안정화한 뒤, Set-Actual 기준과 Rough 조건 DOE로 Crack/TTV를 낮춘다.</a:t>
            </a:r>
            <a:endParaRPr sz="1100"/>
          </a:p>
        </p:txBody>
      </p:sp>
      <p:sp>
        <p:nvSpPr>
          <p:cNvPr id="834" name="Google Shape;834;p53"/>
          <p:cNvSpPr/>
          <p:nvPr/>
        </p:nvSpPr>
        <p:spPr>
          <a:xfrm>
            <a:off x="400050" y="4886325"/>
            <a:ext cx="80010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 b="0">
                <a:solidFill>
                  <a:srgbClr val="8392A2"/>
                </a:solidFill>
              </a:rPr>
              <a:t>출처: 원본 BG 불량분석.pptx 22~23p 실행계획. 원본의 절대 날짜는 일부 경과되어 재발표용 상대 일정으로 재구성.</a:t>
            </a:r>
            <a:endParaRPr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9" name="Google Shape;839;p54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40" name="Google Shape;840;p54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- </a:t>
            </a:r>
            <a:r>
              <a:rPr lang="ko" sz="2300" b="1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①만 최적화 할 경우</a:t>
            </a:r>
            <a:endParaRPr sz="2300" b="1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841" name="Google Shape;84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725" y="713025"/>
            <a:ext cx="4073550" cy="434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1500" y="713025"/>
            <a:ext cx="4710101" cy="4344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45207"/>
            <a:ext cx="9144001" cy="3118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8" name="Google Shape;848;p55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49" name="Google Shape;849;p55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- </a:t>
            </a:r>
            <a:r>
              <a:rPr lang="ko" sz="2300" b="1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②~④ 모두 최적화 할 경우 </a:t>
            </a:r>
            <a:endParaRPr sz="2300" b="1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850" name="Google Shape;85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3024"/>
            <a:ext cx="4261925" cy="432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3150" y="713025"/>
            <a:ext cx="4508451" cy="432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600" y="1374000"/>
            <a:ext cx="8686800" cy="301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7" name="Google Shape;857;p56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58" name="Google Shape;858;p56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- </a:t>
            </a:r>
            <a:r>
              <a:rPr lang="ko" sz="2300" b="1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①~④ 모두 최적화 할 경우 </a:t>
            </a:r>
            <a:endParaRPr sz="2300" b="1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859" name="Google Shape;85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3025"/>
            <a:ext cx="4005299" cy="4278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7700" y="713025"/>
            <a:ext cx="4833900" cy="4306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294346"/>
            <a:ext cx="9144000" cy="3115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7"/>
          <p:cNvSpPr/>
          <p:nvPr/>
        </p:nvSpPr>
        <p:spPr>
          <a:xfrm>
            <a:off x="400050" y="271463"/>
            <a:ext cx="2143125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2C79B7"/>
                </a:solidFill>
              </a:rPr>
              <a:t>BG 개선안 / 기대효과</a:t>
            </a:r>
            <a:endParaRPr sz="1100"/>
          </a:p>
        </p:txBody>
      </p:sp>
      <p:sp>
        <p:nvSpPr>
          <p:cNvPr id="868" name="Google Shape;868;p57"/>
          <p:cNvSpPr/>
          <p:nvPr/>
        </p:nvSpPr>
        <p:spPr>
          <a:xfrm>
            <a:off x="400050" y="528638"/>
            <a:ext cx="65722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>
                <a:solidFill>
                  <a:srgbClr val="173657"/>
                </a:solidFill>
              </a:rPr>
              <a:t>기대효과는 3개 시나리오를 살리되, 화면 요소를 줄인다</a:t>
            </a:r>
            <a:endParaRPr sz="1100"/>
          </a:p>
        </p:txBody>
      </p:sp>
      <p:sp>
        <p:nvSpPr>
          <p:cNvPr id="869" name="Google Shape;869;p57"/>
          <p:cNvSpPr/>
          <p:nvPr/>
        </p:nvSpPr>
        <p:spPr>
          <a:xfrm>
            <a:off x="400050" y="885825"/>
            <a:ext cx="7715250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>
                <a:solidFill>
                  <a:srgbClr val="6A7280"/>
                </a:solidFill>
              </a:rPr>
              <a:t>원본의 입력창·하단 DOE 테이블은 제외하고, 시나리오별 KPI 차이와 해석만 남긴다.</a:t>
            </a:r>
            <a:endParaRPr sz="1100"/>
          </a:p>
        </p:txBody>
      </p:sp>
      <p:sp>
        <p:nvSpPr>
          <p:cNvPr id="870" name="Google Shape;870;p57"/>
          <p:cNvSpPr/>
          <p:nvPr/>
        </p:nvSpPr>
        <p:spPr>
          <a:xfrm>
            <a:off x="8643938" y="300038"/>
            <a:ext cx="242888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BBC9D6"/>
                </a:solidFill>
              </a:rPr>
              <a:t>25R</a:t>
            </a:r>
            <a:endParaRPr sz="1100"/>
          </a:p>
        </p:txBody>
      </p:sp>
      <p:sp>
        <p:nvSpPr>
          <p:cNvPr id="871" name="Google Shape;871;p57"/>
          <p:cNvSpPr/>
          <p:nvPr/>
        </p:nvSpPr>
        <p:spPr>
          <a:xfrm>
            <a:off x="485775" y="1414463"/>
            <a:ext cx="2571750" cy="2657475"/>
          </a:xfrm>
          <a:prstGeom prst="roundRect">
            <a:avLst>
              <a:gd name="adj" fmla="val 2222"/>
            </a:avLst>
          </a:prstGeom>
          <a:solidFill>
            <a:srgbClr val="EAF3FA"/>
          </a:solidFill>
          <a:ln w="9525" cap="flat" cmpd="sng">
            <a:solidFill>
              <a:srgbClr val="2C79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2" name="Google Shape;872;p57"/>
          <p:cNvSpPr/>
          <p:nvPr/>
        </p:nvSpPr>
        <p:spPr>
          <a:xfrm>
            <a:off x="657225" y="1585913"/>
            <a:ext cx="2228850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rgbClr val="173657"/>
                </a:solidFill>
              </a:rPr>
              <a:t>①만 최적화</a:t>
            </a:r>
            <a:endParaRPr sz="1100"/>
          </a:p>
        </p:txBody>
      </p:sp>
      <p:sp>
        <p:nvSpPr>
          <p:cNvPr id="873" name="Google Shape;873;p57"/>
          <p:cNvSpPr/>
          <p:nvPr/>
        </p:nvSpPr>
        <p:spPr>
          <a:xfrm>
            <a:off x="657225" y="1857375"/>
            <a:ext cx="22288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6A7280"/>
                </a:solidFill>
              </a:rPr>
              <a:t>Rough Grinding 조건 최적화 중심</a:t>
            </a:r>
            <a:endParaRPr sz="1100"/>
          </a:p>
        </p:txBody>
      </p:sp>
      <p:sp>
        <p:nvSpPr>
          <p:cNvPr id="874" name="Google Shape;874;p57"/>
          <p:cNvSpPr/>
          <p:nvPr/>
        </p:nvSpPr>
        <p:spPr>
          <a:xfrm>
            <a:off x="700087" y="2343150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6A7280"/>
                </a:solidFill>
              </a:rPr>
              <a:t>불량률</a:t>
            </a:r>
            <a:endParaRPr sz="1100"/>
          </a:p>
        </p:txBody>
      </p:sp>
      <p:sp>
        <p:nvSpPr>
          <p:cNvPr id="875" name="Google Shape;875;p57"/>
          <p:cNvSpPr/>
          <p:nvPr/>
        </p:nvSpPr>
        <p:spPr>
          <a:xfrm>
            <a:off x="1557338" y="2300288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2C79B7"/>
                </a:solidFill>
              </a:rPr>
              <a:t>38.3% → 21.7%</a:t>
            </a:r>
            <a:endParaRPr sz="1100"/>
          </a:p>
        </p:txBody>
      </p:sp>
      <p:sp>
        <p:nvSpPr>
          <p:cNvPr id="876" name="Google Shape;876;p57"/>
          <p:cNvSpPr/>
          <p:nvPr/>
        </p:nvSpPr>
        <p:spPr>
          <a:xfrm>
            <a:off x="700088" y="2571750"/>
            <a:ext cx="2143125" cy="7144"/>
          </a:xfrm>
          <a:prstGeom prst="rect">
            <a:avLst/>
          </a:prstGeom>
          <a:solidFill>
            <a:srgbClr val="CAD4DF"/>
          </a:solidFill>
          <a:ln w="9525" cap="flat" cmpd="sng">
            <a:solidFill>
              <a:srgbClr val="CAD4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57"/>
          <p:cNvSpPr/>
          <p:nvPr/>
        </p:nvSpPr>
        <p:spPr>
          <a:xfrm>
            <a:off x="700087" y="2714625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6A7280"/>
                </a:solidFill>
              </a:rPr>
              <a:t>Pass 향상</a:t>
            </a:r>
            <a:endParaRPr sz="1100"/>
          </a:p>
        </p:txBody>
      </p:sp>
      <p:sp>
        <p:nvSpPr>
          <p:cNvPr id="878" name="Google Shape;878;p57"/>
          <p:cNvSpPr/>
          <p:nvPr/>
        </p:nvSpPr>
        <p:spPr>
          <a:xfrm>
            <a:off x="1557338" y="2671763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2C79B7"/>
                </a:solidFill>
              </a:rPr>
              <a:t>+16.6%p</a:t>
            </a:r>
            <a:endParaRPr sz="1100"/>
          </a:p>
        </p:txBody>
      </p:sp>
      <p:sp>
        <p:nvSpPr>
          <p:cNvPr id="879" name="Google Shape;879;p57"/>
          <p:cNvSpPr/>
          <p:nvPr/>
        </p:nvSpPr>
        <p:spPr>
          <a:xfrm>
            <a:off x="700088" y="2943225"/>
            <a:ext cx="2143125" cy="7144"/>
          </a:xfrm>
          <a:prstGeom prst="rect">
            <a:avLst/>
          </a:prstGeom>
          <a:solidFill>
            <a:srgbClr val="CAD4DF"/>
          </a:solidFill>
          <a:ln w="9525" cap="flat" cmpd="sng">
            <a:solidFill>
              <a:srgbClr val="CAD4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57"/>
          <p:cNvSpPr/>
          <p:nvPr/>
        </p:nvSpPr>
        <p:spPr>
          <a:xfrm>
            <a:off x="700087" y="3086100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6A7280"/>
                </a:solidFill>
              </a:rPr>
              <a:t>재작업/클레임</a:t>
            </a:r>
            <a:endParaRPr sz="1100"/>
          </a:p>
        </p:txBody>
      </p:sp>
      <p:sp>
        <p:nvSpPr>
          <p:cNvPr id="881" name="Google Shape;881;p57"/>
          <p:cNvSpPr/>
          <p:nvPr/>
        </p:nvSpPr>
        <p:spPr>
          <a:xfrm>
            <a:off x="1557338" y="3043238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2C79B7"/>
                </a:solidFill>
              </a:rPr>
              <a:t>-43.3%</a:t>
            </a:r>
            <a:endParaRPr sz="1100"/>
          </a:p>
        </p:txBody>
      </p:sp>
      <p:sp>
        <p:nvSpPr>
          <p:cNvPr id="882" name="Google Shape;882;p57"/>
          <p:cNvSpPr/>
          <p:nvPr/>
        </p:nvSpPr>
        <p:spPr>
          <a:xfrm>
            <a:off x="700088" y="3314700"/>
            <a:ext cx="2143125" cy="7144"/>
          </a:xfrm>
          <a:prstGeom prst="rect">
            <a:avLst/>
          </a:prstGeom>
          <a:solidFill>
            <a:srgbClr val="CAD4DF"/>
          </a:solidFill>
          <a:ln w="9525" cap="flat" cmpd="sng">
            <a:solidFill>
              <a:srgbClr val="CAD4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57"/>
          <p:cNvSpPr/>
          <p:nvPr/>
        </p:nvSpPr>
        <p:spPr>
          <a:xfrm>
            <a:off x="700087" y="3457575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6A7280"/>
                </a:solidFill>
              </a:rPr>
              <a:t>Cost saving</a:t>
            </a:r>
            <a:endParaRPr sz="1100"/>
          </a:p>
        </p:txBody>
      </p:sp>
      <p:sp>
        <p:nvSpPr>
          <p:cNvPr id="884" name="Google Shape;884;p57"/>
          <p:cNvSpPr/>
          <p:nvPr/>
        </p:nvSpPr>
        <p:spPr>
          <a:xfrm>
            <a:off x="1557338" y="3414713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2C79B7"/>
                </a:solidFill>
              </a:rPr>
              <a:t>연 83.03억</a:t>
            </a:r>
            <a:endParaRPr sz="1100"/>
          </a:p>
        </p:txBody>
      </p:sp>
      <p:sp>
        <p:nvSpPr>
          <p:cNvPr id="885" name="Google Shape;885;p57"/>
          <p:cNvSpPr/>
          <p:nvPr/>
        </p:nvSpPr>
        <p:spPr>
          <a:xfrm>
            <a:off x="700088" y="3686175"/>
            <a:ext cx="2143125" cy="7144"/>
          </a:xfrm>
          <a:prstGeom prst="rect">
            <a:avLst/>
          </a:prstGeom>
          <a:solidFill>
            <a:srgbClr val="CAD4DF"/>
          </a:solidFill>
          <a:ln w="9525" cap="flat" cmpd="sng">
            <a:solidFill>
              <a:srgbClr val="CAD4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57"/>
          <p:cNvSpPr/>
          <p:nvPr/>
        </p:nvSpPr>
        <p:spPr>
          <a:xfrm>
            <a:off x="700088" y="3743325"/>
            <a:ext cx="2143125" cy="214313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57"/>
          <p:cNvSpPr/>
          <p:nvPr/>
        </p:nvSpPr>
        <p:spPr>
          <a:xfrm>
            <a:off x="785813" y="3800475"/>
            <a:ext cx="1971675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6A7280"/>
                </a:solidFill>
              </a:rPr>
              <a:t>가장 직접적인 Crack/TTV 개선축</a:t>
            </a:r>
            <a:endParaRPr sz="1100"/>
          </a:p>
        </p:txBody>
      </p:sp>
      <p:sp>
        <p:nvSpPr>
          <p:cNvPr id="888" name="Google Shape;888;p57"/>
          <p:cNvSpPr/>
          <p:nvPr/>
        </p:nvSpPr>
        <p:spPr>
          <a:xfrm>
            <a:off x="3286125" y="1414463"/>
            <a:ext cx="2571750" cy="2657475"/>
          </a:xfrm>
          <a:prstGeom prst="roundRect">
            <a:avLst>
              <a:gd name="adj" fmla="val 2222"/>
            </a:avLst>
          </a:prstGeom>
          <a:solidFill>
            <a:srgbClr val="FFF6E3"/>
          </a:solidFill>
          <a:ln w="9525" cap="flat" cmpd="sng">
            <a:solidFill>
              <a:srgbClr val="F2A5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p57"/>
          <p:cNvSpPr/>
          <p:nvPr/>
        </p:nvSpPr>
        <p:spPr>
          <a:xfrm>
            <a:off x="3457575" y="1585913"/>
            <a:ext cx="2228850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rgbClr val="173657"/>
                </a:solidFill>
              </a:rPr>
              <a:t>②~④ 모두 최적화</a:t>
            </a:r>
            <a:endParaRPr sz="1100"/>
          </a:p>
        </p:txBody>
      </p:sp>
      <p:sp>
        <p:nvSpPr>
          <p:cNvPr id="890" name="Google Shape;890;p57"/>
          <p:cNvSpPr/>
          <p:nvPr/>
        </p:nvSpPr>
        <p:spPr>
          <a:xfrm>
            <a:off x="3457575" y="1857375"/>
            <a:ext cx="22288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6A7280"/>
                </a:solidFill>
              </a:rPr>
              <a:t>측정·Chuck·Set-Actual 보조 개선 중심</a:t>
            </a:r>
            <a:endParaRPr sz="1100"/>
          </a:p>
        </p:txBody>
      </p:sp>
      <p:sp>
        <p:nvSpPr>
          <p:cNvPr id="891" name="Google Shape;891;p57"/>
          <p:cNvSpPr/>
          <p:nvPr/>
        </p:nvSpPr>
        <p:spPr>
          <a:xfrm>
            <a:off x="3500438" y="2343150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6A7280"/>
                </a:solidFill>
              </a:rPr>
              <a:t>불량률</a:t>
            </a:r>
            <a:endParaRPr sz="1100"/>
          </a:p>
        </p:txBody>
      </p:sp>
      <p:sp>
        <p:nvSpPr>
          <p:cNvPr id="892" name="Google Shape;892;p57"/>
          <p:cNvSpPr/>
          <p:nvPr/>
        </p:nvSpPr>
        <p:spPr>
          <a:xfrm>
            <a:off x="4357688" y="2300288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F2A51A"/>
                </a:solidFill>
              </a:rPr>
              <a:t>38.3% → 28.8%</a:t>
            </a:r>
            <a:endParaRPr sz="1100"/>
          </a:p>
        </p:txBody>
      </p:sp>
      <p:sp>
        <p:nvSpPr>
          <p:cNvPr id="893" name="Google Shape;893;p57"/>
          <p:cNvSpPr/>
          <p:nvPr/>
        </p:nvSpPr>
        <p:spPr>
          <a:xfrm>
            <a:off x="3500438" y="2571750"/>
            <a:ext cx="2143125" cy="7144"/>
          </a:xfrm>
          <a:prstGeom prst="rect">
            <a:avLst/>
          </a:prstGeom>
          <a:solidFill>
            <a:srgbClr val="CAD4DF"/>
          </a:solidFill>
          <a:ln w="9525" cap="flat" cmpd="sng">
            <a:solidFill>
              <a:srgbClr val="CAD4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57"/>
          <p:cNvSpPr/>
          <p:nvPr/>
        </p:nvSpPr>
        <p:spPr>
          <a:xfrm>
            <a:off x="3500438" y="2714625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6A7280"/>
                </a:solidFill>
              </a:rPr>
              <a:t>Pass 향상</a:t>
            </a:r>
            <a:endParaRPr sz="1100"/>
          </a:p>
        </p:txBody>
      </p:sp>
      <p:sp>
        <p:nvSpPr>
          <p:cNvPr id="895" name="Google Shape;895;p57"/>
          <p:cNvSpPr/>
          <p:nvPr/>
        </p:nvSpPr>
        <p:spPr>
          <a:xfrm>
            <a:off x="4357688" y="2671763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F2A51A"/>
                </a:solidFill>
              </a:rPr>
              <a:t>+9.5%p</a:t>
            </a:r>
            <a:endParaRPr sz="1100"/>
          </a:p>
        </p:txBody>
      </p:sp>
      <p:sp>
        <p:nvSpPr>
          <p:cNvPr id="896" name="Google Shape;896;p57"/>
          <p:cNvSpPr/>
          <p:nvPr/>
        </p:nvSpPr>
        <p:spPr>
          <a:xfrm>
            <a:off x="3500438" y="2943225"/>
            <a:ext cx="2143125" cy="7144"/>
          </a:xfrm>
          <a:prstGeom prst="rect">
            <a:avLst/>
          </a:prstGeom>
          <a:solidFill>
            <a:srgbClr val="CAD4DF"/>
          </a:solidFill>
          <a:ln w="9525" cap="flat" cmpd="sng">
            <a:solidFill>
              <a:srgbClr val="CAD4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57"/>
          <p:cNvSpPr/>
          <p:nvPr/>
        </p:nvSpPr>
        <p:spPr>
          <a:xfrm>
            <a:off x="3500438" y="3086100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6A7280"/>
                </a:solidFill>
              </a:rPr>
              <a:t>재작업/클레임</a:t>
            </a:r>
            <a:endParaRPr sz="1100"/>
          </a:p>
        </p:txBody>
      </p:sp>
      <p:sp>
        <p:nvSpPr>
          <p:cNvPr id="898" name="Google Shape;898;p57"/>
          <p:cNvSpPr/>
          <p:nvPr/>
        </p:nvSpPr>
        <p:spPr>
          <a:xfrm>
            <a:off x="4357688" y="3043238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F2A51A"/>
                </a:solidFill>
              </a:rPr>
              <a:t>-38.4%</a:t>
            </a:r>
            <a:endParaRPr sz="1100"/>
          </a:p>
        </p:txBody>
      </p:sp>
      <p:sp>
        <p:nvSpPr>
          <p:cNvPr id="899" name="Google Shape;899;p57"/>
          <p:cNvSpPr/>
          <p:nvPr/>
        </p:nvSpPr>
        <p:spPr>
          <a:xfrm>
            <a:off x="3500438" y="3314700"/>
            <a:ext cx="2143125" cy="7144"/>
          </a:xfrm>
          <a:prstGeom prst="rect">
            <a:avLst/>
          </a:prstGeom>
          <a:solidFill>
            <a:srgbClr val="CAD4DF"/>
          </a:solidFill>
          <a:ln w="9525" cap="flat" cmpd="sng">
            <a:solidFill>
              <a:srgbClr val="CAD4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" name="Google Shape;900;p57"/>
          <p:cNvSpPr/>
          <p:nvPr/>
        </p:nvSpPr>
        <p:spPr>
          <a:xfrm>
            <a:off x="3500438" y="3457575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6A7280"/>
                </a:solidFill>
              </a:rPr>
              <a:t>Cost saving</a:t>
            </a:r>
            <a:endParaRPr sz="1100"/>
          </a:p>
        </p:txBody>
      </p:sp>
      <p:sp>
        <p:nvSpPr>
          <p:cNvPr id="901" name="Google Shape;901;p57"/>
          <p:cNvSpPr/>
          <p:nvPr/>
        </p:nvSpPr>
        <p:spPr>
          <a:xfrm>
            <a:off x="4357688" y="3414713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F2A51A"/>
                </a:solidFill>
              </a:rPr>
              <a:t>연 47.60억</a:t>
            </a:r>
            <a:endParaRPr sz="1100"/>
          </a:p>
        </p:txBody>
      </p:sp>
      <p:sp>
        <p:nvSpPr>
          <p:cNvPr id="902" name="Google Shape;902;p57"/>
          <p:cNvSpPr/>
          <p:nvPr/>
        </p:nvSpPr>
        <p:spPr>
          <a:xfrm>
            <a:off x="3500438" y="3686175"/>
            <a:ext cx="2143125" cy="7144"/>
          </a:xfrm>
          <a:prstGeom prst="rect">
            <a:avLst/>
          </a:prstGeom>
          <a:solidFill>
            <a:srgbClr val="CAD4DF"/>
          </a:solidFill>
          <a:ln w="9525" cap="flat" cmpd="sng">
            <a:solidFill>
              <a:srgbClr val="CAD4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57"/>
          <p:cNvSpPr/>
          <p:nvPr/>
        </p:nvSpPr>
        <p:spPr>
          <a:xfrm>
            <a:off x="3500438" y="3743325"/>
            <a:ext cx="2143125" cy="214313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57"/>
          <p:cNvSpPr/>
          <p:nvPr/>
        </p:nvSpPr>
        <p:spPr>
          <a:xfrm>
            <a:off x="3586163" y="3800475"/>
            <a:ext cx="1971675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6A7280"/>
                </a:solidFill>
              </a:rPr>
              <a:t>측정 신뢰성과 고정 상태 안정화</a:t>
            </a:r>
            <a:endParaRPr sz="1100"/>
          </a:p>
        </p:txBody>
      </p:sp>
      <p:sp>
        <p:nvSpPr>
          <p:cNvPr id="905" name="Google Shape;905;p57"/>
          <p:cNvSpPr/>
          <p:nvPr/>
        </p:nvSpPr>
        <p:spPr>
          <a:xfrm>
            <a:off x="6086475" y="1414463"/>
            <a:ext cx="2571750" cy="2657475"/>
          </a:xfrm>
          <a:prstGeom prst="roundRect">
            <a:avLst>
              <a:gd name="adj" fmla="val 2222"/>
            </a:avLst>
          </a:prstGeom>
          <a:solidFill>
            <a:srgbClr val="E8F7F2"/>
          </a:solidFill>
          <a:ln w="9525" cap="flat" cmpd="sng">
            <a:solidFill>
              <a:srgbClr val="19C7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57"/>
          <p:cNvSpPr/>
          <p:nvPr/>
        </p:nvSpPr>
        <p:spPr>
          <a:xfrm>
            <a:off x="6257925" y="1585913"/>
            <a:ext cx="2228850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rgbClr val="173657"/>
                </a:solidFill>
              </a:rPr>
              <a:t>①~④ 모두 최적화</a:t>
            </a:r>
            <a:endParaRPr sz="1100"/>
          </a:p>
        </p:txBody>
      </p:sp>
      <p:sp>
        <p:nvSpPr>
          <p:cNvPr id="907" name="Google Shape;907;p57"/>
          <p:cNvSpPr/>
          <p:nvPr/>
        </p:nvSpPr>
        <p:spPr>
          <a:xfrm>
            <a:off x="6257925" y="1857375"/>
            <a:ext cx="22288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6A7280"/>
                </a:solidFill>
              </a:rPr>
              <a:t>Rough 조건 + 보조 개선 전체 적용</a:t>
            </a:r>
            <a:endParaRPr sz="1100"/>
          </a:p>
        </p:txBody>
      </p:sp>
      <p:sp>
        <p:nvSpPr>
          <p:cNvPr id="908" name="Google Shape;908;p57"/>
          <p:cNvSpPr/>
          <p:nvPr/>
        </p:nvSpPr>
        <p:spPr>
          <a:xfrm>
            <a:off x="6300788" y="2343150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6A7280"/>
                </a:solidFill>
              </a:rPr>
              <a:t>불량률</a:t>
            </a:r>
            <a:endParaRPr sz="1100"/>
          </a:p>
        </p:txBody>
      </p:sp>
      <p:sp>
        <p:nvSpPr>
          <p:cNvPr id="909" name="Google Shape;909;p57"/>
          <p:cNvSpPr/>
          <p:nvPr/>
        </p:nvSpPr>
        <p:spPr>
          <a:xfrm>
            <a:off x="7158038" y="2300288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19C7A3"/>
                </a:solidFill>
              </a:rPr>
              <a:t>38.3% → 9.6%</a:t>
            </a:r>
            <a:endParaRPr sz="1100"/>
          </a:p>
        </p:txBody>
      </p:sp>
      <p:sp>
        <p:nvSpPr>
          <p:cNvPr id="910" name="Google Shape;910;p57"/>
          <p:cNvSpPr/>
          <p:nvPr/>
        </p:nvSpPr>
        <p:spPr>
          <a:xfrm>
            <a:off x="6300788" y="2571750"/>
            <a:ext cx="2143125" cy="7144"/>
          </a:xfrm>
          <a:prstGeom prst="rect">
            <a:avLst/>
          </a:prstGeom>
          <a:solidFill>
            <a:srgbClr val="CAD4DF"/>
          </a:solidFill>
          <a:ln w="9525" cap="flat" cmpd="sng">
            <a:solidFill>
              <a:srgbClr val="CAD4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57"/>
          <p:cNvSpPr/>
          <p:nvPr/>
        </p:nvSpPr>
        <p:spPr>
          <a:xfrm>
            <a:off x="6300788" y="2714625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6A7280"/>
                </a:solidFill>
              </a:rPr>
              <a:t>Pass 향상</a:t>
            </a:r>
            <a:endParaRPr sz="1100"/>
          </a:p>
        </p:txBody>
      </p:sp>
      <p:sp>
        <p:nvSpPr>
          <p:cNvPr id="912" name="Google Shape;912;p57"/>
          <p:cNvSpPr/>
          <p:nvPr/>
        </p:nvSpPr>
        <p:spPr>
          <a:xfrm>
            <a:off x="7158038" y="2671763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19C7A3"/>
                </a:solidFill>
              </a:rPr>
              <a:t>+28.8%p</a:t>
            </a:r>
            <a:endParaRPr sz="1100"/>
          </a:p>
        </p:txBody>
      </p:sp>
      <p:sp>
        <p:nvSpPr>
          <p:cNvPr id="913" name="Google Shape;913;p57"/>
          <p:cNvSpPr/>
          <p:nvPr/>
        </p:nvSpPr>
        <p:spPr>
          <a:xfrm>
            <a:off x="6300788" y="2943225"/>
            <a:ext cx="2143125" cy="7144"/>
          </a:xfrm>
          <a:prstGeom prst="rect">
            <a:avLst/>
          </a:prstGeom>
          <a:solidFill>
            <a:srgbClr val="CAD4DF"/>
          </a:solidFill>
          <a:ln w="9525" cap="flat" cmpd="sng">
            <a:solidFill>
              <a:srgbClr val="CAD4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57"/>
          <p:cNvSpPr/>
          <p:nvPr/>
        </p:nvSpPr>
        <p:spPr>
          <a:xfrm>
            <a:off x="6300788" y="3086100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6A7280"/>
                </a:solidFill>
              </a:rPr>
              <a:t>재작업/클레임</a:t>
            </a:r>
            <a:endParaRPr sz="1100"/>
          </a:p>
        </p:txBody>
      </p:sp>
      <p:sp>
        <p:nvSpPr>
          <p:cNvPr id="915" name="Google Shape;915;p57"/>
          <p:cNvSpPr/>
          <p:nvPr/>
        </p:nvSpPr>
        <p:spPr>
          <a:xfrm>
            <a:off x="7158038" y="3043238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19C7A3"/>
                </a:solidFill>
              </a:rPr>
              <a:t>-75.1%</a:t>
            </a:r>
            <a:endParaRPr sz="1100"/>
          </a:p>
        </p:txBody>
      </p:sp>
      <p:sp>
        <p:nvSpPr>
          <p:cNvPr id="916" name="Google Shape;916;p57"/>
          <p:cNvSpPr/>
          <p:nvPr/>
        </p:nvSpPr>
        <p:spPr>
          <a:xfrm>
            <a:off x="6300788" y="3314700"/>
            <a:ext cx="2143125" cy="7144"/>
          </a:xfrm>
          <a:prstGeom prst="rect">
            <a:avLst/>
          </a:prstGeom>
          <a:solidFill>
            <a:srgbClr val="CAD4DF"/>
          </a:solidFill>
          <a:ln w="9525" cap="flat" cmpd="sng">
            <a:solidFill>
              <a:srgbClr val="CAD4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7" name="Google Shape;917;p57"/>
          <p:cNvSpPr/>
          <p:nvPr/>
        </p:nvSpPr>
        <p:spPr>
          <a:xfrm>
            <a:off x="6300788" y="3457575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6A7280"/>
                </a:solidFill>
              </a:rPr>
              <a:t>Cost saving</a:t>
            </a:r>
            <a:endParaRPr sz="1100"/>
          </a:p>
        </p:txBody>
      </p:sp>
      <p:sp>
        <p:nvSpPr>
          <p:cNvPr id="918" name="Google Shape;918;p57"/>
          <p:cNvSpPr/>
          <p:nvPr/>
        </p:nvSpPr>
        <p:spPr>
          <a:xfrm>
            <a:off x="7158038" y="3414713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19C7A3"/>
                </a:solidFill>
              </a:rPr>
              <a:t>연 143.90억</a:t>
            </a:r>
            <a:endParaRPr sz="1100"/>
          </a:p>
        </p:txBody>
      </p:sp>
      <p:sp>
        <p:nvSpPr>
          <p:cNvPr id="919" name="Google Shape;919;p57"/>
          <p:cNvSpPr/>
          <p:nvPr/>
        </p:nvSpPr>
        <p:spPr>
          <a:xfrm>
            <a:off x="6300788" y="3686175"/>
            <a:ext cx="2143125" cy="7144"/>
          </a:xfrm>
          <a:prstGeom prst="rect">
            <a:avLst/>
          </a:prstGeom>
          <a:solidFill>
            <a:srgbClr val="CAD4DF"/>
          </a:solidFill>
          <a:ln w="9525" cap="flat" cmpd="sng">
            <a:solidFill>
              <a:srgbClr val="CAD4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57"/>
          <p:cNvSpPr/>
          <p:nvPr/>
        </p:nvSpPr>
        <p:spPr>
          <a:xfrm>
            <a:off x="6300788" y="3743325"/>
            <a:ext cx="2143125" cy="214313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57"/>
          <p:cNvSpPr/>
          <p:nvPr/>
        </p:nvSpPr>
        <p:spPr>
          <a:xfrm>
            <a:off x="6386513" y="3800475"/>
            <a:ext cx="1971675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19C7A3"/>
                </a:solidFill>
              </a:rPr>
              <a:t>추천안: Crack/TTV와 비용효과 최대</a:t>
            </a:r>
            <a:endParaRPr sz="1100"/>
          </a:p>
        </p:txBody>
      </p:sp>
      <p:sp>
        <p:nvSpPr>
          <p:cNvPr id="922" name="Google Shape;922;p57"/>
          <p:cNvSpPr/>
          <p:nvPr/>
        </p:nvSpPr>
        <p:spPr>
          <a:xfrm>
            <a:off x="700088" y="4357688"/>
            <a:ext cx="7743825" cy="314325"/>
          </a:xfrm>
          <a:prstGeom prst="roundRect">
            <a:avLst>
              <a:gd name="adj" fmla="val 13636"/>
            </a:avLst>
          </a:prstGeom>
          <a:solidFill>
            <a:srgbClr val="FCECEF"/>
          </a:solidFill>
          <a:ln w="9525" cap="flat" cmpd="sng">
            <a:solidFill>
              <a:srgbClr val="F4C7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3" name="Google Shape;923;p57"/>
          <p:cNvSpPr/>
          <p:nvPr/>
        </p:nvSpPr>
        <p:spPr>
          <a:xfrm>
            <a:off x="871538" y="4450556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B3132E"/>
                </a:solidFill>
              </a:rPr>
              <a:t>발표 포인트</a:t>
            </a:r>
            <a:endParaRPr sz="1100"/>
          </a:p>
        </p:txBody>
      </p:sp>
      <p:sp>
        <p:nvSpPr>
          <p:cNvPr id="924" name="Google Shape;924;p57"/>
          <p:cNvSpPr/>
          <p:nvPr/>
        </p:nvSpPr>
        <p:spPr>
          <a:xfrm>
            <a:off x="1785938" y="4443413"/>
            <a:ext cx="60007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①은 핵심 공정조건 개선, ②~④는 측정·고정·기준 안정화, 전체 적용은 두 축을 결합한 최종 추천안으로 설명한다.</a:t>
            </a:r>
            <a:endParaRPr sz="1100"/>
          </a:p>
        </p:txBody>
      </p:sp>
      <p:sp>
        <p:nvSpPr>
          <p:cNvPr id="925" name="Google Shape;925;p57"/>
          <p:cNvSpPr/>
          <p:nvPr/>
        </p:nvSpPr>
        <p:spPr>
          <a:xfrm>
            <a:off x="400050" y="4886325"/>
            <a:ext cx="80010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 b="0">
                <a:solidFill>
                  <a:srgbClr val="8392A2"/>
                </a:solidFill>
              </a:rPr>
              <a:t>출처: 원본 BG 불량분석.pptx 24~26p 기대효과 수치. 금액은 원본 시뮬레이터 가정값 기준.</a:t>
            </a:r>
            <a:endParaRPr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8"/>
          <p:cNvSpPr/>
          <p:nvPr/>
        </p:nvSpPr>
        <p:spPr>
          <a:xfrm>
            <a:off x="400050" y="271463"/>
            <a:ext cx="2143125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2C79B7"/>
                </a:solidFill>
              </a:rPr>
              <a:t>BG 개선안 / 기대효과</a:t>
            </a:r>
            <a:endParaRPr sz="1100"/>
          </a:p>
        </p:txBody>
      </p:sp>
      <p:sp>
        <p:nvSpPr>
          <p:cNvPr id="932" name="Google Shape;932;p58"/>
          <p:cNvSpPr/>
          <p:nvPr/>
        </p:nvSpPr>
        <p:spPr>
          <a:xfrm>
            <a:off x="400050" y="528638"/>
            <a:ext cx="65722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>
                <a:solidFill>
                  <a:srgbClr val="173657"/>
                </a:solidFill>
              </a:rPr>
              <a:t>기대효과는 ‘전체 적용’ 중심으로 요약한다</a:t>
            </a:r>
            <a:endParaRPr sz="1100"/>
          </a:p>
        </p:txBody>
      </p:sp>
      <p:sp>
        <p:nvSpPr>
          <p:cNvPr id="933" name="Google Shape;933;p58"/>
          <p:cNvSpPr/>
          <p:nvPr/>
        </p:nvSpPr>
        <p:spPr>
          <a:xfrm>
            <a:off x="400050" y="885825"/>
            <a:ext cx="7715250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>
                <a:solidFill>
                  <a:srgbClr val="6A7280"/>
                </a:solidFill>
              </a:rPr>
              <a:t>반복 카드 3장을 하나로 묶어 시나리오별 개선 폭과 핵심 KPI만 남긴다.</a:t>
            </a:r>
            <a:endParaRPr sz="1100"/>
          </a:p>
        </p:txBody>
      </p:sp>
      <p:sp>
        <p:nvSpPr>
          <p:cNvPr id="934" name="Google Shape;934;p58"/>
          <p:cNvSpPr/>
          <p:nvPr/>
        </p:nvSpPr>
        <p:spPr>
          <a:xfrm>
            <a:off x="8643938" y="300038"/>
            <a:ext cx="242888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BBC9D6"/>
                </a:solidFill>
              </a:rPr>
              <a:t>24R</a:t>
            </a:r>
            <a:endParaRPr sz="1100"/>
          </a:p>
        </p:txBody>
      </p:sp>
      <p:sp>
        <p:nvSpPr>
          <p:cNvPr id="935" name="Google Shape;935;p58"/>
          <p:cNvSpPr/>
          <p:nvPr/>
        </p:nvSpPr>
        <p:spPr>
          <a:xfrm>
            <a:off x="514350" y="1371600"/>
            <a:ext cx="8115300" cy="1928813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58"/>
          <p:cNvSpPr/>
          <p:nvPr/>
        </p:nvSpPr>
        <p:spPr>
          <a:xfrm>
            <a:off x="514350" y="1371600"/>
            <a:ext cx="8115300" cy="385763"/>
          </a:xfrm>
          <a:prstGeom prst="rect">
            <a:avLst/>
          </a:prstGeom>
          <a:solidFill>
            <a:srgbClr val="1F456B"/>
          </a:solidFill>
          <a:ln w="9525" cap="flat" cmpd="sng">
            <a:solidFill>
              <a:srgbClr val="1F45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7" name="Google Shape;937;p58"/>
          <p:cNvSpPr/>
          <p:nvPr/>
        </p:nvSpPr>
        <p:spPr>
          <a:xfrm>
            <a:off x="628650" y="1485900"/>
            <a:ext cx="18716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FFFFFF"/>
                </a:solidFill>
              </a:rPr>
              <a:t>시나리오</a:t>
            </a:r>
            <a:endParaRPr sz="1100"/>
          </a:p>
        </p:txBody>
      </p:sp>
      <p:sp>
        <p:nvSpPr>
          <p:cNvPr id="938" name="Google Shape;938;p58"/>
          <p:cNvSpPr/>
          <p:nvPr/>
        </p:nvSpPr>
        <p:spPr>
          <a:xfrm>
            <a:off x="2728913" y="1485900"/>
            <a:ext cx="127158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FFFFFF"/>
                </a:solidFill>
              </a:rPr>
              <a:t>불량률</a:t>
            </a:r>
            <a:endParaRPr sz="1100"/>
          </a:p>
        </p:txBody>
      </p:sp>
      <p:sp>
        <p:nvSpPr>
          <p:cNvPr id="939" name="Google Shape;939;p58"/>
          <p:cNvSpPr/>
          <p:nvPr/>
        </p:nvSpPr>
        <p:spPr>
          <a:xfrm>
            <a:off x="4229100" y="1485900"/>
            <a:ext cx="10572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FFFFFF"/>
                </a:solidFill>
              </a:rPr>
              <a:t>Pass 향상</a:t>
            </a:r>
            <a:endParaRPr sz="1100"/>
          </a:p>
        </p:txBody>
      </p:sp>
      <p:sp>
        <p:nvSpPr>
          <p:cNvPr id="940" name="Google Shape;940;p58"/>
          <p:cNvSpPr/>
          <p:nvPr/>
        </p:nvSpPr>
        <p:spPr>
          <a:xfrm>
            <a:off x="5514975" y="1485900"/>
            <a:ext cx="13430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FFFFFF"/>
                </a:solidFill>
              </a:rPr>
              <a:t>재작업/클레임</a:t>
            </a:r>
            <a:endParaRPr sz="1100"/>
          </a:p>
        </p:txBody>
      </p:sp>
      <p:sp>
        <p:nvSpPr>
          <p:cNvPr id="941" name="Google Shape;941;p58"/>
          <p:cNvSpPr/>
          <p:nvPr/>
        </p:nvSpPr>
        <p:spPr>
          <a:xfrm>
            <a:off x="7086600" y="148590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FFFFFF"/>
                </a:solidFill>
              </a:rPr>
              <a:t>Cost saving</a:t>
            </a:r>
            <a:endParaRPr sz="1100"/>
          </a:p>
        </p:txBody>
      </p:sp>
      <p:sp>
        <p:nvSpPr>
          <p:cNvPr id="942" name="Google Shape;942;p58"/>
          <p:cNvSpPr/>
          <p:nvPr/>
        </p:nvSpPr>
        <p:spPr>
          <a:xfrm>
            <a:off x="514350" y="1757363"/>
            <a:ext cx="8115300" cy="3857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58"/>
          <p:cNvSpPr/>
          <p:nvPr/>
        </p:nvSpPr>
        <p:spPr>
          <a:xfrm>
            <a:off x="600075" y="1857375"/>
            <a:ext cx="192881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>
                <a:solidFill>
                  <a:srgbClr val="173657"/>
                </a:solidFill>
              </a:rPr>
              <a:t>현재</a:t>
            </a:r>
            <a:endParaRPr sz="1100"/>
          </a:p>
        </p:txBody>
      </p:sp>
      <p:sp>
        <p:nvSpPr>
          <p:cNvPr id="944" name="Google Shape;944;p58"/>
          <p:cNvSpPr/>
          <p:nvPr/>
        </p:nvSpPr>
        <p:spPr>
          <a:xfrm>
            <a:off x="2700338" y="1857375"/>
            <a:ext cx="132873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73657"/>
                </a:solidFill>
              </a:rPr>
              <a:t>38.3%</a:t>
            </a:r>
            <a:endParaRPr sz="1100"/>
          </a:p>
        </p:txBody>
      </p:sp>
      <p:sp>
        <p:nvSpPr>
          <p:cNvPr id="945" name="Google Shape;945;p58"/>
          <p:cNvSpPr/>
          <p:nvPr/>
        </p:nvSpPr>
        <p:spPr>
          <a:xfrm>
            <a:off x="4200525" y="1857375"/>
            <a:ext cx="11144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>
                <a:solidFill>
                  <a:srgbClr val="173657"/>
                </a:solidFill>
              </a:rPr>
              <a:t>-</a:t>
            </a:r>
            <a:endParaRPr sz="1100"/>
          </a:p>
        </p:txBody>
      </p:sp>
      <p:sp>
        <p:nvSpPr>
          <p:cNvPr id="946" name="Google Shape;946;p58"/>
          <p:cNvSpPr/>
          <p:nvPr/>
        </p:nvSpPr>
        <p:spPr>
          <a:xfrm>
            <a:off x="5486400" y="1857375"/>
            <a:ext cx="14001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>
                <a:solidFill>
                  <a:srgbClr val="173657"/>
                </a:solidFill>
              </a:rPr>
              <a:t>-</a:t>
            </a:r>
            <a:endParaRPr sz="1100"/>
          </a:p>
        </p:txBody>
      </p:sp>
      <p:sp>
        <p:nvSpPr>
          <p:cNvPr id="947" name="Google Shape;947;p58"/>
          <p:cNvSpPr/>
          <p:nvPr/>
        </p:nvSpPr>
        <p:spPr>
          <a:xfrm>
            <a:off x="7058025" y="1857375"/>
            <a:ext cx="14859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>
                <a:solidFill>
                  <a:srgbClr val="173657"/>
                </a:solidFill>
              </a:rPr>
              <a:t>-</a:t>
            </a:r>
            <a:endParaRPr sz="1100"/>
          </a:p>
        </p:txBody>
      </p:sp>
      <p:sp>
        <p:nvSpPr>
          <p:cNvPr id="948" name="Google Shape;948;p58"/>
          <p:cNvSpPr/>
          <p:nvPr/>
        </p:nvSpPr>
        <p:spPr>
          <a:xfrm>
            <a:off x="514350" y="2143125"/>
            <a:ext cx="8115300" cy="385763"/>
          </a:xfrm>
          <a:prstGeom prst="rect">
            <a:avLst/>
          </a:prstGeom>
          <a:solidFill>
            <a:srgbClr val="F7FAFC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9" name="Google Shape;949;p58"/>
          <p:cNvSpPr/>
          <p:nvPr/>
        </p:nvSpPr>
        <p:spPr>
          <a:xfrm>
            <a:off x="600075" y="2243138"/>
            <a:ext cx="192881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>
                <a:solidFill>
                  <a:srgbClr val="173657"/>
                </a:solidFill>
              </a:rPr>
              <a:t>① Rough 조건만 최적화</a:t>
            </a:r>
            <a:endParaRPr sz="1100"/>
          </a:p>
        </p:txBody>
      </p:sp>
      <p:sp>
        <p:nvSpPr>
          <p:cNvPr id="950" name="Google Shape;950;p58"/>
          <p:cNvSpPr/>
          <p:nvPr/>
        </p:nvSpPr>
        <p:spPr>
          <a:xfrm>
            <a:off x="2700338" y="2243138"/>
            <a:ext cx="132873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B3132E"/>
                </a:solidFill>
              </a:rPr>
              <a:t>21.7%</a:t>
            </a:r>
            <a:endParaRPr sz="1100"/>
          </a:p>
        </p:txBody>
      </p:sp>
      <p:sp>
        <p:nvSpPr>
          <p:cNvPr id="951" name="Google Shape;951;p58"/>
          <p:cNvSpPr/>
          <p:nvPr/>
        </p:nvSpPr>
        <p:spPr>
          <a:xfrm>
            <a:off x="4200525" y="2243138"/>
            <a:ext cx="11144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>
                <a:solidFill>
                  <a:srgbClr val="173657"/>
                </a:solidFill>
              </a:rPr>
              <a:t>+16.6%p</a:t>
            </a:r>
            <a:endParaRPr sz="1100"/>
          </a:p>
        </p:txBody>
      </p:sp>
      <p:sp>
        <p:nvSpPr>
          <p:cNvPr id="952" name="Google Shape;952;p58"/>
          <p:cNvSpPr/>
          <p:nvPr/>
        </p:nvSpPr>
        <p:spPr>
          <a:xfrm>
            <a:off x="5486400" y="2243138"/>
            <a:ext cx="14001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>
                <a:solidFill>
                  <a:srgbClr val="173657"/>
                </a:solidFill>
              </a:rPr>
              <a:t>-43.3%</a:t>
            </a:r>
            <a:endParaRPr sz="1100"/>
          </a:p>
        </p:txBody>
      </p:sp>
      <p:sp>
        <p:nvSpPr>
          <p:cNvPr id="953" name="Google Shape;953;p58"/>
          <p:cNvSpPr/>
          <p:nvPr/>
        </p:nvSpPr>
        <p:spPr>
          <a:xfrm>
            <a:off x="7058025" y="2243138"/>
            <a:ext cx="14859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>
                <a:solidFill>
                  <a:srgbClr val="173657"/>
                </a:solidFill>
              </a:rPr>
              <a:t>연 83.03억</a:t>
            </a:r>
            <a:endParaRPr sz="1100"/>
          </a:p>
        </p:txBody>
      </p:sp>
      <p:sp>
        <p:nvSpPr>
          <p:cNvPr id="954" name="Google Shape;954;p58"/>
          <p:cNvSpPr/>
          <p:nvPr/>
        </p:nvSpPr>
        <p:spPr>
          <a:xfrm>
            <a:off x="514350" y="2528888"/>
            <a:ext cx="8115300" cy="3857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58"/>
          <p:cNvSpPr/>
          <p:nvPr/>
        </p:nvSpPr>
        <p:spPr>
          <a:xfrm>
            <a:off x="600075" y="2628900"/>
            <a:ext cx="192881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>
                <a:solidFill>
                  <a:srgbClr val="173657"/>
                </a:solidFill>
              </a:rPr>
              <a:t>②~④ 보조 개선만 적용</a:t>
            </a:r>
            <a:endParaRPr sz="1100"/>
          </a:p>
        </p:txBody>
      </p:sp>
      <p:sp>
        <p:nvSpPr>
          <p:cNvPr id="956" name="Google Shape;956;p58"/>
          <p:cNvSpPr/>
          <p:nvPr/>
        </p:nvSpPr>
        <p:spPr>
          <a:xfrm>
            <a:off x="2700338" y="2628900"/>
            <a:ext cx="132873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B3132E"/>
                </a:solidFill>
              </a:rPr>
              <a:t>15.3%</a:t>
            </a:r>
            <a:endParaRPr sz="1100"/>
          </a:p>
        </p:txBody>
      </p:sp>
      <p:sp>
        <p:nvSpPr>
          <p:cNvPr id="957" name="Google Shape;957;p58"/>
          <p:cNvSpPr/>
          <p:nvPr/>
        </p:nvSpPr>
        <p:spPr>
          <a:xfrm>
            <a:off x="4200525" y="2628900"/>
            <a:ext cx="11144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>
                <a:solidFill>
                  <a:srgbClr val="173657"/>
                </a:solidFill>
              </a:rPr>
              <a:t>+9.5%p</a:t>
            </a:r>
            <a:endParaRPr sz="1100"/>
          </a:p>
        </p:txBody>
      </p:sp>
      <p:sp>
        <p:nvSpPr>
          <p:cNvPr id="958" name="Google Shape;958;p58"/>
          <p:cNvSpPr/>
          <p:nvPr/>
        </p:nvSpPr>
        <p:spPr>
          <a:xfrm>
            <a:off x="5486400" y="2628900"/>
            <a:ext cx="14001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>
                <a:solidFill>
                  <a:srgbClr val="173657"/>
                </a:solidFill>
              </a:rPr>
              <a:t>-38.4%</a:t>
            </a:r>
            <a:endParaRPr sz="1100"/>
          </a:p>
        </p:txBody>
      </p:sp>
      <p:sp>
        <p:nvSpPr>
          <p:cNvPr id="959" name="Google Shape;959;p58"/>
          <p:cNvSpPr/>
          <p:nvPr/>
        </p:nvSpPr>
        <p:spPr>
          <a:xfrm>
            <a:off x="7058025" y="2628900"/>
            <a:ext cx="14859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>
                <a:solidFill>
                  <a:srgbClr val="173657"/>
                </a:solidFill>
              </a:rPr>
              <a:t>연 47.60억</a:t>
            </a:r>
            <a:endParaRPr sz="1100"/>
          </a:p>
        </p:txBody>
      </p:sp>
      <p:sp>
        <p:nvSpPr>
          <p:cNvPr id="960" name="Google Shape;960;p58"/>
          <p:cNvSpPr/>
          <p:nvPr/>
        </p:nvSpPr>
        <p:spPr>
          <a:xfrm>
            <a:off x="514350" y="2914650"/>
            <a:ext cx="8115300" cy="385763"/>
          </a:xfrm>
          <a:prstGeom prst="rect">
            <a:avLst/>
          </a:prstGeom>
          <a:solidFill>
            <a:srgbClr val="E8F7F2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58"/>
          <p:cNvSpPr/>
          <p:nvPr/>
        </p:nvSpPr>
        <p:spPr>
          <a:xfrm>
            <a:off x="600075" y="3014663"/>
            <a:ext cx="192881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1">
                <a:solidFill>
                  <a:srgbClr val="173657"/>
                </a:solidFill>
              </a:rPr>
              <a:t>①~④ 전체 적용</a:t>
            </a:r>
            <a:endParaRPr sz="1100"/>
          </a:p>
        </p:txBody>
      </p:sp>
      <p:sp>
        <p:nvSpPr>
          <p:cNvPr id="962" name="Google Shape;962;p58"/>
          <p:cNvSpPr/>
          <p:nvPr/>
        </p:nvSpPr>
        <p:spPr>
          <a:xfrm>
            <a:off x="2700338" y="3014663"/>
            <a:ext cx="132873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73657"/>
                </a:solidFill>
              </a:rPr>
              <a:t>9.6%</a:t>
            </a:r>
            <a:endParaRPr sz="1100"/>
          </a:p>
        </p:txBody>
      </p:sp>
      <p:sp>
        <p:nvSpPr>
          <p:cNvPr id="963" name="Google Shape;963;p58"/>
          <p:cNvSpPr/>
          <p:nvPr/>
        </p:nvSpPr>
        <p:spPr>
          <a:xfrm>
            <a:off x="4200525" y="3014663"/>
            <a:ext cx="11144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73657"/>
                </a:solidFill>
              </a:rPr>
              <a:t>+28.8%p</a:t>
            </a:r>
            <a:endParaRPr sz="1100"/>
          </a:p>
        </p:txBody>
      </p:sp>
      <p:sp>
        <p:nvSpPr>
          <p:cNvPr id="964" name="Google Shape;964;p58"/>
          <p:cNvSpPr/>
          <p:nvPr/>
        </p:nvSpPr>
        <p:spPr>
          <a:xfrm>
            <a:off x="5486400" y="3014663"/>
            <a:ext cx="14001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73657"/>
                </a:solidFill>
              </a:rPr>
              <a:t>-75.1%</a:t>
            </a:r>
            <a:endParaRPr sz="1100"/>
          </a:p>
        </p:txBody>
      </p:sp>
      <p:sp>
        <p:nvSpPr>
          <p:cNvPr id="965" name="Google Shape;965;p58"/>
          <p:cNvSpPr/>
          <p:nvPr/>
        </p:nvSpPr>
        <p:spPr>
          <a:xfrm>
            <a:off x="7058025" y="3014663"/>
            <a:ext cx="14859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73657"/>
                </a:solidFill>
              </a:rPr>
              <a:t>연 143.90억</a:t>
            </a:r>
            <a:endParaRPr sz="1100"/>
          </a:p>
        </p:txBody>
      </p:sp>
      <p:sp>
        <p:nvSpPr>
          <p:cNvPr id="966" name="Google Shape;966;p58"/>
          <p:cNvSpPr/>
          <p:nvPr/>
        </p:nvSpPr>
        <p:spPr>
          <a:xfrm>
            <a:off x="800100" y="3571875"/>
            <a:ext cx="2143125" cy="942975"/>
          </a:xfrm>
          <a:prstGeom prst="roundRect">
            <a:avLst>
              <a:gd name="adj" fmla="val 6061"/>
            </a:avLst>
          </a:prstGeom>
          <a:solidFill>
            <a:srgbClr val="E8F7F2"/>
          </a:solidFill>
          <a:ln w="9525" cap="flat" cmpd="sng">
            <a:solidFill>
              <a:srgbClr val="19C7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58"/>
          <p:cNvSpPr/>
          <p:nvPr/>
        </p:nvSpPr>
        <p:spPr>
          <a:xfrm>
            <a:off x="928688" y="3700463"/>
            <a:ext cx="1885950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19C7A3"/>
                </a:solidFill>
              </a:rPr>
              <a:t>핵심 효과 1</a:t>
            </a:r>
            <a:endParaRPr sz="1100"/>
          </a:p>
        </p:txBody>
      </p:sp>
      <p:sp>
        <p:nvSpPr>
          <p:cNvPr id="968" name="Google Shape;968;p58"/>
          <p:cNvSpPr/>
          <p:nvPr/>
        </p:nvSpPr>
        <p:spPr>
          <a:xfrm>
            <a:off x="928688" y="3929063"/>
            <a:ext cx="1885950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 b="1">
                <a:solidFill>
                  <a:srgbClr val="173657"/>
                </a:solidFill>
              </a:rPr>
              <a:t>38.3% → 9.6%</a:t>
            </a:r>
            <a:endParaRPr sz="1100"/>
          </a:p>
        </p:txBody>
      </p:sp>
      <p:sp>
        <p:nvSpPr>
          <p:cNvPr id="969" name="Google Shape;969;p58"/>
          <p:cNvSpPr/>
          <p:nvPr/>
        </p:nvSpPr>
        <p:spPr>
          <a:xfrm>
            <a:off x="928688" y="4243388"/>
            <a:ext cx="18859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6A7280"/>
                </a:solidFill>
              </a:rPr>
              <a:t>전체 적용 시 불량률 약 75% 감소</a:t>
            </a:r>
            <a:endParaRPr sz="1100"/>
          </a:p>
        </p:txBody>
      </p:sp>
      <p:sp>
        <p:nvSpPr>
          <p:cNvPr id="970" name="Google Shape;970;p58"/>
          <p:cNvSpPr/>
          <p:nvPr/>
        </p:nvSpPr>
        <p:spPr>
          <a:xfrm>
            <a:off x="3500438" y="3571875"/>
            <a:ext cx="2143125" cy="942975"/>
          </a:xfrm>
          <a:prstGeom prst="roundRect">
            <a:avLst>
              <a:gd name="adj" fmla="val 6061"/>
            </a:avLst>
          </a:prstGeom>
          <a:solidFill>
            <a:srgbClr val="EAF3FA"/>
          </a:solidFill>
          <a:ln w="9525" cap="flat" cmpd="sng">
            <a:solidFill>
              <a:srgbClr val="2C79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58"/>
          <p:cNvSpPr/>
          <p:nvPr/>
        </p:nvSpPr>
        <p:spPr>
          <a:xfrm>
            <a:off x="3629025" y="3700463"/>
            <a:ext cx="1885950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2C79B7"/>
                </a:solidFill>
              </a:rPr>
              <a:t>핵심 효과 2</a:t>
            </a:r>
            <a:endParaRPr sz="1100"/>
          </a:p>
        </p:txBody>
      </p:sp>
      <p:sp>
        <p:nvSpPr>
          <p:cNvPr id="972" name="Google Shape;972;p58"/>
          <p:cNvSpPr/>
          <p:nvPr/>
        </p:nvSpPr>
        <p:spPr>
          <a:xfrm>
            <a:off x="3629025" y="3929063"/>
            <a:ext cx="1885950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 b="1">
                <a:solidFill>
                  <a:srgbClr val="173657"/>
                </a:solidFill>
              </a:rPr>
              <a:t>+28.8%p</a:t>
            </a:r>
            <a:endParaRPr sz="1100"/>
          </a:p>
        </p:txBody>
      </p:sp>
      <p:sp>
        <p:nvSpPr>
          <p:cNvPr id="973" name="Google Shape;973;p58"/>
          <p:cNvSpPr/>
          <p:nvPr/>
        </p:nvSpPr>
        <p:spPr>
          <a:xfrm>
            <a:off x="3629025" y="4243388"/>
            <a:ext cx="18859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6A7280"/>
                </a:solidFill>
              </a:rPr>
              <a:t>BG Pass율 향상</a:t>
            </a:r>
            <a:endParaRPr sz="1100"/>
          </a:p>
        </p:txBody>
      </p:sp>
      <p:sp>
        <p:nvSpPr>
          <p:cNvPr id="974" name="Google Shape;974;p58"/>
          <p:cNvSpPr/>
          <p:nvPr/>
        </p:nvSpPr>
        <p:spPr>
          <a:xfrm>
            <a:off x="6200775" y="3571875"/>
            <a:ext cx="2143125" cy="942975"/>
          </a:xfrm>
          <a:prstGeom prst="roundRect">
            <a:avLst>
              <a:gd name="adj" fmla="val 6061"/>
            </a:avLst>
          </a:prstGeom>
          <a:solidFill>
            <a:srgbClr val="FFF6E3"/>
          </a:solidFill>
          <a:ln w="9525" cap="flat" cmpd="sng">
            <a:solidFill>
              <a:srgbClr val="F2A5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58"/>
          <p:cNvSpPr/>
          <p:nvPr/>
        </p:nvSpPr>
        <p:spPr>
          <a:xfrm>
            <a:off x="6329363" y="3700463"/>
            <a:ext cx="1885950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F2A51A"/>
                </a:solidFill>
              </a:rPr>
              <a:t>핵심 효과 3</a:t>
            </a:r>
            <a:endParaRPr sz="1100"/>
          </a:p>
        </p:txBody>
      </p:sp>
      <p:sp>
        <p:nvSpPr>
          <p:cNvPr id="976" name="Google Shape;976;p58"/>
          <p:cNvSpPr/>
          <p:nvPr/>
        </p:nvSpPr>
        <p:spPr>
          <a:xfrm>
            <a:off x="6329363" y="3929063"/>
            <a:ext cx="1885950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 b="1">
                <a:solidFill>
                  <a:srgbClr val="173657"/>
                </a:solidFill>
              </a:rPr>
              <a:t>연 143.90억</a:t>
            </a:r>
            <a:endParaRPr sz="1100"/>
          </a:p>
        </p:txBody>
      </p:sp>
      <p:sp>
        <p:nvSpPr>
          <p:cNvPr id="977" name="Google Shape;977;p58"/>
          <p:cNvSpPr/>
          <p:nvPr/>
        </p:nvSpPr>
        <p:spPr>
          <a:xfrm>
            <a:off x="6329363" y="4243388"/>
            <a:ext cx="18859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6A7280"/>
                </a:solidFill>
              </a:rPr>
              <a:t>NG/재작업 감소 기반 비용 절감</a:t>
            </a:r>
            <a:endParaRPr sz="1100"/>
          </a:p>
        </p:txBody>
      </p:sp>
      <p:sp>
        <p:nvSpPr>
          <p:cNvPr id="978" name="Google Shape;978;p58"/>
          <p:cNvSpPr/>
          <p:nvPr/>
        </p:nvSpPr>
        <p:spPr>
          <a:xfrm>
            <a:off x="685800" y="4643438"/>
            <a:ext cx="7772400" cy="242888"/>
          </a:xfrm>
          <a:prstGeom prst="roundRect">
            <a:avLst>
              <a:gd name="adj" fmla="val 17647"/>
            </a:avLst>
          </a:prstGeom>
          <a:solidFill>
            <a:srgbClr val="FCECEF"/>
          </a:solidFill>
          <a:ln w="9525" cap="flat" cmpd="sng">
            <a:solidFill>
              <a:srgbClr val="F4C7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58"/>
          <p:cNvSpPr/>
          <p:nvPr/>
        </p:nvSpPr>
        <p:spPr>
          <a:xfrm>
            <a:off x="871538" y="4693444"/>
            <a:ext cx="500063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B3132E"/>
                </a:solidFill>
              </a:rPr>
              <a:t>정리</a:t>
            </a:r>
            <a:endParaRPr sz="1100"/>
          </a:p>
        </p:txBody>
      </p:sp>
      <p:sp>
        <p:nvSpPr>
          <p:cNvPr id="980" name="Google Shape;980;p58"/>
          <p:cNvSpPr/>
          <p:nvPr/>
        </p:nvSpPr>
        <p:spPr>
          <a:xfrm>
            <a:off x="1428750" y="4686300"/>
            <a:ext cx="607218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발표에서는 ‘전체 적용’ 결과를 메인 메시지로 두고, ①만/②~④는 비교 근거로만 짧게 설명한다.</a:t>
            </a:r>
            <a:endParaRPr sz="1100"/>
          </a:p>
        </p:txBody>
      </p:sp>
      <p:sp>
        <p:nvSpPr>
          <p:cNvPr id="981" name="Google Shape;981;p58"/>
          <p:cNvSpPr/>
          <p:nvPr/>
        </p:nvSpPr>
        <p:spPr>
          <a:xfrm>
            <a:off x="400050" y="4886325"/>
            <a:ext cx="80010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 b="0">
                <a:solidFill>
                  <a:srgbClr val="8392A2"/>
                </a:solidFill>
              </a:rPr>
              <a:t>출처: 원본 BG 불량분석.pptx 24~26p 기대효과 수치. 금액은 원본 시뮬레이터 가정값 기준.</a:t>
            </a:r>
            <a:endParaRPr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59"/>
          <p:cNvSpPr/>
          <p:nvPr/>
        </p:nvSpPr>
        <p:spPr>
          <a:xfrm>
            <a:off x="274348" y="1229060"/>
            <a:ext cx="8595300" cy="885900"/>
          </a:xfrm>
          <a:prstGeom prst="roundRect">
            <a:avLst>
              <a:gd name="adj" fmla="val 6400"/>
            </a:avLst>
          </a:prstGeom>
          <a:solidFill>
            <a:srgbClr val="F3F7F7"/>
          </a:solidFill>
          <a:ln>
            <a:noFill/>
          </a:ln>
        </p:spPr>
        <p:txBody>
          <a:bodyPr spcFirstLastPara="1" wrap="square" lIns="70850" tIns="70850" rIns="70850" bIns="70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59"/>
          <p:cNvSpPr/>
          <p:nvPr/>
        </p:nvSpPr>
        <p:spPr>
          <a:xfrm>
            <a:off x="522360" y="1473530"/>
            <a:ext cx="396900" cy="3969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spcFirstLastPara="1" wrap="square" lIns="70850" tIns="70850" rIns="70850" bIns="70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59"/>
          <p:cNvSpPr/>
          <p:nvPr/>
        </p:nvSpPr>
        <p:spPr>
          <a:xfrm>
            <a:off x="522360" y="1473517"/>
            <a:ext cx="3969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5"/>
              <a:buFont typeface="Calibri"/>
              <a:buNone/>
            </a:pPr>
            <a:r>
              <a:rPr lang="ko" sz="139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9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59"/>
          <p:cNvSpPr/>
          <p:nvPr/>
        </p:nvSpPr>
        <p:spPr>
          <a:xfrm>
            <a:off x="1089246" y="1328265"/>
            <a:ext cx="21258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B80"/>
              </a:buClr>
              <a:buSzPts val="1007"/>
              <a:buFont typeface="Calibri"/>
              <a:buNone/>
            </a:pPr>
            <a:r>
              <a:rPr lang="ko" sz="1407" b="1" i="0" u="none" strike="noStrike" cap="none">
                <a:solidFill>
                  <a:srgbClr val="6B7B80"/>
                </a:solidFill>
                <a:latin typeface="Calibri"/>
                <a:ea typeface="Calibri"/>
                <a:cs typeface="Calibri"/>
                <a:sym typeface="Calibri"/>
              </a:rPr>
              <a:t>핵심 원인</a:t>
            </a:r>
            <a:endParaRPr sz="140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59"/>
          <p:cNvSpPr/>
          <p:nvPr/>
        </p:nvSpPr>
        <p:spPr>
          <a:xfrm>
            <a:off x="3285929" y="1328265"/>
            <a:ext cx="53856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240"/>
              <a:buFont typeface="Calibri"/>
              <a:buNone/>
            </a:pPr>
            <a:r>
              <a:rPr lang="ko" sz="144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Rough Grinding</a:t>
            </a:r>
            <a:endParaRPr sz="144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59"/>
          <p:cNvSpPr/>
          <p:nvPr/>
        </p:nvSpPr>
        <p:spPr>
          <a:xfrm>
            <a:off x="274348" y="2291971"/>
            <a:ext cx="8595300" cy="885900"/>
          </a:xfrm>
          <a:prstGeom prst="roundRect">
            <a:avLst>
              <a:gd name="adj" fmla="val 6400"/>
            </a:avLst>
          </a:prstGeom>
          <a:solidFill>
            <a:srgbClr val="F3F7F7"/>
          </a:solidFill>
          <a:ln>
            <a:noFill/>
          </a:ln>
        </p:spPr>
        <p:txBody>
          <a:bodyPr spcFirstLastPara="1" wrap="square" lIns="70850" tIns="70850" rIns="70850" bIns="70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59"/>
          <p:cNvSpPr/>
          <p:nvPr/>
        </p:nvSpPr>
        <p:spPr>
          <a:xfrm>
            <a:off x="522360" y="2536441"/>
            <a:ext cx="396900" cy="3969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spcFirstLastPara="1" wrap="square" lIns="70850" tIns="70850" rIns="70850" bIns="70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59"/>
          <p:cNvSpPr/>
          <p:nvPr/>
        </p:nvSpPr>
        <p:spPr>
          <a:xfrm>
            <a:off x="522360" y="2536428"/>
            <a:ext cx="3969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5"/>
              <a:buFont typeface="Calibri"/>
              <a:buNone/>
            </a:pPr>
            <a:r>
              <a:rPr lang="ko" sz="139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9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59"/>
          <p:cNvSpPr/>
          <p:nvPr/>
        </p:nvSpPr>
        <p:spPr>
          <a:xfrm>
            <a:off x="1089246" y="2391176"/>
            <a:ext cx="21258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B80"/>
              </a:buClr>
              <a:buSzPts val="1007"/>
              <a:buFont typeface="Calibri"/>
              <a:buNone/>
            </a:pPr>
            <a:r>
              <a:rPr lang="ko" sz="1407" b="1" i="0" u="none" strike="noStrike" cap="none">
                <a:solidFill>
                  <a:srgbClr val="6B7B80"/>
                </a:solidFill>
                <a:latin typeface="Calibri"/>
                <a:ea typeface="Calibri"/>
                <a:cs typeface="Calibri"/>
                <a:sym typeface="Calibri"/>
              </a:rPr>
              <a:t>추천 개선안</a:t>
            </a:r>
            <a:endParaRPr sz="140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59"/>
          <p:cNvSpPr/>
          <p:nvPr/>
        </p:nvSpPr>
        <p:spPr>
          <a:xfrm>
            <a:off x="3285929" y="2391176"/>
            <a:ext cx="53856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 Rate/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RPM/가공 압력별 영향 검증 및 최적화</a:t>
            </a:r>
            <a:endParaRPr sz="1600"/>
          </a:p>
        </p:txBody>
      </p:sp>
      <p:sp>
        <p:nvSpPr>
          <p:cNvPr id="996" name="Google Shape;996;p59"/>
          <p:cNvSpPr/>
          <p:nvPr/>
        </p:nvSpPr>
        <p:spPr>
          <a:xfrm>
            <a:off x="274350" y="3354872"/>
            <a:ext cx="8595300" cy="1253700"/>
          </a:xfrm>
          <a:prstGeom prst="roundRect">
            <a:avLst>
              <a:gd name="adj" fmla="val 6400"/>
            </a:avLst>
          </a:prstGeom>
          <a:solidFill>
            <a:srgbClr val="E4F5F1"/>
          </a:solidFill>
          <a:ln w="14775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850" tIns="70850" rIns="70850" bIns="70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59"/>
          <p:cNvSpPr/>
          <p:nvPr/>
        </p:nvSpPr>
        <p:spPr>
          <a:xfrm>
            <a:off x="522360" y="3783440"/>
            <a:ext cx="396900" cy="3969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70850" tIns="70850" rIns="70850" bIns="70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8" name="Google Shape;998;p59"/>
          <p:cNvSpPr/>
          <p:nvPr/>
        </p:nvSpPr>
        <p:spPr>
          <a:xfrm>
            <a:off x="522360" y="3783439"/>
            <a:ext cx="3969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5"/>
              <a:buFont typeface="Calibri"/>
              <a:buNone/>
            </a:pPr>
            <a:r>
              <a:rPr lang="ko" sz="139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9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59"/>
          <p:cNvSpPr/>
          <p:nvPr/>
        </p:nvSpPr>
        <p:spPr>
          <a:xfrm>
            <a:off x="1089246" y="3638087"/>
            <a:ext cx="21258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7"/>
              <a:buFont typeface="Calibri"/>
              <a:buNone/>
            </a:pPr>
            <a:r>
              <a:rPr lang="ko" sz="1407" b="1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기대 효과</a:t>
            </a:r>
            <a:endParaRPr sz="140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59"/>
          <p:cNvSpPr/>
          <p:nvPr/>
        </p:nvSpPr>
        <p:spPr>
          <a:xfrm>
            <a:off x="3285931" y="3495278"/>
            <a:ext cx="5385600" cy="9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Crack 감소와 TTV 안정화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 b="1">
                <a:solidFill>
                  <a:schemeClr val="dk1"/>
                </a:solidFill>
              </a:rPr>
              <a:t>Crack</a:t>
            </a:r>
            <a:r>
              <a:rPr lang="ko" sz="1100">
                <a:solidFill>
                  <a:schemeClr val="dk1"/>
                </a:solidFill>
              </a:rPr>
              <a:t>: 20.1% → (①만) 6.4% → (전체) </a:t>
            </a:r>
            <a:r>
              <a:rPr lang="ko" sz="1100" b="1">
                <a:solidFill>
                  <a:schemeClr val="dk1"/>
                </a:solidFill>
              </a:rPr>
              <a:t>2.9%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 b="1">
                <a:solidFill>
                  <a:schemeClr val="dk1"/>
                </a:solidFill>
              </a:rPr>
              <a:t>TTV</a:t>
            </a:r>
            <a:r>
              <a:rPr lang="ko" sz="1100">
                <a:solidFill>
                  <a:schemeClr val="dk1"/>
                </a:solidFill>
              </a:rPr>
              <a:t>: 24.8% → (①만) 21.7% → (전체) </a:t>
            </a:r>
            <a:r>
              <a:rPr lang="ko" sz="1100" b="1">
                <a:solidFill>
                  <a:schemeClr val="dk1"/>
                </a:solidFill>
              </a:rPr>
              <a:t>9.6%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 b="1">
                <a:solidFill>
                  <a:schemeClr val="dk1"/>
                </a:solidFill>
              </a:rPr>
              <a:t>불량률 38.3% → 21.7%</a:t>
            </a:r>
            <a:r>
              <a:rPr lang="ko" sz="1100">
                <a:solidFill>
                  <a:schemeClr val="dk1"/>
                </a:solidFill>
              </a:rPr>
              <a:t>(① 적용) </a:t>
            </a:r>
            <a:r>
              <a:rPr lang="ko" sz="1100" b="1">
                <a:solidFill>
                  <a:schemeClr val="dk1"/>
                </a:solidFill>
              </a:rPr>
              <a:t>→ 9.6%</a:t>
            </a:r>
            <a:r>
              <a:rPr lang="ko" sz="1100">
                <a:solidFill>
                  <a:schemeClr val="dk1"/>
                </a:solidFill>
              </a:rPr>
              <a:t>(①~④ 전체)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1" name="Google Shape;1001;p59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2" name="Google Shape;1002;p59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</a:t>
            </a:r>
            <a:endParaRPr sz="2300" b="1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60"/>
          <p:cNvSpPr txBox="1">
            <a:spLocks noGrp="1"/>
          </p:cNvSpPr>
          <p:nvPr>
            <p:ph type="ctrTitle" idx="4294967295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0">
                <a:latin typeface="Calibri"/>
                <a:ea typeface="Calibri"/>
                <a:cs typeface="Calibri"/>
                <a:sym typeface="Calibri"/>
              </a:rPr>
              <a:t>감사합니다</a:t>
            </a:r>
            <a:endParaRPr sz="5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1BAF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1BAF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6009</Words>
  <Application>Microsoft Office PowerPoint</Application>
  <PresentationFormat>화면 슬라이드 쇼(16:9)</PresentationFormat>
  <Paragraphs>843</Paragraphs>
  <Slides>29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29</vt:i4>
      </vt:variant>
    </vt:vector>
  </HeadingPairs>
  <TitlesOfParts>
    <vt:vector size="38" baseType="lpstr">
      <vt:lpstr>Malgun Gothic</vt:lpstr>
      <vt:lpstr>Arial</vt:lpstr>
      <vt:lpstr>Calibri</vt:lpstr>
      <vt:lpstr>Cambria</vt:lpstr>
      <vt:lpstr>Times New Roman</vt:lpstr>
      <vt:lpstr>Simple Light</vt:lpstr>
      <vt:lpstr>Office Theme</vt:lpstr>
      <vt:lpstr>Simple Light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감사합니다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정회찬</cp:lastModifiedBy>
  <cp:revision>1</cp:revision>
  <dcterms:modified xsi:type="dcterms:W3CDTF">2026-08-20T02:25:28Z</dcterms:modified>
</cp:coreProperties>
</file>