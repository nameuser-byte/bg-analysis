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latin typeface="Malgun Gothic"/>
              </a:defRPr>
            </a:pPr>
            <a:r>
              <a:t>반도체 후공정 SAW 공정 SPC Out-of-Control 원인 분석 및 개선 방안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기계적 산포(Range) 중심의 물리적 원인 추적 및 Cpk 개선 권고안</a:t>
            </a:r>
          </a:p>
          <a:p/>
          <a:p>
            <a:r>
              <a:t>발표자: 데이터 분석팀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분석 배경 및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003399"/>
                </a:solidFill>
                <a:latin typeface="Malgun Gothic"/>
              </a:defRPr>
            </a:pPr>
            <a:r>
              <a:t>핵심 메시지:</a:t>
            </a:r>
          </a:p>
          <a:p>
            <a:pPr>
              <a:defRPr sz="2200" b="0">
                <a:latin typeface="Malgun Gothic"/>
              </a:defRPr>
            </a:pPr>
            <a:r>
              <a:t>SAW 공정의 OOC 비율은 6.83% 수준이며, 불량과의 연관성을 검증하고 그 물리적 원인을 파악해 공정 안정성을 높인다.</a:t>
            </a:r>
          </a:p>
          <a:p>
            <a:pPr>
              <a:defRPr sz="2200" b="0">
                <a:latin typeface="Malgun Gothic"/>
              </a:defRPr>
            </a:pPr>
          </a:p>
          <a:p>
            <a:pPr>
              <a:defRPr sz="2200" b="1">
                <a:latin typeface="Malgun Gothic"/>
              </a:defRPr>
            </a:pPr>
            <a:r>
              <a:t>분석 데이터:</a:t>
            </a:r>
          </a:p>
          <a:p>
            <a:pPr lvl="1">
              <a:defRPr sz="2000" b="0">
                <a:latin typeface="Malgun Gothic"/>
              </a:defRPr>
            </a:pPr>
            <a:r>
              <a:t>20,000건의 SAW 공정 SPC 기록 및 Final Test 데이터</a:t>
            </a:r>
          </a:p>
          <a:p>
            <a:pPr>
              <a:defRPr sz="2200" b="1">
                <a:latin typeface="Malgun Gothic"/>
              </a:defRPr>
            </a:pPr>
            <a:r>
              <a:t>목표:</a:t>
            </a:r>
          </a:p>
          <a:p>
            <a:pPr lvl="1">
              <a:defRPr sz="2000" b="0">
                <a:latin typeface="Malgun Gothic"/>
              </a:defRPr>
            </a:pPr>
            <a:r>
              <a:t>OOC 발생 원인 규명</a:t>
            </a:r>
          </a:p>
          <a:p>
            <a:pPr lvl="1">
              <a:defRPr sz="2000" b="0">
                <a:latin typeface="Malgun Gothic"/>
              </a:defRPr>
            </a:pPr>
            <a:r>
              <a:t>예측 모델 타당성 검토</a:t>
            </a:r>
          </a:p>
          <a:p>
            <a:pPr lvl="1">
              <a:defRPr sz="2000" b="0">
                <a:latin typeface="Malgun Gothic"/>
              </a:defRPr>
            </a:pPr>
            <a:r>
              <a:t>공정 능력(Cpk) 개선안 도출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SAW OOC 현황 및 수율 영향도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99"/>
                </a:solidFill>
                <a:latin typeface="Malgun Gothic"/>
              </a:defRPr>
            </a:pPr>
            <a:r>
              <a:t>Key Message:</a:t>
            </a:r>
          </a:p>
          <a:p>
            <a:pPr>
              <a:defRPr sz="2200" b="0">
                <a:latin typeface="Malgun Gothic"/>
              </a:defRPr>
            </a:pPr>
            <a:r>
              <a:t>OOC가 발생한다고 수율이 떨어지지는 않는다. 조기 경보 지표로써 관리해야 한다.</a:t>
            </a:r>
          </a:p>
          <a:p>
            <a:pPr>
              <a:defRPr sz="2200" b="0">
                <a:latin typeface="Malgun Gothic"/>
              </a:defRPr>
            </a:pPr>
          </a:p>
          <a:p>
            <a:pPr>
              <a:defRPr sz="2000" b="0">
                <a:latin typeface="Malgun Gothic"/>
              </a:defRPr>
            </a:pPr>
            <a:r>
              <a:t>현재 OOC 비율은 6.83%입니다. 최근 생성한 그래프(우측)에서 보듯, IC 최종 불합격률(82.63%)과 OOC 불합격률(83.66%) 간의 차이는 1.03%p로 통계적으로 유의미하지 않습니다 (p=0.35).</a:t>
            </a:r>
          </a:p>
          <a:p>
            <a:pPr>
              <a:defRPr sz="2000" b="0">
                <a:latin typeface="Malgun Gothic"/>
              </a:defRPr>
            </a:pPr>
            <a:r>
              <a:t>수율 개선이 아닌 설비 예방보전(PM)과 공정 안정성 확보 차원에서 접근해야 합니다.</a:t>
            </a:r>
          </a:p>
        </p:txBody>
      </p:sp>
      <p:pic>
        <p:nvPicPr>
          <p:cNvPr id="4" name="Picture 3" descr="G18_ic_vs_ooc_rejec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7315200" cy="5468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OOC 발생 시 특징: 중심(Xbar)이 아닌 산포(Range)의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99"/>
                </a:solidFill>
                <a:latin typeface="Malgun Gothic"/>
              </a:defRPr>
            </a:pPr>
            <a:r>
              <a:t>Key Message:</a:t>
            </a:r>
          </a:p>
          <a:p>
            <a:pPr>
              <a:defRPr sz="2200" b="0">
                <a:latin typeface="Malgun Gothic"/>
              </a:defRPr>
            </a:pPr>
            <a:r>
              <a:t>OOC의 주된 현상은 Xbar의 이동이 아니라 Range(폭)의 62% 증가이다.</a:t>
            </a:r>
          </a:p>
          <a:p>
            <a:pPr>
              <a:defRPr sz="2200" b="0">
                <a:latin typeface="Malgun Gothic"/>
              </a:defRPr>
            </a:pPr>
          </a:p>
          <a:p>
            <a:pPr>
              <a:defRPr sz="2000" b="0">
                <a:latin typeface="Malgun Gothic"/>
              </a:defRPr>
            </a:pPr>
            <a:r>
              <a:t>OOC가 날 때 Xbar 중심값은 거의 흔들리지 않습니다. 반면 Range(산포)는 평균 61.9% 폭증합니다.</a:t>
            </a:r>
          </a:p>
          <a:p>
            <a:pPr>
              <a:defRPr sz="2000" b="0">
                <a:latin typeface="Malgun Gothic"/>
              </a:defRPr>
            </a:pPr>
            <a:r>
              <a:t>팽이가 제자리에서 떨며 회전하는 것처럼, 톱날(Blade)이 떨리며 Kerf Width가 일정치 않게 깎이고 있다는 강력한 물리적 증거입니다.</a:t>
            </a:r>
          </a:p>
        </p:txBody>
      </p:sp>
      <p:pic>
        <p:nvPicPr>
          <p:cNvPr id="4" name="Picture 3" descr="G13_ooc_typ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7315200" cy="3120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복합 SPC 룰 분석 — 2시그마 룰 적용 및 한계 (OOC 71.5% 미파악)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99"/>
                </a:solidFill>
                <a:latin typeface="Malgun Gothic"/>
              </a:defRPr>
            </a:pPr>
            <a:r>
              <a:t>Key Message:</a:t>
            </a:r>
          </a:p>
          <a:p>
            <a:pPr>
              <a:defRPr sz="2200" b="0">
                <a:latin typeface="Malgun Gothic"/>
              </a:defRPr>
            </a:pPr>
            <a:r>
              <a:t>데이터 분석 결과, 28.5%는 3시그마 및 2시그마 룰 등 표준 룰로 설명되지만, 71.5%는 여전히 설명 불가</a:t>
            </a:r>
          </a:p>
          <a:p>
            <a:pPr>
              <a:defRPr sz="2000" b="0">
                <a:latin typeface="Malgun Gothic"/>
              </a:defRPr>
            </a:pPr>
            <a:r>
              <a:t>OOC 중 17.4%는 3시그마 이탈, 9.2%는 '2/3 지점 2시그마 이탈' 규칙에 의해 검출되었습니다. 하지만 나머지 71.5%는 정규 한계 안에 있음에도 OOC로 판정되었습니다. 이는 미계측 '은닉 변수(진동 등)'에 의한 강력한 알람임을 뜻합니다.</a:t>
            </a:r>
          </a:p>
        </p:txBody>
      </p:sp>
      <p:pic>
        <p:nvPicPr>
          <p:cNvPr id="4" name="Picture 3" descr="G16_unknown_rul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200400"/>
            <a:ext cx="1072363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공정 파라미터 연관성 및 작업자 개입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99"/>
                </a:solidFill>
                <a:latin typeface="Malgun Gothic"/>
              </a:defRPr>
            </a:pPr>
            <a:r>
              <a:t>Key Message:</a:t>
            </a:r>
          </a:p>
          <a:p>
            <a:pPr>
              <a:defRPr sz="2200" b="0">
                <a:latin typeface="Malgun Gothic"/>
              </a:defRPr>
            </a:pPr>
            <a:r>
              <a:t>Blade Wear와 Speed 간의 강한 상관관계(r=0.863)가 존재한다.</a:t>
            </a:r>
          </a:p>
          <a:p>
            <a:pPr>
              <a:defRPr sz="2000" b="0">
                <a:latin typeface="Malgun Gothic"/>
              </a:defRPr>
            </a:pPr>
            <a:r>
              <a:t>VIF 지수는 4 미만으로 통계적 공선성 문제는 없습니다. 그러나 Blade Wear와 Speed의 상관계수가 0.863으로 매우 높습니다. 이는 마모가 진행될수록 장비/작업자가 속도를 올리거나 늦추는 현상이 있음을 의미합니다.</a:t>
            </a:r>
          </a:p>
        </p:txBody>
      </p:sp>
      <p:pic>
        <p:nvPicPr>
          <p:cNvPr id="4" name="Picture 3" descr="G06_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5652492" cy="4572000"/>
          </a:xfrm>
          <a:prstGeom prst="rect">
            <a:avLst/>
          </a:prstGeom>
        </p:spPr>
      </p:pic>
      <p:pic>
        <p:nvPicPr>
          <p:cNvPr id="5" name="Picture 4" descr="G04_scatter_blade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3200400"/>
            <a:ext cx="1072363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OOC 예측 모델링 결과 (AUC 0.5)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99"/>
                </a:solidFill>
                <a:latin typeface="Malgun Gothic"/>
              </a:defRPr>
            </a:pPr>
            <a:r>
              <a:t>Key Message:</a:t>
            </a:r>
          </a:p>
          <a:p>
            <a:pPr>
              <a:defRPr sz="2200" b="0">
                <a:latin typeface="Malgun Gothic"/>
              </a:defRPr>
            </a:pPr>
            <a:r>
              <a:t>현재 변수(Wear, Speed, Coolant)만으로는 OOC를 예측할 수 없다. (핵심 원인 데이터 누락)</a:t>
            </a:r>
          </a:p>
          <a:p>
            <a:pPr>
              <a:defRPr sz="2200" b="0">
                <a:latin typeface="Malgun Gothic"/>
              </a:defRPr>
            </a:pPr>
          </a:p>
          <a:p>
            <a:pPr>
              <a:defRPr sz="2000" b="0">
                <a:latin typeface="Malgun Gothic"/>
              </a:defRPr>
            </a:pPr>
            <a:r>
              <a:t>예측 모델을 돌려본 결과 정확도(AUC)가 0.5 수준에 불과했습니다.</a:t>
            </a:r>
          </a:p>
          <a:p>
            <a:pPr>
              <a:defRPr sz="2000" b="0">
                <a:latin typeface="Malgun Gothic"/>
              </a:defRPr>
            </a:pPr>
            <a:r>
              <a:t>이는 OOC의 진짜 원인인 기계적 진동 데이터(미계측 변수)가 빠져있기 때문에 예측이 불가능하다는 것을 통계적으로 입증한 셈입니다.</a:t>
            </a:r>
          </a:p>
        </p:txBody>
      </p:sp>
      <p:pic>
        <p:nvPicPr>
          <p:cNvPr id="4" name="Picture 3" descr="G11_feature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7315200" cy="27923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주요 파라미터 공정 능력(Cpk)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99"/>
                </a:solidFill>
                <a:latin typeface="Malgun Gothic"/>
              </a:defRPr>
            </a:pPr>
            <a:r>
              <a:t>Key Message:</a:t>
            </a:r>
          </a:p>
          <a:p>
            <a:pPr>
              <a:defRPr sz="2200" b="0">
                <a:latin typeface="Malgun Gothic"/>
              </a:defRPr>
            </a:pPr>
            <a:r>
              <a:t>Speed와 Coolant의 Cpk가 0.6 수준으로, 변동성(산포) 관리가 전혀 안 되고 있다.</a:t>
            </a:r>
          </a:p>
          <a:p>
            <a:pPr>
              <a:defRPr sz="2000" b="0">
                <a:latin typeface="Malgun Gothic"/>
              </a:defRPr>
            </a:pPr>
            <a:r>
              <a:t>기준치 1.0(혹은 1.33)에 한참 못 미치는 0.6 수준입니다. Speed는 작업자마다 편차가 크고, Coolant는 펌프 압력이 흔들리고 있습니다. 하드웨어적 조치가 시급합니다.</a:t>
            </a:r>
          </a:p>
        </p:txBody>
      </p:sp>
      <p:pic>
        <p:nvPicPr>
          <p:cNvPr id="4" name="Picture 3" descr="G09_cpk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200400"/>
            <a:ext cx="1287887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OOC 잠재 원인 추적 (Fishbone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99"/>
                </a:solidFill>
                <a:latin typeface="Malgun Gothic"/>
              </a:defRPr>
            </a:pPr>
            <a:r>
              <a:t>Key Message:</a:t>
            </a:r>
          </a:p>
          <a:p>
            <a:pPr>
              <a:defRPr sz="2200" b="0">
                <a:latin typeface="Malgun Gothic"/>
              </a:defRPr>
            </a:pPr>
            <a:r>
              <a:t>기계적 떨림(Spindle/Chuck)과 작업자 편차(Speed 제어)가 OOC의 근본 원인이다.</a:t>
            </a:r>
          </a:p>
          <a:p>
            <a:pPr>
              <a:defRPr sz="2000" b="0">
                <a:latin typeface="Malgun Gothic"/>
              </a:defRPr>
            </a:pPr>
            <a:r>
              <a:t>데이터 분석 결과를 4M1E 관점으로 정리했습니다. Range 폭증을 유발하는 설비(Machine)의 Spindle Run-out, 그리고 Method 관점의 표준화되지 않은 Speed/Wear 제어가 핵심 타겟입니다.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3657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0">
                <a:solidFill>
                  <a:srgbClr val="FF0000"/>
                </a:solidFill>
                <a:latin typeface="Malgun Gothic"/>
              </a:defRPr>
            </a:pPr>
            <a:r>
              <a:t>[SVG 변환 필요]</a:t>
            </a:r>
            <a:br/>
            <a:r>
              <a:t>Fishbone_Diagram.svg 이미지를 PNG/JPG로 변환하여 이곳에 삽입해주세요.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Malgun Gothic"/>
              </a:defRPr>
            </a:pPr>
            <a:r>
              <a:t>공정 안정화(SPC In-Control)를 위한 현장 개선안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37160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99"/>
                </a:solidFill>
                <a:latin typeface="Malgun Gothic"/>
              </a:defRPr>
            </a:pPr>
            <a:r>
              <a:t>Key Message: 즉시 실행 가능한 교체 기준 표준화 및 설비 PM 기준 도입</a:t>
            </a:r>
          </a:p>
          <a:p>
            <a:pPr>
              <a:defRPr sz="2200" b="0">
                <a:latin typeface="Malgun Gothic"/>
              </a:defRPr>
            </a:pPr>
          </a:p>
          <a:p>
            <a:pPr>
              <a:defRPr sz="2200" b="1">
                <a:latin typeface="Malgun Gothic"/>
              </a:defRPr>
            </a:pPr>
            <a:r>
              <a:t>1. Blade 교체 기준 90%로 표준화:</a:t>
            </a:r>
          </a:p>
          <a:p>
            <a:pPr lvl="1">
              <a:defRPr sz="2000" b="0">
                <a:latin typeface="Malgun Gothic"/>
              </a:defRPr>
            </a:pPr>
            <a:r>
              <a:t>100% 초과 사용 엄격 금지 (Chipping 예방)</a:t>
            </a:r>
          </a:p>
          <a:p>
            <a:pPr>
              <a:defRPr sz="2200" b="1">
                <a:latin typeface="Malgun Gothic"/>
              </a:defRPr>
            </a:pPr>
            <a:r>
              <a:t>2. Spindle Run-out 정기 측정 및 캘리브레이션:</a:t>
            </a:r>
          </a:p>
          <a:p>
            <a:pPr lvl="1">
              <a:defRPr sz="2000" b="0">
                <a:latin typeface="Malgun Gothic"/>
              </a:defRPr>
            </a:pPr>
            <a:r>
              <a:t>Range 폭증을 막기 위한 가장 직접적이고 확실한 예방 정비(PM)</a:t>
            </a:r>
          </a:p>
          <a:p>
            <a:pPr>
              <a:defRPr sz="2200" b="1">
                <a:latin typeface="Malgun Gothic"/>
              </a:defRPr>
            </a:pPr>
            <a:r>
              <a:t>3. 마모 구간별 Speed 제어 표준화 (SOP) 추가 도입:</a:t>
            </a:r>
          </a:p>
          <a:p>
            <a:pPr lvl="1">
              <a:defRPr sz="2000" b="0">
                <a:latin typeface="Malgun Gothic"/>
              </a:defRPr>
            </a:pPr>
            <a:r>
              <a:t>마모율 100% 도달 시 Speed가 평균 33.56 mm/s 고속 구간으로 편중(산포 급감)되는 현상 확인</a:t>
            </a:r>
          </a:p>
          <a:p>
            <a:pPr lvl="1">
              <a:defRPr sz="2000" b="0">
                <a:latin typeface="Malgun Gothic"/>
              </a:defRPr>
            </a:pPr>
            <a:r>
              <a:t>작업자 임의 개입을 줄이고 Speed Cpk 확보 및 무리한 고속 절단 방지</a:t>
            </a:r>
          </a:p>
        </p:txBody>
      </p:sp>
      <p:pic>
        <p:nvPicPr>
          <p:cNvPr id="4" name="Picture 3" descr="G10_blade_wear_100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3657600"/>
            <a:ext cx="4572000" cy="16239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>
                <a:latin typeface="Malgun Gothic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463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 b="1">
                <a:latin typeface="Malgun Gothic"/>
              </a:defRPr>
            </a:pPr>
            <a:r>
              <a:t>감사합니다. 질문해 주시면 답변해 드리겠습니다.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