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5"/>
    <p:sldMasterId id="2147483673" r:id="rId6"/>
    <p:sldMasterId id="2147483674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</p:sldIdLst>
  <p:sldSz cy="5143500" cx="9144000"/>
  <p:notesSz cx="6858000" cy="9144000"/>
  <p:embeddedFontLst>
    <p:embeddedFont>
      <p:font typeface="Roboto Mono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67E622A-4300-4D88-96DC-A8B238DC21D9}">
  <a:tblStyle styleId="{767E622A-4300-4D88-96DC-A8B238DC21D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20" Type="http://schemas.openxmlformats.org/officeDocument/2006/relationships/slide" Target="slides/slide12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22" Type="http://schemas.openxmlformats.org/officeDocument/2006/relationships/slide" Target="slides/slide14.xml"/><Relationship Id="rId44" Type="http://schemas.openxmlformats.org/officeDocument/2006/relationships/slide" Target="slides/slide36.xml"/><Relationship Id="rId21" Type="http://schemas.openxmlformats.org/officeDocument/2006/relationships/slide" Target="slides/slide13.xml"/><Relationship Id="rId43" Type="http://schemas.openxmlformats.org/officeDocument/2006/relationships/slide" Target="slides/slide35.xml"/><Relationship Id="rId24" Type="http://schemas.openxmlformats.org/officeDocument/2006/relationships/slide" Target="slides/slide16.xml"/><Relationship Id="rId46" Type="http://schemas.openxmlformats.org/officeDocument/2006/relationships/font" Target="fonts/RobotoMono-bold.fntdata"/><Relationship Id="rId23" Type="http://schemas.openxmlformats.org/officeDocument/2006/relationships/slide" Target="slides/slide15.xml"/><Relationship Id="rId45" Type="http://schemas.openxmlformats.org/officeDocument/2006/relationships/font" Target="fonts/RobotoMon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48" Type="http://schemas.openxmlformats.org/officeDocument/2006/relationships/font" Target="fonts/RobotoMono-boldItalic.fntdata"/><Relationship Id="rId25" Type="http://schemas.openxmlformats.org/officeDocument/2006/relationships/slide" Target="slides/slide17.xml"/><Relationship Id="rId47" Type="http://schemas.openxmlformats.org/officeDocument/2006/relationships/font" Target="fonts/RobotoMono-italic.fntdata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11" Type="http://schemas.openxmlformats.org/officeDocument/2006/relationships/slide" Target="slides/slide3.xml"/><Relationship Id="rId33" Type="http://schemas.openxmlformats.org/officeDocument/2006/relationships/slide" Target="slides/slide25.xml"/><Relationship Id="rId10" Type="http://schemas.openxmlformats.org/officeDocument/2006/relationships/slide" Target="slides/slide2.xml"/><Relationship Id="rId32" Type="http://schemas.openxmlformats.org/officeDocument/2006/relationships/slide" Target="slides/slide24.xml"/><Relationship Id="rId13" Type="http://schemas.openxmlformats.org/officeDocument/2006/relationships/slide" Target="slides/slide5.xml"/><Relationship Id="rId35" Type="http://schemas.openxmlformats.org/officeDocument/2006/relationships/slide" Target="slides/slide27.xml"/><Relationship Id="rId12" Type="http://schemas.openxmlformats.org/officeDocument/2006/relationships/slide" Target="slides/slide4.xml"/><Relationship Id="rId34" Type="http://schemas.openxmlformats.org/officeDocument/2006/relationships/slide" Target="slides/slide26.xml"/><Relationship Id="rId15" Type="http://schemas.openxmlformats.org/officeDocument/2006/relationships/slide" Target="slides/slide7.xml"/><Relationship Id="rId37" Type="http://schemas.openxmlformats.org/officeDocument/2006/relationships/slide" Target="slides/slide29.xml"/><Relationship Id="rId14" Type="http://schemas.openxmlformats.org/officeDocument/2006/relationships/slide" Target="slides/slide6.xml"/><Relationship Id="rId36" Type="http://schemas.openxmlformats.org/officeDocument/2006/relationships/slide" Target="slides/slide28.xml"/><Relationship Id="rId17" Type="http://schemas.openxmlformats.org/officeDocument/2006/relationships/slide" Target="slides/slide9.xml"/><Relationship Id="rId39" Type="http://schemas.openxmlformats.org/officeDocument/2006/relationships/slide" Target="slides/slide31.xml"/><Relationship Id="rId16" Type="http://schemas.openxmlformats.org/officeDocument/2006/relationships/slide" Target="slides/slide8.xml"/><Relationship Id="rId38" Type="http://schemas.openxmlformats.org/officeDocument/2006/relationships/slide" Target="slides/slide30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6f2c20ad7_2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f6f2c20ad7_2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6f2c20ad7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f6f2c20ad7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6f2c20ad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f6f2c20ad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6f2c20ad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f6f2c20ad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6f2c20ad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f6f2c20ad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6f2c20ad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f6f2c20ad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6f2c20ad7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f6f2c20ad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6f2c20ad7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f6f2c20ad7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6f2c20ad7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f6f2c20ad7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6f2c20ad7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f6f2c20ad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6f2c20ad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f6f2c20ad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6f2c20ad7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f6f2c20ad7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6f2c20ad7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f6f2c20ad7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6f2c20ad7_2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f6f2c20ad7_2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f6f2c20ad7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f6f2c20ad7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f7090598e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f7090598e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f6f2c20ad7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f6f2c20ad7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f6f2c20ad7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f6f2c20ad7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f6f2c20ad7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f6f2c20ad7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f70c546bde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f70c546bde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f70c546bd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f70c546bd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f6f2c20ad7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f6f2c20ad7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f70c546bde_6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f70c546bde_6_7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f70c546bde_3_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g3f70c546bde_3_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3f70c546bde_3_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f70c546bde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f70c546bde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f6f5d50b5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f6f5d50b5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f6f5d50b5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f6f5d50b5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f6f2c20ad7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f6f2c20ad7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f6f2c20ad7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f6f2c20ad7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f6f2c20ad7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f6f2c20ad7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f6f2c20ad7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f6f2c20ad7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f6f2c20ad7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f6f2c20ad7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f6f2c20ad7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f6f2c20ad7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f6f2c20ad7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f6f2c20ad7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f6f2c20ad7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f6f2c20ad7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7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7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7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8"/>
          <p:cNvSpPr txBox="1"/>
          <p:nvPr>
            <p:ph type="ctrTitle"/>
          </p:nvPr>
        </p:nvSpPr>
        <p:spPr>
          <a:xfrm>
            <a:off x="514364" y="1597819"/>
            <a:ext cx="5829455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8"/>
          <p:cNvSpPr txBox="1"/>
          <p:nvPr>
            <p:ph idx="1" type="subTitle"/>
          </p:nvPr>
        </p:nvSpPr>
        <p:spPr>
          <a:xfrm>
            <a:off x="1028727" y="2914650"/>
            <a:ext cx="4800728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6" name="Google Shape;66;p18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9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 txBox="1"/>
          <p:nvPr>
            <p:ph type="title"/>
          </p:nvPr>
        </p:nvSpPr>
        <p:spPr>
          <a:xfrm>
            <a:off x="541749" y="3305175"/>
            <a:ext cx="5829455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" type="body"/>
          </p:nvPr>
        </p:nvSpPr>
        <p:spPr>
          <a:xfrm>
            <a:off x="541749" y="2180035"/>
            <a:ext cx="5829455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8" name="Google Shape;78;p20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1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1" type="body"/>
          </p:nvPr>
        </p:nvSpPr>
        <p:spPr>
          <a:xfrm>
            <a:off x="342909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3486243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5" name="Google Shape;85;p21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21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21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22"/>
          <p:cNvSpPr txBox="1"/>
          <p:nvPr>
            <p:ph idx="1" type="body"/>
          </p:nvPr>
        </p:nvSpPr>
        <p:spPr>
          <a:xfrm>
            <a:off x="342909" y="1151335"/>
            <a:ext cx="303022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1" name="Google Shape;91;p22"/>
          <p:cNvSpPr txBox="1"/>
          <p:nvPr>
            <p:ph idx="2" type="body"/>
          </p:nvPr>
        </p:nvSpPr>
        <p:spPr>
          <a:xfrm>
            <a:off x="342909" y="1631156"/>
            <a:ext cx="303022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2" name="Google Shape;92;p22"/>
          <p:cNvSpPr txBox="1"/>
          <p:nvPr>
            <p:ph idx="3" type="body"/>
          </p:nvPr>
        </p:nvSpPr>
        <p:spPr>
          <a:xfrm>
            <a:off x="3483862" y="1151335"/>
            <a:ext cx="303141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3" name="Google Shape;93;p22"/>
          <p:cNvSpPr txBox="1"/>
          <p:nvPr>
            <p:ph idx="4" type="body"/>
          </p:nvPr>
        </p:nvSpPr>
        <p:spPr>
          <a:xfrm>
            <a:off x="3483862" y="1631156"/>
            <a:ext cx="303141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4" name="Google Shape;94;p22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22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2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4"/>
          <p:cNvSpPr txBox="1"/>
          <p:nvPr>
            <p:ph type="title"/>
          </p:nvPr>
        </p:nvSpPr>
        <p:spPr>
          <a:xfrm>
            <a:off x="342909" y="204788"/>
            <a:ext cx="225629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4"/>
          <p:cNvSpPr txBox="1"/>
          <p:nvPr>
            <p:ph idx="1" type="body"/>
          </p:nvPr>
        </p:nvSpPr>
        <p:spPr>
          <a:xfrm>
            <a:off x="2681359" y="204788"/>
            <a:ext cx="3833915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5" name="Google Shape;105;p24"/>
          <p:cNvSpPr txBox="1"/>
          <p:nvPr>
            <p:ph idx="2" type="body"/>
          </p:nvPr>
        </p:nvSpPr>
        <p:spPr>
          <a:xfrm>
            <a:off x="342909" y="1076325"/>
            <a:ext cx="225629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6" name="Google Shape;106;p2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2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5"/>
          <p:cNvSpPr txBox="1"/>
          <p:nvPr>
            <p:ph type="title"/>
          </p:nvPr>
        </p:nvSpPr>
        <p:spPr>
          <a:xfrm>
            <a:off x="1344252" y="3600450"/>
            <a:ext cx="411491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5"/>
          <p:cNvSpPr/>
          <p:nvPr>
            <p:ph idx="2" type="pic"/>
          </p:nvPr>
        </p:nvSpPr>
        <p:spPr>
          <a:xfrm>
            <a:off x="1344252" y="459581"/>
            <a:ext cx="411491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25"/>
          <p:cNvSpPr txBox="1"/>
          <p:nvPr>
            <p:ph idx="1" type="body"/>
          </p:nvPr>
        </p:nvSpPr>
        <p:spPr>
          <a:xfrm>
            <a:off x="1344252" y="4025503"/>
            <a:ext cx="411491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3" name="Google Shape;113;p2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2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6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6"/>
          <p:cNvSpPr txBox="1"/>
          <p:nvPr>
            <p:ph idx="1" type="body"/>
          </p:nvPr>
        </p:nvSpPr>
        <p:spPr>
          <a:xfrm rot="5400000">
            <a:off x="1731855" y="-188796"/>
            <a:ext cx="3394472" cy="61723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9" name="Google Shape;119;p26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6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6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7"/>
          <p:cNvSpPr txBox="1"/>
          <p:nvPr>
            <p:ph type="title"/>
          </p:nvPr>
        </p:nvSpPr>
        <p:spPr>
          <a:xfrm rot="5400000">
            <a:off x="3549406" y="1628755"/>
            <a:ext cx="4388644" cy="1543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7"/>
          <p:cNvSpPr txBox="1"/>
          <p:nvPr>
            <p:ph idx="1" type="body"/>
          </p:nvPr>
        </p:nvSpPr>
        <p:spPr>
          <a:xfrm rot="5400000">
            <a:off x="406072" y="142815"/>
            <a:ext cx="4388644" cy="45149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5" name="Google Shape;125;p27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27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27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3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2" Type="http://schemas.openxmlformats.org/officeDocument/2006/relationships/theme" Target="../theme/theme4.xml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6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5" name="Google Shape;55;p16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16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16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16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0">
                <a:latin typeface="Calibri"/>
                <a:ea typeface="Calibri"/>
                <a:cs typeface="Calibri"/>
                <a:sym typeface="Calibri"/>
              </a:rPr>
              <a:t>SAW </a:t>
            </a:r>
            <a:r>
              <a:rPr lang="ko" sz="5000">
                <a:latin typeface="Calibri"/>
                <a:ea typeface="Calibri"/>
                <a:cs typeface="Calibri"/>
                <a:sym typeface="Calibri"/>
              </a:rPr>
              <a:t>공정 불량 분석</a:t>
            </a:r>
            <a:endParaRPr sz="5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8"/>
          <p:cNvSpPr txBox="1"/>
          <p:nvPr>
            <p:ph idx="1" type="subTitle"/>
          </p:nvPr>
        </p:nvSpPr>
        <p:spPr>
          <a:xfrm>
            <a:off x="311700" y="2834125"/>
            <a:ext cx="8520600" cy="9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1조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latin typeface="Calibri"/>
                <a:ea typeface="Calibri"/>
                <a:cs typeface="Calibri"/>
                <a:sym typeface="Calibri"/>
              </a:rPr>
              <a:t>김화영 성웅제 이동호 정회찬 한건희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latin typeface="Calibri"/>
                <a:ea typeface="Calibri"/>
                <a:cs typeface="Calibri"/>
                <a:sym typeface="Calibri"/>
              </a:rPr>
              <a:t>작성일 : 2026.08.13-20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목차</a:t>
            </a:r>
            <a:endParaRPr/>
          </a:p>
        </p:txBody>
      </p:sp>
      <p:sp>
        <p:nvSpPr>
          <p:cNvPr id="139" name="Google Shape;139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ko" sz="1300">
                <a:solidFill>
                  <a:schemeClr val="dk1"/>
                </a:solidFill>
              </a:rPr>
              <a:t>문제 정의 및 추진 배경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ko" sz="1300">
                <a:solidFill>
                  <a:schemeClr val="dk1"/>
                </a:solidFill>
              </a:rPr>
              <a:t>불량 현황 요약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ko" sz="1300">
                <a:solidFill>
                  <a:schemeClr val="dk1"/>
                </a:solidFill>
              </a:rPr>
              <a:t>데이터 수집 및 분석 범위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ko" sz="1300">
                <a:solidFill>
                  <a:schemeClr val="dk1"/>
                </a:solidFill>
              </a:rPr>
              <a:t>원인 분석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ko" sz="1300">
                <a:solidFill>
                  <a:schemeClr val="dk1"/>
                </a:solidFill>
              </a:rPr>
              <a:t>개선안 도출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ko" sz="1300">
                <a:solidFill>
                  <a:schemeClr val="dk1"/>
                </a:solidFill>
              </a:rPr>
              <a:t>개선안 비교 및 최적안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ko" sz="1300">
                <a:solidFill>
                  <a:schemeClr val="dk1"/>
                </a:solidFill>
              </a:rPr>
              <a:t>실행 계획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ko" sz="1300">
                <a:solidFill>
                  <a:schemeClr val="dk1"/>
                </a:solidFill>
              </a:rPr>
              <a:t>기대 효과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ko" sz="1300">
                <a:solidFill>
                  <a:schemeClr val="dk1"/>
                </a:solidFill>
              </a:rPr>
              <a:t>결론 및 요청사항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저희 프로젝트 방향성 : SAW 전체 데이터 중 약 6.8%에서 SPC 관리이탈이 발생. 따라서 관리이탈 Lot과 정상 Lot의 공정조건을 비교하여 관리이탈에 영향을 미치는 요인을 분석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100">
                <a:solidFill>
                  <a:srgbClr val="1F1F1F"/>
                </a:solidFill>
              </a:rPr>
              <a:t>주요 문제 원인은 Kerf Width이상이나 Edge Chippin</a:t>
            </a:r>
            <a:r>
              <a:rPr lang="ko" sz="1100">
                <a:solidFill>
                  <a:srgbClr val="1F1F1F"/>
                </a:solidFill>
              </a:rPr>
              <a:t>g</a:t>
            </a:r>
            <a:r>
              <a:rPr lang="ko" sz="1100">
                <a:solidFill>
                  <a:srgbClr val="1F1F1F"/>
                </a:solidFill>
              </a:rPr>
              <a:t>, 블레이드 마모 및 절단 편차(</a:t>
            </a:r>
            <a:r>
              <a:rPr lang="ko" sz="1100">
                <a:solidFill>
                  <a:srgbClr val="1F1F1F"/>
                </a:solidFill>
                <a:latin typeface="Roboto Mono"/>
                <a:ea typeface="Roboto Mono"/>
                <a:cs typeface="Roboto Mono"/>
                <a:sym typeface="Roboto Mono"/>
              </a:rPr>
              <a:t>Range</a:t>
            </a:r>
            <a:r>
              <a:rPr lang="ko" sz="1100">
                <a:solidFill>
                  <a:srgbClr val="1F1F1F"/>
                </a:solidFill>
              </a:rPr>
              <a:t>) 발생 </a:t>
            </a:r>
            <a:endParaRPr>
              <a:solidFill>
                <a:srgbClr val="1F1F1F"/>
              </a:solidFill>
            </a:endParaRPr>
          </a:p>
        </p:txBody>
      </p:sp>
      <p:pic>
        <p:nvPicPr>
          <p:cNvPr id="146" name="Google Shape;14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7575" y="2693775"/>
            <a:ext cx="5034725" cy="217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31"/>
          <p:cNvSpPr txBox="1"/>
          <p:nvPr>
            <p:ph idx="1" type="body"/>
          </p:nvPr>
        </p:nvSpPr>
        <p:spPr>
          <a:xfrm>
            <a:off x="0" y="2469925"/>
            <a:ext cx="9035700" cy="24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관리 한계를 벗어나 range가 61% 증가함. 블레이드 마모도나 속도 자체의 평균 차이는 크지 않으나 RANGE 급증이 SPC 이탈의 주요 원인으로 작용함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마모율이60~100%까지폭넓게분포하는것은교체기준시점이 로트마다 다르게 적용되고있음을 시사하며, 표준화된 교체 임계치 설정이 필요함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최대 마모율이 100%에 도달한 사례가 존재. 마모율이 높은 상태로 지속 사용될 경우 Edge Chipping,·Kerf 이상 발생 확률이 높아짐.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(교재) Xbar-R 평균값은 유사하게 유지되면서도 표준편차와 Range(산포)가 대폭감소했습니다. 이는공정의'중심'은그 대로두고'변동폭'만줄이는데성공한사례로, SPC 활동의이상적인목표. Kerf Width 이상·Offset류불량이실제로크게감소했을가능성을시사  </a:t>
            </a:r>
            <a:endParaRPr/>
          </a:p>
        </p:txBody>
      </p:sp>
      <p:pic>
        <p:nvPicPr>
          <p:cNvPr id="153" name="Google Shape;15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6096000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32"/>
          <p:cNvSpPr txBox="1"/>
          <p:nvPr>
            <p:ph idx="1" type="body"/>
          </p:nvPr>
        </p:nvSpPr>
        <p:spPr>
          <a:xfrm>
            <a:off x="1069775" y="3837225"/>
            <a:ext cx="6294300" cy="10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Blade Wear가 평균 81.77% 수준이며 최대 100%까지 분포하므로, 마모율이 높은 영역이 존재하는 것을 확인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898개 로트(4.49%)가 100%에 도달 -&gt; 마모한계를 넘어서도 계속 사용</a:t>
            </a:r>
            <a:endParaRPr/>
          </a:p>
        </p:txBody>
      </p:sp>
      <p:pic>
        <p:nvPicPr>
          <p:cNvPr id="160" name="Google Shape;16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76475"/>
            <a:ext cx="5461300" cy="324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33"/>
          <p:cNvSpPr txBox="1"/>
          <p:nvPr>
            <p:ph idx="1" type="body"/>
          </p:nvPr>
        </p:nvSpPr>
        <p:spPr>
          <a:xfrm>
            <a:off x="311700" y="3704500"/>
            <a:ext cx="8520600" cy="8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/>
              <a:t>Sawing Speed는 평균 30.48 mm/s로 중심은 기준범위 27~34 안이지만 범위 밖 데이터가 존재한다. </a:t>
            </a:r>
            <a:endParaRPr/>
          </a:p>
        </p:txBody>
      </p:sp>
      <p:pic>
        <p:nvPicPr>
          <p:cNvPr id="167" name="Google Shape;16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3" y="-3"/>
            <a:ext cx="6240704" cy="3573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34"/>
          <p:cNvSpPr txBox="1"/>
          <p:nvPr>
            <p:ph idx="1" type="body"/>
          </p:nvPr>
        </p:nvSpPr>
        <p:spPr>
          <a:xfrm>
            <a:off x="3790000" y="3649325"/>
            <a:ext cx="4746000" cy="9516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ko" sz="900"/>
              <a:t>Coolant Flow는 평균 1.591 L/min으로 1.5~1.7 L/min을 중심으로 비교적 안정적인 분포를 보인다 </a:t>
            </a:r>
            <a:endParaRPr sz="900"/>
          </a:p>
        </p:txBody>
      </p:sp>
      <p:pic>
        <p:nvPicPr>
          <p:cNvPr id="174" name="Google Shape;17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202" y="2"/>
            <a:ext cx="5898466" cy="33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5"/>
          <p:cNvSpPr txBox="1"/>
          <p:nvPr>
            <p:ph idx="1" type="body"/>
          </p:nvPr>
        </p:nvSpPr>
        <p:spPr>
          <a:xfrm>
            <a:off x="311700" y="3237525"/>
            <a:ext cx="8520600" cy="18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마모율이 높아질수록 out of control 증가하는 형태가 아님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-&gt; blade wear 단독으로 spc 관리이탈 설명하기 어려움</a:t>
            </a:r>
            <a:endParaRPr/>
          </a:p>
        </p:txBody>
      </p:sp>
      <p:pic>
        <p:nvPicPr>
          <p:cNvPr id="181" name="Google Shape;18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801" y="1"/>
            <a:ext cx="5545589" cy="323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6"/>
          <p:cNvSpPr txBox="1"/>
          <p:nvPr>
            <p:ph idx="1" type="body"/>
          </p:nvPr>
        </p:nvSpPr>
        <p:spPr>
          <a:xfrm>
            <a:off x="0" y="3947400"/>
            <a:ext cx="8520600" cy="11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/>
              <a:t>sawing speed</a:t>
            </a:r>
            <a:r>
              <a:rPr lang="ko"/>
              <a:t>가 증가하면서 OOC(Out Of Control)도 전반적으로 증가하고, 34 mm/s 초과 구간에서 8.42%로 가장 높아짐</a:t>
            </a:r>
            <a:endParaRPr/>
          </a:p>
        </p:txBody>
      </p:sp>
      <p:pic>
        <p:nvPicPr>
          <p:cNvPr id="188" name="Google Shape;18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6765650" cy="394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37"/>
          <p:cNvSpPr txBox="1"/>
          <p:nvPr>
            <p:ph idx="1" type="body"/>
          </p:nvPr>
        </p:nvSpPr>
        <p:spPr>
          <a:xfrm>
            <a:off x="311700" y="3451800"/>
            <a:ext cx="8520600" cy="169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5" name="Google Shape;19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650" y="1120225"/>
            <a:ext cx="8350826" cy="4023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8"/>
          <p:cNvSpPr txBox="1"/>
          <p:nvPr>
            <p:ph idx="1" type="body"/>
          </p:nvPr>
        </p:nvSpPr>
        <p:spPr>
          <a:xfrm>
            <a:off x="232750" y="3522150"/>
            <a:ext cx="8520600" cy="17160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</a:t>
            </a:r>
            <a:r>
              <a:rPr lang="ko"/>
              <a:t>검정 결과 0 -&gt; p-value &lt; 0.0001, </a:t>
            </a:r>
            <a:r>
              <a:rPr lang="ko"/>
              <a:t>F검정 결과 </a:t>
            </a:r>
            <a:r>
              <a:rPr lang="ko" sz="1300">
                <a:solidFill>
                  <a:srgbClr val="1F1F1F"/>
                </a:solidFill>
                <a:highlight>
                  <a:srgbClr val="F2F0F0"/>
                </a:highlight>
              </a:rPr>
              <a:t>2.2619E-125</a:t>
            </a:r>
            <a:r>
              <a:rPr lang="ko" sz="1100">
                <a:solidFill>
                  <a:schemeClr val="dk1"/>
                </a:solidFill>
              </a:rPr>
              <a:t> P-VALUE&lt;0.05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유의수준 0.01 미만으로 정상 로트와 관리이탈 로트 간에는 Range의 평균과 분산에 있어서 확실한 통계적 차이가 존재한다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-&gt; blade, speed, flow, xbar는 in control과 out of control이 비슷함. ooc의 원인x. ic / ooc를 가르는 것은 range일 것이다 의미함.(range가 커서 ooc로 분류됨)</a:t>
            </a:r>
            <a:endParaRPr/>
          </a:p>
        </p:txBody>
      </p:sp>
      <p:pic>
        <p:nvPicPr>
          <p:cNvPr id="202" name="Google Shape;20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6" y="-4"/>
            <a:ext cx="4682500" cy="281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6075" y="896625"/>
            <a:ext cx="8367925" cy="242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39"/>
          <p:cNvSpPr txBox="1"/>
          <p:nvPr>
            <p:ph idx="1" type="body"/>
          </p:nvPr>
        </p:nvSpPr>
        <p:spPr>
          <a:xfrm>
            <a:off x="311700" y="3395200"/>
            <a:ext cx="8520600" cy="15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블레이드 마모도가 증가할수록 절단 속도 조건도 이에 비례하여 함께 상향되는 현상 -&gt; 과도한 마모 구간에서의 속도 제어 최적화하므로 Edge Chipping 방지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Sawing Speed = 0.1689 × Blade Wear + 16.6708 </a:t>
            </a:r>
            <a:endParaRPr/>
          </a:p>
        </p:txBody>
      </p:sp>
      <p:pic>
        <p:nvPicPr>
          <p:cNvPr id="210" name="Google Shape;21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375" y="0"/>
            <a:ext cx="7726977" cy="339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40"/>
          <p:cNvSpPr txBox="1"/>
          <p:nvPr>
            <p:ph idx="1" type="body"/>
          </p:nvPr>
        </p:nvSpPr>
        <p:spPr>
          <a:xfrm>
            <a:off x="6790725" y="1152475"/>
            <a:ext cx="2041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RANGE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BLADE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0.0004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상관x</a:t>
            </a:r>
            <a:endParaRPr/>
          </a:p>
        </p:txBody>
      </p:sp>
      <p:pic>
        <p:nvPicPr>
          <p:cNvPr id="217" name="Google Shape;21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788" y="44488"/>
            <a:ext cx="6257925" cy="452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41"/>
          <p:cNvSpPr txBox="1"/>
          <p:nvPr>
            <p:ph idx="1" type="body"/>
          </p:nvPr>
        </p:nvSpPr>
        <p:spPr>
          <a:xfrm>
            <a:off x="7451750" y="1152475"/>
            <a:ext cx="138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SPEED RANGE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0.022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상관X</a:t>
            </a:r>
            <a:endParaRPr/>
          </a:p>
        </p:txBody>
      </p:sp>
      <p:pic>
        <p:nvPicPr>
          <p:cNvPr id="224" name="Google Shape;22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6485376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42"/>
          <p:cNvSpPr txBox="1"/>
          <p:nvPr>
            <p:ph idx="1" type="body"/>
          </p:nvPr>
        </p:nvSpPr>
        <p:spPr>
          <a:xfrm>
            <a:off x="6582850" y="1152475"/>
            <a:ext cx="2249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COOLANT FLOW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RANGE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-0.0424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상관X</a:t>
            </a:r>
            <a:endParaRPr/>
          </a:p>
        </p:txBody>
      </p:sp>
      <p:pic>
        <p:nvPicPr>
          <p:cNvPr id="231" name="Google Shape;23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33350"/>
            <a:ext cx="6043576" cy="374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43"/>
          <p:cNvSpPr txBox="1"/>
          <p:nvPr>
            <p:ph idx="1" type="body"/>
          </p:nvPr>
        </p:nvSpPr>
        <p:spPr>
          <a:xfrm>
            <a:off x="311700" y="2571750"/>
            <a:ext cx="8520600" cy="21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Cpk &lt; 1.0: 부족 (개선 필요) ← speed(0.587), Coolant(0.611) 해당됨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 </a:t>
            </a:r>
            <a:endParaRPr/>
          </a:p>
        </p:txBody>
      </p:sp>
      <p:pic>
        <p:nvPicPr>
          <p:cNvPr id="238" name="Google Shape;23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950" y="1315900"/>
            <a:ext cx="8220075" cy="110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44"/>
          <p:cNvSpPr txBox="1"/>
          <p:nvPr>
            <p:ph idx="1" type="body"/>
          </p:nvPr>
        </p:nvSpPr>
        <p:spPr>
          <a:xfrm>
            <a:off x="311700" y="3393825"/>
            <a:ext cx="8520600" cy="11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이탈이 특정 시점에 몰리지 않고 랜덤하게 발생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위 그래프 빨간점, 아래 그래프 빨간점 위치 다름(xbar이탈/ range 이탈 구분 분석)</a:t>
            </a:r>
            <a:endParaRPr/>
          </a:p>
        </p:txBody>
      </p:sp>
      <p:pic>
        <p:nvPicPr>
          <p:cNvPr id="245" name="Google Shape;24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445025"/>
            <a:ext cx="4142602" cy="2071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2" y="445025"/>
            <a:ext cx="3814937" cy="207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45"/>
          <p:cNvSpPr txBox="1"/>
          <p:nvPr>
            <p:ph idx="1" type="body"/>
          </p:nvPr>
        </p:nvSpPr>
        <p:spPr>
          <a:xfrm>
            <a:off x="311700" y="1152475"/>
            <a:ext cx="8520600" cy="37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ko"/>
              <a:t>Blade wear </a:t>
            </a:r>
            <a:r>
              <a:rPr lang="ko"/>
              <a:t>평균 81.8%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sawing speed cpk 0.587, coolant flow cpk 0.611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관리 필요(목표 대비 산포 넓음, 운영관리가 느슨한 문제)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ko"/>
              <a:t>range 증가로 spc 관리 이탈 6.8%건 -&gt; 원인 ??????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(BG의 변수와 SAW의 변수 상관계수 -0.006 ~ 0.013으로 상관없음.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BG 공정에서 크랙/스크레치/TTV가 안좋았다고해서 SAW공정이 더 불안정해지는건 아님)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위 두가지는 상관x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saw</a:t>
            </a:r>
            <a:r>
              <a:rPr lang="ko"/>
              <a:t>의 spc 상태(in/out)은 최종 불량률과 무관해보임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in 82.6%, out의 83.7%가 최종 fail로 거의 동일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bg 공정과 상관계수 낮고, 파레토도를 보면 최종 불량은 대부분 mold, die attach에서 발생함.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saw에서의 문제는 뭘까?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1, Cpk &lt; 1 부족 -&gt; 개선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2. balde와 speed의 강한 상관관계, 마모 100%까지 쓴것 898개, 관리기준 명확x(blade 교체주기)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3. range/xbar 이탈 -&gt; 계측 사각지대(척 진동, 블레이드 로트 편차,  뭐 등등)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range와 xbar에 미치는 영향 후보들을 더 생각해보고 더 정밀하게 측정하는 개선방안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100"/>
              <a:t>Man/Machine/Material</a:t>
            </a:r>
            <a:endParaRPr/>
          </a:p>
        </p:txBody>
      </p:sp>
      <p:sp>
        <p:nvSpPr>
          <p:cNvPr id="264" name="Google Shape;264;p47"/>
          <p:cNvSpPr txBox="1"/>
          <p:nvPr>
            <p:ph idx="1" type="body"/>
          </p:nvPr>
        </p:nvSpPr>
        <p:spPr>
          <a:xfrm>
            <a:off x="311700" y="380250"/>
            <a:ext cx="8520600" cy="47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1 Man(관리) - Blade 마모도 100% 인 것들이 많다 -&gt; Edge Chipping, Kerf Width  등 발생 가능 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2 saw speed, coolant flow -&gt; 산포 줄이기(PM, Calibration 주기 단축, closed-loop 제어 도입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4 range가 kerf width불량이라 생각이 들어서(확신x) machine기준에서는 Spindle vibration 관리기준 설정, Alignment Calibration같은 거 고려하면 어떨지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6 Kerf Width이상: 장비 linear scale 노후화, 블레이드 두께 변화(마모/편심), 엔지니어 얼라인먼트 알고리즘 파라미터 설정 오류, 소재 웨이퍼/테이프 신축(열팽창)-클린룸 온습도 영향, sheet 여백이 좁을수록 미세한 offset도 치명적 불량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4~6 통합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7 Coolant 공급 조건 (위치/각도/ 방향 등) (2번 통합 (레시피))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8. Range UCL 초과 시 설비점검 Trigger 설정  (개선안)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9 (Machine) Spindle Run-out으로 인한 절단 위치 불량/Chipping (4~6과 통합) 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10. (Machine) 냉각수 온도 센서 캘리브레이션, 진공 Chuck 점검. (4~6 통합Machine)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11. Monitoring : Range 관리도 상시 모니터링, balde ID별 이력관</a:t>
            </a:r>
            <a:r>
              <a:rPr b="1" lang="ko" sz="1100">
                <a:solidFill>
                  <a:schemeClr val="dk1"/>
                </a:solidFill>
              </a:rPr>
              <a:t>리 (개선안)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12 Blade 마모 구간별 Speed 표준 테이블 수립 (현재는 방향성은 있으나, 조금 더 정밀하게) (레시피 설정, 개선안)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13 (Material) Blade 소재 부적합 여부 (소재, 피쉬본 용)</a:t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8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100"/>
              <a:t>Man</a:t>
            </a:r>
            <a:endParaRPr/>
          </a:p>
        </p:txBody>
      </p:sp>
      <p:sp>
        <p:nvSpPr>
          <p:cNvPr id="270" name="Google Shape;270;p48"/>
          <p:cNvSpPr txBox="1"/>
          <p:nvPr>
            <p:ph idx="1" type="body"/>
          </p:nvPr>
        </p:nvSpPr>
        <p:spPr>
          <a:xfrm>
            <a:off x="311700" y="380250"/>
            <a:ext cx="8520600" cy="47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 1. </a:t>
            </a:r>
            <a:r>
              <a:rPr b="1" lang="ko" sz="1100">
                <a:solidFill>
                  <a:schemeClr val="dk1"/>
                </a:solidFill>
              </a:rPr>
              <a:t>Blade 마모율 관리 미흡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-</a:t>
            </a:r>
            <a:r>
              <a:rPr b="1" lang="ko" sz="1100">
                <a:solidFill>
                  <a:schemeClr val="dk1"/>
                </a:solidFill>
              </a:rPr>
              <a:t> Man(설비 관리) - Blade 마모도 100% 인 것들이 많다 -&gt; Edge Chipping, Kerf Width  등 발생 가능성 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Recipe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2.Saw Speed / Coolant Flow 산포 관리 미흡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- Saw speed, coolant flow -&gt; 산포 줄이기(PM, Calibration 주기 단축, closed-loop 제어 도입)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3 Coolant 공급 조건 (위치/각도/방향 등)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- Coolant 공급 관련 파라미터 이상 예상 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모니터링, 품질 관리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4. Range UCL 초과 시 설비점검 Trigger 설정  (개선안)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5. Monitoring : Range 관리도 상시 모니터링, balde ID별 이력관리 (개선안)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ko" sz="1100">
                <a:solidFill>
                  <a:schemeClr val="dk1"/>
                </a:solidFill>
              </a:rPr>
              <a:t>6. Blade 마모 구간별 Speed 표준 미흡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ko" sz="1100">
                <a:solidFill>
                  <a:schemeClr val="dk1"/>
                </a:solidFill>
              </a:rPr>
              <a:t>- Blade 마모 구간별 Speed 표준 테이블 수립 (현재는 방향성은 있으나, 조금 더 정밀하게) (레시피 설정, 개선안)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9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100"/>
              <a:t>Man/Machine/Material</a:t>
            </a:r>
            <a:endParaRPr/>
          </a:p>
        </p:txBody>
      </p:sp>
      <p:sp>
        <p:nvSpPr>
          <p:cNvPr id="276" name="Google Shape;276;p49"/>
          <p:cNvSpPr txBox="1"/>
          <p:nvPr>
            <p:ph idx="1" type="body"/>
          </p:nvPr>
        </p:nvSpPr>
        <p:spPr>
          <a:xfrm>
            <a:off x="311700" y="380250"/>
            <a:ext cx="8520600" cy="47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MACHINE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4 range가 kerf width불량이라 생각이 들어서(확신x) machine기준에서는 Spindle vibration 관리기준 설정, Alignment Calibration같은 거 고려하면 어떨지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6 Kerf Width이상: 장비 linear scale 노후화, 블레이드 두께 변화(마모/편심), 엔지니어 얼라인먼트 알고리즘 파라미터 설정 오류, 소재 웨이퍼/테이프 신축(열팽창)-클린룸 온습도 영향, sheet 여백이 좁을수록 미세한 offset도 치명적 불량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9 (Machine) Spindle Run-out으로 인한 절단 위치 불량/Chipping (4~6과 통합) 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10. (Machine) 냉각수 온도 센서 캘리브레이션, 진공 Chuck 점검. (4~6 통합Machine)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50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ko" sz="1100">
                <a:solidFill>
                  <a:schemeClr val="dk1"/>
                </a:solidFill>
              </a:rPr>
              <a:t>Problem(그냥 우리팀 방향성에 대해서 5whys 만들어봤어요)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현재 데이터만으로 OOC의 직접 원인을 특정하기 어려움</a:t>
            </a:r>
            <a:r>
              <a:rPr lang="ko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ko" sz="1100">
                <a:solidFill>
                  <a:schemeClr val="dk1"/>
                </a:solidFill>
              </a:rPr>
              <a:t>Why 1. 왜 OOC의 직접 원인을 특정하기 어려운가?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→ IN/OUT에 따라 주요 공정변수를 비교했으나 </a:t>
            </a:r>
            <a:r>
              <a:rPr b="1" lang="ko" sz="1100">
                <a:solidFill>
                  <a:schemeClr val="dk1"/>
                </a:solidFill>
              </a:rPr>
              <a:t>명확한 차이 및 상관관계가 확인되지 않음</a:t>
            </a:r>
            <a:r>
              <a:rPr lang="ko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ko" sz="1100">
                <a:solidFill>
                  <a:schemeClr val="dk1"/>
                </a:solidFill>
              </a:rPr>
              <a:t>Why 2. 왜 현재 공정변수에서 명확한 관계가 확인되지 않는가?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→ 현재 데이터에 포함된 변수만으로는 </a:t>
            </a:r>
            <a:r>
              <a:rPr b="1" lang="ko" sz="1100">
                <a:solidFill>
                  <a:schemeClr val="dk1"/>
                </a:solidFill>
              </a:rPr>
              <a:t>OOC 발생에 영향을 미치는 변동 요인을 충분히 설명하기 어려움</a:t>
            </a:r>
            <a:r>
              <a:rPr lang="ko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ko" sz="1100">
                <a:solidFill>
                  <a:schemeClr val="dk1"/>
                </a:solidFill>
              </a:rPr>
              <a:t>Why 3. 왜 OOC의 변동 요인을 충분히 설명하기 어려운가?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→ 공정조건 데이터는 존재하지만, </a:t>
            </a:r>
            <a:r>
              <a:rPr b="1" lang="ko" sz="1100">
                <a:solidFill>
                  <a:schemeClr val="dk1"/>
                </a:solidFill>
              </a:rPr>
              <a:t>설비상태·Blade 이력·Recipe 변경·Calibration 등의 이력정보가 충분히 연결되어 있지 않음</a:t>
            </a:r>
            <a:r>
              <a:rPr lang="ko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ko" sz="1100">
                <a:solidFill>
                  <a:schemeClr val="dk1"/>
                </a:solidFill>
              </a:rPr>
              <a:t>Why 4. 왜 추가 이력정보와의 연결이 필요한가?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→ OOC가 </a:t>
            </a:r>
            <a:r>
              <a:rPr b="1" lang="ko" sz="1100">
                <a:solidFill>
                  <a:schemeClr val="dk1"/>
                </a:solidFill>
              </a:rPr>
              <a:t>단일 공정변수의 변화가 아니라 여러 조건의 복합적인 영향 또는 현재 미수집 변수에 의해 발생할 가능성</a:t>
            </a:r>
            <a:r>
              <a:rPr lang="ko" sz="1100">
                <a:solidFill>
                  <a:schemeClr val="dk1"/>
                </a:solidFill>
              </a:rPr>
              <a:t>이 있기 때문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ko" sz="1100">
                <a:solidFill>
                  <a:schemeClr val="dk1"/>
                </a:solidFill>
              </a:rPr>
              <a:t>Why 5. 그렇다면 현재 단계에서 무엇이 필요한가?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→ IN/OUT의 직접적인 원인 규명에만 집중하기보다 </a:t>
            </a:r>
            <a:r>
              <a:rPr b="1" lang="ko" sz="1100">
                <a:solidFill>
                  <a:schemeClr val="dk1"/>
                </a:solidFill>
              </a:rPr>
              <a:t>Saw 공정의 관리 범위를 확대하고 관련 데이터를 지속적으로 축적·모니터링하면서 OOC 발생 패턴을 추적할 필요가 있음</a:t>
            </a:r>
            <a:r>
              <a:rPr lang="ko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51"/>
          <p:cNvSpPr/>
          <p:nvPr/>
        </p:nvSpPr>
        <p:spPr>
          <a:xfrm>
            <a:off x="466356" y="821436"/>
            <a:ext cx="8216100" cy="493800"/>
          </a:xfrm>
          <a:prstGeom prst="roundRect">
            <a:avLst>
              <a:gd fmla="val 16667" name="adj"/>
            </a:avLst>
          </a:prstGeom>
          <a:solidFill>
            <a:srgbClr val="1D2B4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PROBLEM   현재 데이터만으로 OOC의 직접 원인을 특정하기 어려움</a:t>
            </a:r>
            <a:endParaRPr sz="1100"/>
          </a:p>
        </p:txBody>
      </p:sp>
      <p:sp>
        <p:nvSpPr>
          <p:cNvPr id="288" name="Google Shape;288;p51"/>
          <p:cNvSpPr/>
          <p:nvPr/>
        </p:nvSpPr>
        <p:spPr>
          <a:xfrm>
            <a:off x="466356" y="1548384"/>
            <a:ext cx="1529400" cy="1680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D7DC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51"/>
          <p:cNvSpPr/>
          <p:nvPr/>
        </p:nvSpPr>
        <p:spPr>
          <a:xfrm>
            <a:off x="569229" y="1658112"/>
            <a:ext cx="493800" cy="240000"/>
          </a:xfrm>
          <a:prstGeom prst="roundRect">
            <a:avLst>
              <a:gd fmla="val 16667" name="adj"/>
            </a:avLst>
          </a:prstGeom>
          <a:solidFill>
            <a:srgbClr val="3868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WHY 1</a:t>
            </a:r>
            <a:endParaRPr sz="1100"/>
          </a:p>
        </p:txBody>
      </p:sp>
      <p:sp>
        <p:nvSpPr>
          <p:cNvPr id="290" name="Google Shape;290;p51"/>
          <p:cNvSpPr txBox="1"/>
          <p:nvPr/>
        </p:nvSpPr>
        <p:spPr>
          <a:xfrm>
            <a:off x="569229" y="2001012"/>
            <a:ext cx="1323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D2B44"/>
                </a:solidFill>
                <a:latin typeface="Arial"/>
                <a:ea typeface="Arial"/>
                <a:cs typeface="Arial"/>
                <a:sym typeface="Arial"/>
              </a:rPr>
              <a:t>IN / OUT 비교</a:t>
            </a:r>
            <a:endParaRPr sz="1100"/>
          </a:p>
        </p:txBody>
      </p:sp>
      <p:sp>
        <p:nvSpPr>
          <p:cNvPr id="291" name="Google Shape;291;p51"/>
          <p:cNvSpPr/>
          <p:nvPr/>
        </p:nvSpPr>
        <p:spPr>
          <a:xfrm>
            <a:off x="569229" y="2316480"/>
            <a:ext cx="1323600" cy="10200"/>
          </a:xfrm>
          <a:prstGeom prst="rect">
            <a:avLst/>
          </a:prstGeom>
          <a:solidFill>
            <a:srgbClr val="D7DCE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51"/>
          <p:cNvSpPr txBox="1"/>
          <p:nvPr/>
        </p:nvSpPr>
        <p:spPr>
          <a:xfrm>
            <a:off x="569229" y="2439924"/>
            <a:ext cx="1323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주요 공정변수를 비교했으나</a:t>
            </a:r>
            <a:br>
              <a:rPr b="0" i="0" lang="ko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ko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명확한 차이·상관관계 미확인</a:t>
            </a:r>
            <a:endParaRPr sz="1100"/>
          </a:p>
        </p:txBody>
      </p:sp>
      <p:sp>
        <p:nvSpPr>
          <p:cNvPr id="293" name="Google Shape;293;p51"/>
          <p:cNvSpPr/>
          <p:nvPr/>
        </p:nvSpPr>
        <p:spPr>
          <a:xfrm>
            <a:off x="2019735" y="2227326"/>
            <a:ext cx="75300" cy="260700"/>
          </a:xfrm>
          <a:prstGeom prst="chevron">
            <a:avLst>
              <a:gd fmla="val 50000" name="adj"/>
            </a:avLst>
          </a:prstGeom>
          <a:solidFill>
            <a:srgbClr val="AAB4C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51"/>
          <p:cNvSpPr/>
          <p:nvPr/>
        </p:nvSpPr>
        <p:spPr>
          <a:xfrm>
            <a:off x="2119178" y="1548384"/>
            <a:ext cx="1529400" cy="1680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D7DC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51"/>
          <p:cNvSpPr/>
          <p:nvPr/>
        </p:nvSpPr>
        <p:spPr>
          <a:xfrm>
            <a:off x="2222051" y="1658112"/>
            <a:ext cx="493800" cy="240000"/>
          </a:xfrm>
          <a:prstGeom prst="roundRect">
            <a:avLst>
              <a:gd fmla="val 16667" name="adj"/>
            </a:avLst>
          </a:prstGeom>
          <a:solidFill>
            <a:srgbClr val="3868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WHY 2</a:t>
            </a:r>
            <a:endParaRPr sz="1100"/>
          </a:p>
        </p:txBody>
      </p:sp>
      <p:sp>
        <p:nvSpPr>
          <p:cNvPr id="296" name="Google Shape;296;p51"/>
          <p:cNvSpPr txBox="1"/>
          <p:nvPr/>
        </p:nvSpPr>
        <p:spPr>
          <a:xfrm>
            <a:off x="2222051" y="2001012"/>
            <a:ext cx="1323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D2B44"/>
                </a:solidFill>
                <a:latin typeface="Arial"/>
                <a:ea typeface="Arial"/>
                <a:cs typeface="Arial"/>
                <a:sym typeface="Arial"/>
              </a:rPr>
              <a:t>설명력 한계</a:t>
            </a:r>
            <a:endParaRPr sz="1100"/>
          </a:p>
        </p:txBody>
      </p:sp>
      <p:sp>
        <p:nvSpPr>
          <p:cNvPr id="297" name="Google Shape;297;p51"/>
          <p:cNvSpPr/>
          <p:nvPr/>
        </p:nvSpPr>
        <p:spPr>
          <a:xfrm>
            <a:off x="2222051" y="2316480"/>
            <a:ext cx="1323600" cy="10200"/>
          </a:xfrm>
          <a:prstGeom prst="rect">
            <a:avLst/>
          </a:prstGeom>
          <a:solidFill>
            <a:srgbClr val="D7DCE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51"/>
          <p:cNvSpPr txBox="1"/>
          <p:nvPr/>
        </p:nvSpPr>
        <p:spPr>
          <a:xfrm>
            <a:off x="2222051" y="2439924"/>
            <a:ext cx="1323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현재 변수만으로는 OOC에 영향을 주는</a:t>
            </a:r>
            <a:br>
              <a:rPr b="0" i="0" lang="ko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ko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변동 요인을 충분히 설명하기 어려움</a:t>
            </a:r>
            <a:endParaRPr sz="1100"/>
          </a:p>
        </p:txBody>
      </p:sp>
      <p:sp>
        <p:nvSpPr>
          <p:cNvPr id="299" name="Google Shape;299;p51"/>
          <p:cNvSpPr/>
          <p:nvPr/>
        </p:nvSpPr>
        <p:spPr>
          <a:xfrm>
            <a:off x="3672557" y="2227326"/>
            <a:ext cx="75300" cy="260700"/>
          </a:xfrm>
          <a:prstGeom prst="chevron">
            <a:avLst>
              <a:gd fmla="val 50000" name="adj"/>
            </a:avLst>
          </a:prstGeom>
          <a:solidFill>
            <a:srgbClr val="AAB4C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51"/>
          <p:cNvSpPr/>
          <p:nvPr/>
        </p:nvSpPr>
        <p:spPr>
          <a:xfrm>
            <a:off x="3772001" y="1548384"/>
            <a:ext cx="1529400" cy="1680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D7DC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51"/>
          <p:cNvSpPr/>
          <p:nvPr/>
        </p:nvSpPr>
        <p:spPr>
          <a:xfrm>
            <a:off x="3874873" y="1658112"/>
            <a:ext cx="493800" cy="240000"/>
          </a:xfrm>
          <a:prstGeom prst="roundRect">
            <a:avLst>
              <a:gd fmla="val 16667" name="adj"/>
            </a:avLst>
          </a:prstGeom>
          <a:solidFill>
            <a:srgbClr val="3868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WHY 3</a:t>
            </a:r>
            <a:endParaRPr sz="1100"/>
          </a:p>
        </p:txBody>
      </p:sp>
      <p:sp>
        <p:nvSpPr>
          <p:cNvPr id="302" name="Google Shape;302;p51"/>
          <p:cNvSpPr txBox="1"/>
          <p:nvPr/>
        </p:nvSpPr>
        <p:spPr>
          <a:xfrm>
            <a:off x="3874873" y="2001012"/>
            <a:ext cx="1323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D2B44"/>
                </a:solidFill>
                <a:latin typeface="Arial"/>
                <a:ea typeface="Arial"/>
                <a:cs typeface="Arial"/>
                <a:sym typeface="Arial"/>
              </a:rPr>
              <a:t>이력 연결 부족</a:t>
            </a:r>
            <a:endParaRPr sz="1100"/>
          </a:p>
        </p:txBody>
      </p:sp>
      <p:sp>
        <p:nvSpPr>
          <p:cNvPr id="303" name="Google Shape;303;p51"/>
          <p:cNvSpPr/>
          <p:nvPr/>
        </p:nvSpPr>
        <p:spPr>
          <a:xfrm>
            <a:off x="3874873" y="2316480"/>
            <a:ext cx="1323600" cy="10200"/>
          </a:xfrm>
          <a:prstGeom prst="rect">
            <a:avLst/>
          </a:prstGeom>
          <a:solidFill>
            <a:srgbClr val="D7DCE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51"/>
          <p:cNvSpPr txBox="1"/>
          <p:nvPr/>
        </p:nvSpPr>
        <p:spPr>
          <a:xfrm>
            <a:off x="3874873" y="2439924"/>
            <a:ext cx="1323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설비상태·Blade 이력·Recipe 변경·</a:t>
            </a:r>
            <a:br>
              <a:rPr b="0" i="0" lang="ko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ko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Calibration 정보가 충분히 연결되지 않음</a:t>
            </a:r>
            <a:endParaRPr sz="1100"/>
          </a:p>
        </p:txBody>
      </p:sp>
      <p:sp>
        <p:nvSpPr>
          <p:cNvPr id="305" name="Google Shape;305;p51"/>
          <p:cNvSpPr/>
          <p:nvPr/>
        </p:nvSpPr>
        <p:spPr>
          <a:xfrm>
            <a:off x="5325379" y="2227326"/>
            <a:ext cx="75300" cy="260700"/>
          </a:xfrm>
          <a:prstGeom prst="chevron">
            <a:avLst>
              <a:gd fmla="val 50000" name="adj"/>
            </a:avLst>
          </a:prstGeom>
          <a:solidFill>
            <a:srgbClr val="AAB4C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51"/>
          <p:cNvSpPr/>
          <p:nvPr/>
        </p:nvSpPr>
        <p:spPr>
          <a:xfrm>
            <a:off x="5424823" y="1548384"/>
            <a:ext cx="1529400" cy="1680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D7DC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51"/>
          <p:cNvSpPr/>
          <p:nvPr/>
        </p:nvSpPr>
        <p:spPr>
          <a:xfrm>
            <a:off x="5527695" y="1658112"/>
            <a:ext cx="493800" cy="240000"/>
          </a:xfrm>
          <a:prstGeom prst="roundRect">
            <a:avLst>
              <a:gd fmla="val 16667" name="adj"/>
            </a:avLst>
          </a:prstGeom>
          <a:solidFill>
            <a:srgbClr val="3868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WHY 4</a:t>
            </a:r>
            <a:endParaRPr sz="1100"/>
          </a:p>
        </p:txBody>
      </p:sp>
      <p:sp>
        <p:nvSpPr>
          <p:cNvPr id="308" name="Google Shape;308;p51"/>
          <p:cNvSpPr txBox="1"/>
          <p:nvPr/>
        </p:nvSpPr>
        <p:spPr>
          <a:xfrm>
            <a:off x="5527695" y="2001012"/>
            <a:ext cx="1323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D2B44"/>
                </a:solidFill>
                <a:latin typeface="Arial"/>
                <a:ea typeface="Arial"/>
                <a:cs typeface="Arial"/>
                <a:sym typeface="Arial"/>
              </a:rPr>
              <a:t>복합 요인 가능성</a:t>
            </a:r>
            <a:endParaRPr sz="1100"/>
          </a:p>
        </p:txBody>
      </p:sp>
      <p:sp>
        <p:nvSpPr>
          <p:cNvPr id="309" name="Google Shape;309;p51"/>
          <p:cNvSpPr/>
          <p:nvPr/>
        </p:nvSpPr>
        <p:spPr>
          <a:xfrm>
            <a:off x="5527695" y="2316480"/>
            <a:ext cx="1323600" cy="10200"/>
          </a:xfrm>
          <a:prstGeom prst="rect">
            <a:avLst/>
          </a:prstGeom>
          <a:solidFill>
            <a:srgbClr val="D7DCE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51"/>
          <p:cNvSpPr txBox="1"/>
          <p:nvPr/>
        </p:nvSpPr>
        <p:spPr>
          <a:xfrm>
            <a:off x="5527695" y="2439924"/>
            <a:ext cx="1323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단일 변수보다 여러 조건의 복합 영향 또는</a:t>
            </a:r>
            <a:br>
              <a:rPr b="0" i="0" lang="ko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ko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현재 미수집 변수의 영향 가능성</a:t>
            </a:r>
            <a:endParaRPr sz="1100"/>
          </a:p>
        </p:txBody>
      </p:sp>
      <p:sp>
        <p:nvSpPr>
          <p:cNvPr id="311" name="Google Shape;311;p51"/>
          <p:cNvSpPr/>
          <p:nvPr/>
        </p:nvSpPr>
        <p:spPr>
          <a:xfrm>
            <a:off x="6978201" y="2227326"/>
            <a:ext cx="75300" cy="260700"/>
          </a:xfrm>
          <a:prstGeom prst="chevron">
            <a:avLst>
              <a:gd fmla="val 50000" name="adj"/>
            </a:avLst>
          </a:prstGeom>
          <a:solidFill>
            <a:srgbClr val="AAB4C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51"/>
          <p:cNvSpPr/>
          <p:nvPr/>
        </p:nvSpPr>
        <p:spPr>
          <a:xfrm>
            <a:off x="7077645" y="1548384"/>
            <a:ext cx="1529400" cy="1680300"/>
          </a:xfrm>
          <a:prstGeom prst="roundRect">
            <a:avLst>
              <a:gd fmla="val 16667" name="adj"/>
            </a:avLst>
          </a:prstGeom>
          <a:solidFill>
            <a:srgbClr val="E8F6F1"/>
          </a:solidFill>
          <a:ln cap="flat" cmpd="sng" w="15225">
            <a:solidFill>
              <a:srgbClr val="3089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51"/>
          <p:cNvSpPr/>
          <p:nvPr/>
        </p:nvSpPr>
        <p:spPr>
          <a:xfrm>
            <a:off x="7180517" y="1658112"/>
            <a:ext cx="493800" cy="240000"/>
          </a:xfrm>
          <a:prstGeom prst="roundRect">
            <a:avLst>
              <a:gd fmla="val 16667" name="adj"/>
            </a:avLst>
          </a:prstGeom>
          <a:solidFill>
            <a:srgbClr val="3089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WHY 5</a:t>
            </a:r>
            <a:endParaRPr sz="1100"/>
          </a:p>
        </p:txBody>
      </p:sp>
      <p:sp>
        <p:nvSpPr>
          <p:cNvPr id="314" name="Google Shape;314;p51"/>
          <p:cNvSpPr txBox="1"/>
          <p:nvPr/>
        </p:nvSpPr>
        <p:spPr>
          <a:xfrm>
            <a:off x="7180517" y="2001012"/>
            <a:ext cx="1323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D2B44"/>
                </a:solidFill>
                <a:latin typeface="Arial"/>
                <a:ea typeface="Arial"/>
                <a:cs typeface="Arial"/>
                <a:sym typeface="Arial"/>
              </a:rPr>
              <a:t>분석 범위 확장</a:t>
            </a:r>
            <a:endParaRPr sz="1100"/>
          </a:p>
        </p:txBody>
      </p:sp>
      <p:sp>
        <p:nvSpPr>
          <p:cNvPr id="315" name="Google Shape;315;p51"/>
          <p:cNvSpPr/>
          <p:nvPr/>
        </p:nvSpPr>
        <p:spPr>
          <a:xfrm>
            <a:off x="7180517" y="2316480"/>
            <a:ext cx="1323600" cy="10200"/>
          </a:xfrm>
          <a:prstGeom prst="rect">
            <a:avLst/>
          </a:prstGeom>
          <a:solidFill>
            <a:srgbClr val="D7DCE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51"/>
          <p:cNvSpPr txBox="1"/>
          <p:nvPr/>
        </p:nvSpPr>
        <p:spPr>
          <a:xfrm>
            <a:off x="7180517" y="2439924"/>
            <a:ext cx="1323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IN / OUT에만 집중하지 않고 관리 범위를 넓혀</a:t>
            </a:r>
            <a:br>
              <a:rPr b="0" i="0" lang="ko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ko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데이터를 축적</a:t>
            </a:r>
            <a:r>
              <a:rPr lang="ko" sz="900">
                <a:solidFill>
                  <a:srgbClr val="667085"/>
                </a:solidFill>
              </a:rPr>
              <a:t>, </a:t>
            </a:r>
            <a:r>
              <a:rPr b="0" i="0" lang="ko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모니터링하며 패턴 추적</a:t>
            </a:r>
            <a:endParaRPr sz="1100"/>
          </a:p>
        </p:txBody>
      </p:sp>
      <p:sp>
        <p:nvSpPr>
          <p:cNvPr id="317" name="Google Shape;317;p51"/>
          <p:cNvSpPr/>
          <p:nvPr/>
        </p:nvSpPr>
        <p:spPr>
          <a:xfrm>
            <a:off x="466356" y="3516630"/>
            <a:ext cx="8216100" cy="925800"/>
          </a:xfrm>
          <a:prstGeom prst="roundRect">
            <a:avLst>
              <a:gd fmla="val 16667" name="adj"/>
            </a:avLst>
          </a:prstGeom>
          <a:solidFill>
            <a:srgbClr val="EBF1FC"/>
          </a:solidFill>
          <a:ln cap="flat" cmpd="sng" w="12700">
            <a:solidFill>
              <a:srgbClr val="C4D2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51"/>
          <p:cNvSpPr txBox="1"/>
          <p:nvPr/>
        </p:nvSpPr>
        <p:spPr>
          <a:xfrm>
            <a:off x="651527" y="3694938"/>
            <a:ext cx="10629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800" u="none" cap="none" strike="noStrike">
                <a:solidFill>
                  <a:srgbClr val="3868BE"/>
                </a:solidFill>
                <a:latin typeface="Arial"/>
                <a:ea typeface="Arial"/>
                <a:cs typeface="Arial"/>
                <a:sym typeface="Arial"/>
              </a:rPr>
              <a:t>ANALYSIS DIRECTION</a:t>
            </a:r>
            <a:endParaRPr sz="1100"/>
          </a:p>
        </p:txBody>
      </p:sp>
      <p:sp>
        <p:nvSpPr>
          <p:cNvPr id="319" name="Google Shape;319;p51"/>
          <p:cNvSpPr txBox="1"/>
          <p:nvPr/>
        </p:nvSpPr>
        <p:spPr>
          <a:xfrm>
            <a:off x="651527" y="3948684"/>
            <a:ext cx="74754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1D2B44"/>
                </a:solidFill>
                <a:latin typeface="Arial"/>
                <a:ea typeface="Arial"/>
                <a:cs typeface="Arial"/>
                <a:sym typeface="Arial"/>
              </a:rPr>
              <a:t>관리 범위 확대  →  관련 데이터 축적  →  지속 모니터링  →  OOC 발생 조건·원인 구체화</a:t>
            </a:r>
            <a:endParaRPr sz="1100"/>
          </a:p>
        </p:txBody>
      </p:sp>
      <p:sp>
        <p:nvSpPr>
          <p:cNvPr id="320" name="Google Shape;320;p51"/>
          <p:cNvSpPr txBox="1"/>
          <p:nvPr/>
        </p:nvSpPr>
        <p:spPr>
          <a:xfrm>
            <a:off x="651527" y="4291584"/>
            <a:ext cx="7406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※ 특정 공정변수를 Root Cause로 단정하는 것이 아니라, 현재 데이터의 한계를 근거로 다음 분석 단계의 방향성을 제시</a:t>
            </a:r>
            <a:endParaRPr sz="1100"/>
          </a:p>
        </p:txBody>
      </p:sp>
      <p:sp>
        <p:nvSpPr>
          <p:cNvPr id="321" name="Google Shape;321;p51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b="1" lang="ko" sz="2300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5 Whys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2" name="Google Shape;322;p51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2"/>
          <p:cNvSpPr/>
          <p:nvPr/>
        </p:nvSpPr>
        <p:spPr>
          <a:xfrm>
            <a:off x="4149100" y="2486031"/>
            <a:ext cx="1165800" cy="977400"/>
          </a:xfrm>
          <a:prstGeom prst="roundRect">
            <a:avLst>
              <a:gd fmla="val 11765" name="adj"/>
            </a:avLst>
          </a:prstGeom>
          <a:solidFill>
            <a:srgbClr val="1F29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lang="ko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Out Of </a:t>
            </a:r>
            <a:endParaRPr b="1"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lang="ko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Control</a:t>
            </a:r>
            <a:endParaRPr b="1"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9" name="Google Shape;329;p52"/>
          <p:cNvCxnSpPr/>
          <p:nvPr/>
        </p:nvCxnSpPr>
        <p:spPr>
          <a:xfrm>
            <a:off x="3771900" y="1388745"/>
            <a:ext cx="0" cy="178308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0" name="Google Shape;330;p52"/>
          <p:cNvCxnSpPr/>
          <p:nvPr/>
        </p:nvCxnSpPr>
        <p:spPr>
          <a:xfrm>
            <a:off x="3394710" y="1388745"/>
            <a:ext cx="37719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1" name="Google Shape;331;p52"/>
          <p:cNvSpPr/>
          <p:nvPr/>
        </p:nvSpPr>
        <p:spPr>
          <a:xfrm>
            <a:off x="2091690" y="1200150"/>
            <a:ext cx="1303020" cy="377190"/>
          </a:xfrm>
          <a:prstGeom prst="roundRect">
            <a:avLst>
              <a:gd fmla="val 14545" name="adj"/>
            </a:avLst>
          </a:prstGeom>
          <a:solidFill>
            <a:srgbClr val="185FA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52"/>
          <p:cNvSpPr/>
          <p:nvPr/>
        </p:nvSpPr>
        <p:spPr>
          <a:xfrm>
            <a:off x="2091690" y="1200150"/>
            <a:ext cx="130302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ko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52"/>
          <p:cNvSpPr/>
          <p:nvPr/>
        </p:nvSpPr>
        <p:spPr>
          <a:xfrm>
            <a:off x="82296" y="984123"/>
            <a:ext cx="1885800" cy="809100"/>
          </a:xfrm>
          <a:prstGeom prst="roundRect">
            <a:avLst>
              <a:gd fmla="val 5085" name="adj"/>
            </a:avLst>
          </a:prstGeom>
          <a:solidFill>
            <a:srgbClr val="E6F1FB"/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Clr>
                <a:srgbClr val="3E4C59"/>
              </a:buClr>
              <a:buSzPts val="900"/>
              <a:buFont typeface="Calibri"/>
              <a:buChar char="•"/>
            </a:pPr>
            <a:r>
              <a:rPr b="1" lang="ko" sz="900">
                <a:solidFill>
                  <a:srgbClr val="3E4C59"/>
                </a:solidFill>
                <a:latin typeface="Calibri"/>
                <a:ea typeface="Calibri"/>
                <a:cs typeface="Calibri"/>
                <a:sym typeface="Calibri"/>
              </a:rPr>
              <a:t>Spindle run-out / 진동</a:t>
            </a:r>
            <a:endParaRPr b="1"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rtl="0" algn="l">
              <a:spcBef>
                <a:spcPts val="300"/>
              </a:spcBef>
              <a:spcAft>
                <a:spcPts val="0"/>
              </a:spcAft>
              <a:buClr>
                <a:srgbClr val="3E4C59"/>
              </a:buClr>
              <a:buSzPts val="900"/>
              <a:buFont typeface="Calibri"/>
              <a:buChar char="•"/>
            </a:pPr>
            <a:r>
              <a:rPr b="1" lang="ko" sz="900">
                <a:solidFill>
                  <a:srgbClr val="3E4C59"/>
                </a:solidFill>
                <a:latin typeface="Calibri"/>
                <a:ea typeface="Calibri"/>
                <a:cs typeface="Calibri"/>
                <a:sym typeface="Calibri"/>
              </a:rPr>
              <a:t>진공 Chuck 점검</a:t>
            </a:r>
            <a:endParaRPr b="1"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rtl="0" algn="l">
              <a:spcBef>
                <a:spcPts val="300"/>
              </a:spcBef>
              <a:spcAft>
                <a:spcPts val="0"/>
              </a:spcAft>
              <a:buClr>
                <a:srgbClr val="3E4C59"/>
              </a:buClr>
              <a:buSzPts val="900"/>
              <a:buFont typeface="Calibri"/>
              <a:buChar char="•"/>
            </a:pPr>
            <a:r>
              <a:rPr lang="ko" sz="900">
                <a:solidFill>
                  <a:srgbClr val="3E4C59"/>
                </a:solidFill>
                <a:latin typeface="Calibri"/>
                <a:ea typeface="Calibri"/>
                <a:cs typeface="Calibri"/>
                <a:sym typeface="Calibri"/>
              </a:rPr>
              <a:t>냉각수 온도 센서 Calibration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4" name="Google Shape;334;p52"/>
          <p:cNvCxnSpPr/>
          <p:nvPr/>
        </p:nvCxnSpPr>
        <p:spPr>
          <a:xfrm>
            <a:off x="1968246" y="1388745"/>
            <a:ext cx="123444" cy="0"/>
          </a:xfrm>
          <a:prstGeom prst="straightConnector1">
            <a:avLst/>
          </a:prstGeom>
          <a:noFill/>
          <a:ln cap="flat" cmpd="sng" w="12700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5" name="Google Shape;335;p52"/>
          <p:cNvCxnSpPr/>
          <p:nvPr/>
        </p:nvCxnSpPr>
        <p:spPr>
          <a:xfrm>
            <a:off x="3771900" y="2486025"/>
            <a:ext cx="0" cy="2019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6" name="Google Shape;336;p52"/>
          <p:cNvCxnSpPr/>
          <p:nvPr/>
        </p:nvCxnSpPr>
        <p:spPr>
          <a:xfrm>
            <a:off x="3394710" y="3013545"/>
            <a:ext cx="377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7" name="Google Shape;337;p52"/>
          <p:cNvSpPr/>
          <p:nvPr/>
        </p:nvSpPr>
        <p:spPr>
          <a:xfrm>
            <a:off x="2091690" y="2824950"/>
            <a:ext cx="1302900" cy="377100"/>
          </a:xfrm>
          <a:prstGeom prst="roundRect">
            <a:avLst>
              <a:gd fmla="val 14545" name="adj"/>
            </a:avLst>
          </a:prstGeom>
          <a:solidFill>
            <a:srgbClr val="0F6E5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52"/>
          <p:cNvSpPr/>
          <p:nvPr/>
        </p:nvSpPr>
        <p:spPr>
          <a:xfrm>
            <a:off x="2091690" y="2824950"/>
            <a:ext cx="1302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ko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52"/>
          <p:cNvSpPr/>
          <p:nvPr/>
        </p:nvSpPr>
        <p:spPr>
          <a:xfrm>
            <a:off x="82300" y="2472301"/>
            <a:ext cx="1885800" cy="1083600"/>
          </a:xfrm>
          <a:prstGeom prst="roundRect">
            <a:avLst>
              <a:gd fmla="val 5085" name="adj"/>
            </a:avLst>
          </a:prstGeom>
          <a:solidFill>
            <a:srgbClr val="E1F5EE"/>
          </a:solidFill>
          <a:ln cap="flat" cmpd="sng" w="9525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Clr>
                <a:srgbClr val="3E4C59"/>
              </a:buClr>
              <a:buSzPts val="900"/>
              <a:buFont typeface="Calibri"/>
              <a:buChar char="•"/>
            </a:pPr>
            <a:r>
              <a:rPr b="1" lang="ko" sz="900">
                <a:solidFill>
                  <a:srgbClr val="3E4C59"/>
                </a:solidFill>
                <a:latin typeface="Calibri"/>
                <a:ea typeface="Calibri"/>
                <a:cs typeface="Calibri"/>
                <a:sym typeface="Calibri"/>
              </a:rPr>
              <a:t>마모구간별 Saw Speed     관리 표준</a:t>
            </a:r>
            <a:endParaRPr b="1"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rtl="0" algn="l">
              <a:spcBef>
                <a:spcPts val="300"/>
              </a:spcBef>
              <a:spcAft>
                <a:spcPts val="0"/>
              </a:spcAft>
              <a:buClr>
                <a:srgbClr val="3E4C59"/>
              </a:buClr>
              <a:buSzPts val="900"/>
              <a:buFont typeface="Calibri"/>
              <a:buChar char="•"/>
            </a:pPr>
            <a:r>
              <a:rPr b="1" lang="ko" sz="900">
                <a:solidFill>
                  <a:srgbClr val="3E4C59"/>
                </a:solidFill>
                <a:latin typeface="Calibri"/>
                <a:ea typeface="Calibri"/>
                <a:cs typeface="Calibri"/>
                <a:sym typeface="Calibri"/>
              </a:rPr>
              <a:t>Saw Speed / Coolant Flow  공정 산포 관리 미흡</a:t>
            </a:r>
            <a:endParaRPr b="1"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rtl="0" algn="l">
              <a:spcBef>
                <a:spcPts val="300"/>
              </a:spcBef>
              <a:spcAft>
                <a:spcPts val="0"/>
              </a:spcAft>
              <a:buClr>
                <a:srgbClr val="3E4C59"/>
              </a:buClr>
              <a:buSzPts val="900"/>
              <a:buFont typeface="Calibri"/>
              <a:buChar char="•"/>
            </a:pPr>
            <a:r>
              <a:rPr lang="ko" sz="900">
                <a:solidFill>
                  <a:srgbClr val="3E4C59"/>
                </a:solidFill>
                <a:latin typeface="Calibri"/>
                <a:ea typeface="Calibri"/>
                <a:cs typeface="Calibri"/>
                <a:sym typeface="Calibri"/>
              </a:rPr>
              <a:t>Coolant 공급조건	   (위치, 방향 등)</a:t>
            </a:r>
            <a:endParaRPr sz="900">
              <a:solidFill>
                <a:srgbClr val="3E4C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0" name="Google Shape;340;p52"/>
          <p:cNvCxnSpPr/>
          <p:nvPr/>
        </p:nvCxnSpPr>
        <p:spPr>
          <a:xfrm>
            <a:off x="1968246" y="3013545"/>
            <a:ext cx="123300" cy="0"/>
          </a:xfrm>
          <a:prstGeom prst="straightConnector1">
            <a:avLst/>
          </a:prstGeom>
          <a:noFill/>
          <a:ln cap="flat" cmpd="sng" w="1270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1" name="Google Shape;341;p52"/>
          <p:cNvCxnSpPr/>
          <p:nvPr/>
        </p:nvCxnSpPr>
        <p:spPr>
          <a:xfrm>
            <a:off x="3771900" y="3014100"/>
            <a:ext cx="377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2" name="Google Shape;342;p52"/>
          <p:cNvCxnSpPr/>
          <p:nvPr/>
        </p:nvCxnSpPr>
        <p:spPr>
          <a:xfrm>
            <a:off x="3394710" y="4502467"/>
            <a:ext cx="377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3" name="Google Shape;343;p52"/>
          <p:cNvSpPr/>
          <p:nvPr/>
        </p:nvSpPr>
        <p:spPr>
          <a:xfrm>
            <a:off x="2091690" y="4313872"/>
            <a:ext cx="1302900" cy="377100"/>
          </a:xfrm>
          <a:prstGeom prst="roundRect">
            <a:avLst>
              <a:gd fmla="val 14545" name="adj"/>
            </a:avLst>
          </a:prstGeom>
          <a:solidFill>
            <a:srgbClr val="993C1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52"/>
          <p:cNvSpPr/>
          <p:nvPr/>
        </p:nvSpPr>
        <p:spPr>
          <a:xfrm>
            <a:off x="2091690" y="4313872"/>
            <a:ext cx="1302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ko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52"/>
          <p:cNvSpPr/>
          <p:nvPr/>
        </p:nvSpPr>
        <p:spPr>
          <a:xfrm>
            <a:off x="82296" y="4207573"/>
            <a:ext cx="1885800" cy="589800"/>
          </a:xfrm>
          <a:prstGeom prst="roundRect">
            <a:avLst>
              <a:gd fmla="val 6977" name="adj"/>
            </a:avLst>
          </a:prstGeom>
          <a:solidFill>
            <a:srgbClr val="FAECE7"/>
          </a:solidFill>
          <a:ln cap="flat" cmpd="sng" w="9525">
            <a:solidFill>
              <a:srgbClr val="993C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Clr>
                <a:srgbClr val="3E4C59"/>
              </a:buClr>
              <a:buSzPts val="900"/>
              <a:buFont typeface="Calibri"/>
              <a:buChar char="•"/>
            </a:pPr>
            <a:r>
              <a:rPr b="1" lang="ko" sz="900">
                <a:solidFill>
                  <a:srgbClr val="3E4C59"/>
                </a:solidFill>
                <a:latin typeface="Calibri"/>
                <a:ea typeface="Calibri"/>
                <a:cs typeface="Calibri"/>
                <a:sym typeface="Calibri"/>
              </a:rPr>
              <a:t>Blade 마모율 관리 미흡  (100% 마모된 Blade 다수)</a:t>
            </a:r>
            <a:endParaRPr b="1"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6" name="Google Shape;346;p52"/>
          <p:cNvCxnSpPr/>
          <p:nvPr/>
        </p:nvCxnSpPr>
        <p:spPr>
          <a:xfrm>
            <a:off x="1968246" y="4502467"/>
            <a:ext cx="123300" cy="0"/>
          </a:xfrm>
          <a:prstGeom prst="straightConnector1">
            <a:avLst/>
          </a:prstGeom>
          <a:noFill/>
          <a:ln cap="flat" cmpd="sng" w="12700">
            <a:solidFill>
              <a:srgbClr val="993C1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7" name="Google Shape;347;p52"/>
          <p:cNvCxnSpPr/>
          <p:nvPr/>
        </p:nvCxnSpPr>
        <p:spPr>
          <a:xfrm>
            <a:off x="5520690" y="1937385"/>
            <a:ext cx="0" cy="2041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8" name="Google Shape;348;p52"/>
          <p:cNvCxnSpPr/>
          <p:nvPr/>
        </p:nvCxnSpPr>
        <p:spPr>
          <a:xfrm>
            <a:off x="5520690" y="1937385"/>
            <a:ext cx="20574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9" name="Google Shape;349;p52"/>
          <p:cNvSpPr/>
          <p:nvPr/>
        </p:nvSpPr>
        <p:spPr>
          <a:xfrm>
            <a:off x="5726430" y="1748790"/>
            <a:ext cx="1303020" cy="377190"/>
          </a:xfrm>
          <a:prstGeom prst="roundRect">
            <a:avLst>
              <a:gd fmla="val 14545" name="adj"/>
            </a:avLst>
          </a:prstGeom>
          <a:solidFill>
            <a:srgbClr val="854F0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52"/>
          <p:cNvSpPr/>
          <p:nvPr/>
        </p:nvSpPr>
        <p:spPr>
          <a:xfrm>
            <a:off x="5726430" y="1748790"/>
            <a:ext cx="130302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ko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Material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52"/>
          <p:cNvSpPr/>
          <p:nvPr/>
        </p:nvSpPr>
        <p:spPr>
          <a:xfrm>
            <a:off x="7152894" y="1642491"/>
            <a:ext cx="1885800" cy="589800"/>
          </a:xfrm>
          <a:prstGeom prst="roundRect">
            <a:avLst>
              <a:gd fmla="val 6977" name="adj"/>
            </a:avLst>
          </a:prstGeom>
          <a:solidFill>
            <a:srgbClr val="FAEEDA"/>
          </a:solidFill>
          <a:ln cap="flat" cmpd="sng" w="9525">
            <a:solidFill>
              <a:srgbClr val="854F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Clr>
                <a:srgbClr val="3E4C59"/>
              </a:buClr>
              <a:buSzPts val="900"/>
              <a:buFont typeface="Calibri"/>
              <a:buChar char="•"/>
            </a:pPr>
            <a:r>
              <a:rPr lang="ko" sz="900">
                <a:solidFill>
                  <a:srgbClr val="3E4C59"/>
                </a:solidFill>
                <a:latin typeface="Calibri"/>
                <a:ea typeface="Calibri"/>
                <a:cs typeface="Calibri"/>
                <a:sym typeface="Calibri"/>
              </a:rPr>
              <a:t>Blade 소재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2" name="Google Shape;352;p52"/>
          <p:cNvCxnSpPr/>
          <p:nvPr/>
        </p:nvCxnSpPr>
        <p:spPr>
          <a:xfrm>
            <a:off x="7029450" y="1937385"/>
            <a:ext cx="123444" cy="0"/>
          </a:xfrm>
          <a:prstGeom prst="straightConnector1">
            <a:avLst/>
          </a:prstGeom>
          <a:noFill/>
          <a:ln cap="flat" cmpd="sng" w="12700">
            <a:solidFill>
              <a:srgbClr val="854F0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3" name="Google Shape;353;p52"/>
          <p:cNvCxnSpPr/>
          <p:nvPr/>
        </p:nvCxnSpPr>
        <p:spPr>
          <a:xfrm>
            <a:off x="5292400" y="3014100"/>
            <a:ext cx="20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4" name="Google Shape;354;p52"/>
          <p:cNvCxnSpPr/>
          <p:nvPr/>
        </p:nvCxnSpPr>
        <p:spPr>
          <a:xfrm>
            <a:off x="5520690" y="3992124"/>
            <a:ext cx="20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5" name="Google Shape;355;p52"/>
          <p:cNvSpPr/>
          <p:nvPr/>
        </p:nvSpPr>
        <p:spPr>
          <a:xfrm>
            <a:off x="5726430" y="3803529"/>
            <a:ext cx="1302900" cy="377100"/>
          </a:xfrm>
          <a:prstGeom prst="roundRect">
            <a:avLst>
              <a:gd fmla="val 14545" name="adj"/>
            </a:avLst>
          </a:prstGeom>
          <a:solidFill>
            <a:srgbClr val="52606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52"/>
          <p:cNvSpPr/>
          <p:nvPr/>
        </p:nvSpPr>
        <p:spPr>
          <a:xfrm>
            <a:off x="5726430" y="3803529"/>
            <a:ext cx="1302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ko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Environment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52"/>
          <p:cNvSpPr/>
          <p:nvPr/>
        </p:nvSpPr>
        <p:spPr>
          <a:xfrm>
            <a:off x="7152894" y="3697230"/>
            <a:ext cx="1885800" cy="589800"/>
          </a:xfrm>
          <a:prstGeom prst="roundRect">
            <a:avLst>
              <a:gd fmla="val 6977" name="adj"/>
            </a:avLst>
          </a:prstGeom>
          <a:solidFill>
            <a:srgbClr val="F1EFE8"/>
          </a:solidFill>
          <a:ln cap="flat" cmpd="sng" w="9525">
            <a:solidFill>
              <a:srgbClr val="5260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Clr>
                <a:srgbClr val="3E4C59"/>
              </a:buClr>
              <a:buSzPts val="900"/>
              <a:buFont typeface="Calibri"/>
              <a:buChar char="•"/>
            </a:pPr>
            <a:r>
              <a:rPr lang="ko" sz="900">
                <a:solidFill>
                  <a:srgbClr val="3E4C59"/>
                </a:solidFill>
                <a:latin typeface="Calibri"/>
                <a:ea typeface="Calibri"/>
                <a:cs typeface="Calibri"/>
                <a:sym typeface="Calibri"/>
              </a:rPr>
              <a:t>클린룸 온도, 습도 변동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rtl="0" algn="l">
              <a:spcBef>
                <a:spcPts val="300"/>
              </a:spcBef>
              <a:spcAft>
                <a:spcPts val="0"/>
              </a:spcAft>
              <a:buClr>
                <a:srgbClr val="3E4C59"/>
              </a:buClr>
              <a:buSzPts val="900"/>
              <a:buFont typeface="Calibri"/>
              <a:buChar char="•"/>
            </a:pPr>
            <a:r>
              <a:rPr lang="ko" sz="900">
                <a:solidFill>
                  <a:srgbClr val="3E4C59"/>
                </a:solidFill>
                <a:latin typeface="Calibri"/>
                <a:ea typeface="Calibri"/>
                <a:cs typeface="Calibri"/>
                <a:sym typeface="Calibri"/>
              </a:rPr>
              <a:t>Particle 유입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8" name="Google Shape;358;p52"/>
          <p:cNvCxnSpPr/>
          <p:nvPr/>
        </p:nvCxnSpPr>
        <p:spPr>
          <a:xfrm>
            <a:off x="7029450" y="3992124"/>
            <a:ext cx="123300" cy="0"/>
          </a:xfrm>
          <a:prstGeom prst="straightConnector1">
            <a:avLst/>
          </a:prstGeom>
          <a:noFill/>
          <a:ln cap="flat" cmpd="sng" w="12700">
            <a:solidFill>
              <a:srgbClr val="52606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9" name="Google Shape;359;p52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b="1" lang="ko" sz="2300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OOC 잠재 </a:t>
            </a:r>
            <a:r>
              <a:rPr b="1" i="0" lang="ko" sz="2300" u="none" cap="none" strike="noStrike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원인 분석 (4</a:t>
            </a:r>
            <a:r>
              <a:rPr b="1" lang="ko" sz="2300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M1E)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0" name="Google Shape;360;p52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3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b="1" lang="ko" sz="2300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잠재 </a:t>
            </a:r>
            <a:r>
              <a:rPr b="1" lang="ko" sz="2300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원인별 개선안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6" name="Google Shape;366;p53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7" name="Google Shape;367;p53"/>
          <p:cNvSpPr txBox="1"/>
          <p:nvPr/>
        </p:nvSpPr>
        <p:spPr>
          <a:xfrm>
            <a:off x="275000" y="646050"/>
            <a:ext cx="7546800" cy="13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rgbClr val="3E4C59"/>
                </a:solidFill>
              </a:rPr>
              <a:t>Q1~2 </a:t>
            </a:r>
            <a:r>
              <a:rPr b="1" lang="ko" sz="1000">
                <a:solidFill>
                  <a:srgbClr val="3E4C59"/>
                </a:solidFill>
              </a:rPr>
              <a:t>머신 점검 시행</a:t>
            </a:r>
            <a:endParaRPr b="1" sz="1000">
              <a:solidFill>
                <a:srgbClr val="3E4C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rgbClr val="3E4C59"/>
                </a:solidFill>
              </a:rPr>
              <a:t>Spindle run-out / 진동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rgbClr val="3E4C59"/>
                </a:solidFill>
              </a:rPr>
              <a:t>진공 Chuck 점검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FF0000"/>
                </a:solidFill>
              </a:rPr>
              <a:t>Spindle 회전 중심 재세팅</a:t>
            </a:r>
            <a:endParaRPr sz="1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FF0000"/>
                </a:solidFill>
              </a:rPr>
              <a:t>진공 Chuck 점검</a:t>
            </a:r>
            <a:endParaRPr sz="1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FF0000"/>
                </a:solidFill>
              </a:rPr>
              <a:t>(일정에 넣기)</a:t>
            </a:r>
            <a:endParaRPr sz="1000">
              <a:solidFill>
                <a:srgbClr val="FF0000"/>
              </a:solidFill>
            </a:endParaRPr>
          </a:p>
        </p:txBody>
      </p:sp>
      <p:graphicFrame>
        <p:nvGraphicFramePr>
          <p:cNvPr id="368" name="Google Shape;368;p53"/>
          <p:cNvGraphicFramePr/>
          <p:nvPr/>
        </p:nvGraphicFramePr>
        <p:xfrm>
          <a:off x="378211" y="21500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{767E622A-4300-4D88-96DC-A8B238DC21D9}</a:tableStyleId>
              </a:tblPr>
              <a:tblGrid>
                <a:gridCol w="1011850"/>
                <a:gridCol w="1766225"/>
                <a:gridCol w="650650"/>
                <a:gridCol w="546850"/>
                <a:gridCol w="2149625"/>
                <a:gridCol w="1247350"/>
                <a:gridCol w="1015050"/>
              </a:tblGrid>
              <a:tr h="335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잠재 원인</a:t>
                      </a:r>
                      <a:endParaRPr b="1" sz="11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750" marL="68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b="1" lang="ko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개선</a:t>
                      </a:r>
                      <a:r>
                        <a:rPr b="1" lang="ko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안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750" marL="68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b="1" lang="ko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담당자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750" marL="68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b="1" lang="ko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일정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750" marL="68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b="1" lang="ko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검증 항목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750" marL="68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b="1" lang="ko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완료 기준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750" marL="68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b="1" lang="ko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Follow-up Plan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750" marL="68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A5F"/>
                    </a:solidFill>
                  </a:tcPr>
                </a:tc>
              </a:tr>
              <a:tr h="1081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200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Spindle Run-out</a:t>
                      </a:r>
                      <a:endParaRPr b="1" sz="1200">
                        <a:solidFill>
                          <a:srgbClr val="1F3A5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47750" marL="47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</a:t>
                      </a:r>
                      <a:r>
                        <a:rPr lang="ko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회전 중심 세팅(재정렬) 1차 개선 시도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- 개선 미흡 시 베어링 교체 등 2차 조치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47750" marL="47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OO</a:t>
                      </a:r>
                      <a:r>
                        <a:rPr lang="ko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프로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47750" marL="47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(1차) 1일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(2차)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1일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47750" marL="47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 run-out 실측값 확보 및 편차 수준 수치화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 세팅·교체 전후 run-out 및 Range 산포 변화 비교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47750" marL="47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개선 후 run-out 목표 수준 내 진입 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47750" marL="47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run-out 관리 표준(허용 임계값·점검 주기) 수립 및 정기 점검 항목화 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47750" marL="47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081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200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진공 Chuck</a:t>
                      </a:r>
                      <a:endParaRPr b="1" sz="1200">
                        <a:solidFill>
                          <a:srgbClr val="1F3A5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1200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문제</a:t>
                      </a:r>
                      <a:endParaRPr b="1" sz="1200">
                        <a:solidFill>
                          <a:srgbClr val="1F3A5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47750" marL="47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Chuck 흡착압 및 흡착 균일성 점검 기준 표준화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47750" marL="47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OO프로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47750" marL="47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~08.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(OO일)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47750" marL="47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Calibri"/>
                        <a:buAutoNum type="arabicPeriod"/>
                      </a:pPr>
                      <a:r>
                        <a:rPr lang="ko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Chuck 위치별 Vacuum 압력 측정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Calibri"/>
                        <a:buAutoNum type="arabicPeriod"/>
                      </a:pPr>
                      <a:r>
                        <a:rPr lang="ko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흡착 균일성 확인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Calibri"/>
                        <a:buAutoNum type="arabicPeriod"/>
                      </a:pPr>
                      <a:r>
                        <a:rPr lang="ko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개선 전, 후 Range 및 OOC 발생률 비교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47750" marL="47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OOC 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Range 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47750" marL="47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47750" marL="47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4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b="1" lang="ko" sz="2300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원인별 개선안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4" name="Google Shape;374;p54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5" name="Google Shape;375;p54"/>
          <p:cNvSpPr txBox="1"/>
          <p:nvPr/>
        </p:nvSpPr>
        <p:spPr>
          <a:xfrm>
            <a:off x="275000" y="646050"/>
            <a:ext cx="7546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rgbClr val="3E4C59"/>
                </a:solidFill>
              </a:rPr>
              <a:t>Q3 </a:t>
            </a:r>
            <a:r>
              <a:rPr b="1" lang="ko" sz="1100">
                <a:solidFill>
                  <a:srgbClr val="3E4C59"/>
                </a:solidFill>
                <a:latin typeface="Calibri"/>
                <a:ea typeface="Calibri"/>
                <a:cs typeface="Calibri"/>
                <a:sym typeface="Calibri"/>
              </a:rPr>
              <a:t>마모구간별 Saw Speed     관리 표준</a:t>
            </a:r>
            <a:endParaRPr b="1" sz="1100">
              <a:solidFill>
                <a:srgbClr val="3E4C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100">
                <a:solidFill>
                  <a:srgbClr val="3E4C59"/>
                </a:solidFill>
                <a:latin typeface="Calibri"/>
                <a:ea typeface="Calibri"/>
                <a:cs typeface="Calibri"/>
                <a:sym typeface="Calibri"/>
              </a:rPr>
              <a:t>Saw Speed </a:t>
            </a:r>
            <a:endParaRPr b="1" sz="1000">
              <a:solidFill>
                <a:srgbClr val="3E4C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0000"/>
              </a:solidFill>
            </a:endParaRPr>
          </a:p>
        </p:txBody>
      </p:sp>
      <p:pic>
        <p:nvPicPr>
          <p:cNvPr id="376" name="Google Shape;37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122650"/>
            <a:ext cx="8839201" cy="282037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77" name="Google Shape;377;p54"/>
          <p:cNvGraphicFramePr/>
          <p:nvPr/>
        </p:nvGraphicFramePr>
        <p:xfrm>
          <a:off x="275011" y="11541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{767E622A-4300-4D88-96DC-A8B238DC21D9}</a:tableStyleId>
              </a:tblPr>
              <a:tblGrid>
                <a:gridCol w="1011850"/>
                <a:gridCol w="1011850"/>
                <a:gridCol w="569950"/>
                <a:gridCol w="546850"/>
                <a:gridCol w="2710700"/>
                <a:gridCol w="1377825"/>
                <a:gridCol w="1158575"/>
              </a:tblGrid>
              <a:tr h="335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원인</a:t>
                      </a:r>
                      <a:endParaRPr b="1" sz="11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750" marL="68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b="1" lang="ko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개선안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750" marL="68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b="1" lang="ko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담당자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750" marL="68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b="1" lang="ko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일정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750" marL="68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b="1" lang="ko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검증 항목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750" marL="68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b="1" lang="ko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완료 기준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750" marL="68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b="1" lang="ko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Follow-up Plan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750" marL="68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A5F"/>
                    </a:solidFill>
                  </a:tcPr>
                </a:tc>
              </a:tr>
              <a:tr h="1081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solidFill>
                            <a:srgbClr val="3E4C5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마모구간별 Saw Speed</a:t>
                      </a:r>
                      <a:endParaRPr b="1" sz="1200">
                        <a:solidFill>
                          <a:srgbClr val="1F3A5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47750" marL="47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solidFill>
                            <a:srgbClr val="3E4C5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마모구간별 Saw Speed 관리 표준 설정</a:t>
                      </a:r>
                      <a:endParaRPr/>
                    </a:p>
                  </a:txBody>
                  <a:tcPr marT="38100" marB="38100" marR="47750" marL="47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OO프로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47750" marL="47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~08.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(OO일)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47750" marL="47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Calibri"/>
                        <a:buAutoNum type="arabicPeriod"/>
                      </a:pPr>
                      <a:r>
                        <a:rPr lang="ko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블레이드 마모 정도별 saw speed 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47750" marL="47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47750" marL="47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47750" marL="47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5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b="1" lang="ko" sz="2300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원인별 개선안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3" name="Google Shape;383;p55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4" name="Google Shape;384;p55"/>
          <p:cNvSpPr txBox="1"/>
          <p:nvPr/>
        </p:nvSpPr>
        <p:spPr>
          <a:xfrm>
            <a:off x="275000" y="646050"/>
            <a:ext cx="75468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rgbClr val="3E4C59"/>
                </a:solidFill>
              </a:rPr>
              <a:t>Q4 </a:t>
            </a:r>
            <a:r>
              <a:rPr b="1" lang="ko" sz="1100">
                <a:solidFill>
                  <a:srgbClr val="3E4C59"/>
                </a:solidFill>
                <a:latin typeface="Calibri"/>
                <a:ea typeface="Calibri"/>
                <a:cs typeface="Calibri"/>
                <a:sym typeface="Calibri"/>
              </a:rPr>
              <a:t>Coolant Flow  공정 산포 관리</a:t>
            </a:r>
            <a:endParaRPr b="1" sz="1000">
              <a:solidFill>
                <a:srgbClr val="3E4C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0000"/>
              </a:solidFill>
            </a:endParaRPr>
          </a:p>
        </p:txBody>
      </p:sp>
      <p:graphicFrame>
        <p:nvGraphicFramePr>
          <p:cNvPr id="385" name="Google Shape;385;p55"/>
          <p:cNvGraphicFramePr/>
          <p:nvPr/>
        </p:nvGraphicFramePr>
        <p:xfrm>
          <a:off x="189411" y="27596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{767E622A-4300-4D88-96DC-A8B238DC21D9}</a:tableStyleId>
              </a:tblPr>
              <a:tblGrid>
                <a:gridCol w="1011850"/>
                <a:gridCol w="1011850"/>
                <a:gridCol w="569950"/>
                <a:gridCol w="546850"/>
                <a:gridCol w="2710700"/>
                <a:gridCol w="1377825"/>
                <a:gridCol w="1158575"/>
              </a:tblGrid>
              <a:tr h="335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원인</a:t>
                      </a:r>
                      <a:endParaRPr b="1" sz="1100" u="none" cap="none" strike="noStrike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4300" marB="34300" marR="68750" marL="68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b="1" lang="ko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개선</a:t>
                      </a:r>
                      <a:r>
                        <a:rPr b="1" lang="ko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안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750" marL="68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b="1" lang="ko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담당자</a:t>
                      </a:r>
                      <a:endParaRPr sz="11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4300" marB="34300" marR="68750" marL="68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b="1" lang="ko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일정</a:t>
                      </a:r>
                      <a:endParaRPr sz="11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4300" marB="34300" marR="68750" marL="68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b="1" lang="ko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검증 항목</a:t>
                      </a:r>
                      <a:endParaRPr sz="11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4300" marB="34300" marR="68750" marL="68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b="1" lang="ko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완료 기준</a:t>
                      </a:r>
                      <a:endParaRPr sz="11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4300" marB="34300" marR="68750" marL="68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Malgun Gothic"/>
                        <a:buNone/>
                      </a:pPr>
                      <a:r>
                        <a:rPr b="1" lang="ko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Follow-up Plan</a:t>
                      </a:r>
                      <a:endParaRPr sz="11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4300" marB="34300" marR="68750" marL="68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A5F"/>
                    </a:solidFill>
                  </a:tcPr>
                </a:tc>
              </a:tr>
              <a:tr h="1081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1100">
                          <a:solidFill>
                            <a:srgbClr val="3E4C5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Collant Flow 공정 산포 관리</a:t>
                      </a:r>
                      <a:endParaRPr b="1" sz="1100">
                        <a:solidFill>
                          <a:srgbClr val="1F3A5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47750" marL="47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/>
                        <a:t>배관, 노즐 주기적 PM 관리</a:t>
                      </a:r>
                      <a:endParaRPr sz="1100"/>
                    </a:p>
                  </a:txBody>
                  <a:tcPr marT="38100" marB="38100" marR="47750" marL="47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OO프로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47750" marL="47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~08.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(OO일)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47750" marL="47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Flow 변동폭</a:t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노즐 막힘/오염 상태</a:t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Flow Cpk</a:t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8100" marB="38100" marR="47750" marL="47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Coolant Flow 관리 범위 만족 및 Cpk 개선</a:t>
                      </a:r>
                      <a:endParaRPr sz="1100"/>
                    </a:p>
                  </a:txBody>
                  <a:tcPr marT="38100" marB="38100" marR="47750" marL="47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Flow SPC 지속 Monitoring 및 주기 재조성</a:t>
                      </a:r>
                      <a:endParaRPr sz="1100"/>
                    </a:p>
                  </a:txBody>
                  <a:tcPr marT="38100" marB="38100" marR="47750" marL="4775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6"/>
          <p:cNvSpPr txBox="1"/>
          <p:nvPr/>
        </p:nvSpPr>
        <p:spPr>
          <a:xfrm>
            <a:off x="275000" y="2847925"/>
            <a:ext cx="8719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FF0000"/>
                </a:solidFill>
              </a:rPr>
              <a:t>Q5 </a:t>
            </a:r>
            <a:r>
              <a:rPr b="1" lang="ko" sz="900">
                <a:solidFill>
                  <a:srgbClr val="3E4C59"/>
                </a:solidFill>
                <a:latin typeface="Calibri"/>
                <a:ea typeface="Calibri"/>
                <a:cs typeface="Calibri"/>
                <a:sym typeface="Calibri"/>
              </a:rPr>
              <a:t>Blade 마모율 관리 미흡  (100% 마모된 Blade 다수)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FF0000"/>
                </a:solidFill>
              </a:rPr>
              <a:t>Blade 일정 기준 이상으로 마모시 교체 기준 확립 (</a:t>
            </a:r>
            <a:r>
              <a:rPr b="1" lang="ko">
                <a:solidFill>
                  <a:srgbClr val="FF0000"/>
                </a:solidFill>
              </a:rPr>
              <a:t>마모율 </a:t>
            </a:r>
            <a:r>
              <a:rPr b="1" lang="ko">
                <a:solidFill>
                  <a:srgbClr val="FF0000"/>
                </a:solidFill>
              </a:rPr>
              <a:t>90% </a:t>
            </a:r>
            <a:r>
              <a:rPr b="1" lang="ko">
                <a:solidFill>
                  <a:srgbClr val="FF0000"/>
                </a:solidFill>
              </a:rPr>
              <a:t>이상 시 교체</a:t>
            </a:r>
            <a:r>
              <a:rPr b="1" lang="ko">
                <a:solidFill>
                  <a:srgbClr val="FF0000"/>
                </a:solidFill>
              </a:rPr>
              <a:t>)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91" name="Google Shape;391;p56"/>
          <p:cNvSpPr/>
          <p:nvPr/>
        </p:nvSpPr>
        <p:spPr>
          <a:xfrm>
            <a:off x="275008" y="80635"/>
            <a:ext cx="8594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5E"/>
              </a:buClr>
              <a:buSzPts val="2300"/>
              <a:buFont typeface="Malgun Gothic"/>
              <a:buNone/>
            </a:pPr>
            <a:r>
              <a:rPr b="1" lang="ko" sz="2300">
                <a:solidFill>
                  <a:srgbClr val="1B3A5E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원인별 개선안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2" name="Google Shape;392;p56"/>
          <p:cNvCxnSpPr/>
          <p:nvPr/>
        </p:nvCxnSpPr>
        <p:spPr>
          <a:xfrm>
            <a:off x="0" y="585937"/>
            <a:ext cx="914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3" name="Google Shape;393;p56"/>
          <p:cNvSpPr txBox="1"/>
          <p:nvPr/>
        </p:nvSpPr>
        <p:spPr>
          <a:xfrm>
            <a:off x="275000" y="1040050"/>
            <a:ext cx="8719800" cy="17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Q3~4 </a:t>
            </a:r>
            <a:r>
              <a:rPr b="1" lang="ko" sz="1100">
                <a:solidFill>
                  <a:srgbClr val="3E4C59"/>
                </a:solidFill>
                <a:latin typeface="Calibri"/>
                <a:ea typeface="Calibri"/>
                <a:cs typeface="Calibri"/>
                <a:sym typeface="Calibri"/>
              </a:rPr>
              <a:t>마모구간별 Saw Speed     관리 표준</a:t>
            </a:r>
            <a:endParaRPr b="1" sz="1100">
              <a:solidFill>
                <a:srgbClr val="3E4C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3E4C59"/>
                </a:solidFill>
                <a:latin typeface="Calibri"/>
                <a:ea typeface="Calibri"/>
                <a:cs typeface="Calibri"/>
                <a:sym typeface="Calibri"/>
              </a:rPr>
              <a:t>Saw Speed / Coolant Flow  공정 산포 관리 미흡</a:t>
            </a:r>
            <a:endParaRPr b="1" sz="1100">
              <a:solidFill>
                <a:srgbClr val="3E4C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Saw Speed 산포 관리	</a:t>
            </a:r>
            <a:endParaRPr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blade 상태에 따른 saw speed 조정하고 있는지 레시피 (공정이 안되면 원복) 확인</a:t>
            </a:r>
            <a:endParaRPr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54000" rtl="0" algn="l">
              <a:spcBef>
                <a:spcPts val="300"/>
              </a:spcBef>
              <a:spcAft>
                <a:spcPts val="0"/>
              </a:spcAft>
              <a:buClr>
                <a:srgbClr val="3E4C59"/>
              </a:buClr>
              <a:buSzPts val="1100"/>
              <a:buFont typeface="Calibri"/>
              <a:buChar char="•"/>
            </a:pPr>
            <a:r>
              <a:t/>
            </a:r>
            <a:endParaRPr b="1" sz="1100">
              <a:solidFill>
                <a:srgbClr val="3E4C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Blade wear- Speed 표준 문서화하여 재정립</a:t>
            </a:r>
            <a:endParaRPr b="1" sz="11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(지금 상관관계는 있지만, 엉터리이다 예로 100일 때 이미 30~35로 제각각이다)</a:t>
            </a:r>
            <a:endParaRPr b="1" sz="11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" name="Google Shape;398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122650"/>
            <a:ext cx="8839201" cy="2820378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57"/>
          <p:cNvSpPr txBox="1"/>
          <p:nvPr/>
        </p:nvSpPr>
        <p:spPr>
          <a:xfrm>
            <a:off x="212100" y="221675"/>
            <a:ext cx="8719800" cy="20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Q </a:t>
            </a:r>
            <a:r>
              <a:rPr b="1" lang="ko" sz="1100">
                <a:solidFill>
                  <a:srgbClr val="3E4C59"/>
                </a:solidFill>
                <a:latin typeface="Calibri"/>
                <a:ea typeface="Calibri"/>
                <a:cs typeface="Calibri"/>
                <a:sym typeface="Calibri"/>
              </a:rPr>
              <a:t>마모구간별 Saw Speed     관리 표준</a:t>
            </a:r>
            <a:endParaRPr b="1" sz="1100">
              <a:solidFill>
                <a:srgbClr val="3E4C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3E4C59"/>
                </a:solidFill>
                <a:latin typeface="Calibri"/>
                <a:ea typeface="Calibri"/>
                <a:cs typeface="Calibri"/>
                <a:sym typeface="Calibri"/>
              </a:rPr>
              <a:t>Saw Speed / Coolant Flow  공정 산포 관리 미흡</a:t>
            </a:r>
            <a:endParaRPr b="1" sz="1100">
              <a:solidFill>
                <a:srgbClr val="3E4C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Saw Speed 산포 관리	</a:t>
            </a:r>
            <a:endParaRPr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blade 상태에 따른 saw speed 조정하고 있는지 레시피 (공정이 안되면 원복) 확인</a:t>
            </a:r>
            <a:endParaRPr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54000" rtl="0" algn="l">
              <a:spcBef>
                <a:spcPts val="300"/>
              </a:spcBef>
              <a:spcAft>
                <a:spcPts val="0"/>
              </a:spcAft>
              <a:buClr>
                <a:srgbClr val="3E4C59"/>
              </a:buClr>
              <a:buSzPts val="1100"/>
              <a:buFont typeface="Calibri"/>
              <a:buChar char="•"/>
            </a:pPr>
            <a:r>
              <a:t/>
            </a:r>
            <a:endParaRPr b="1" sz="1100">
              <a:solidFill>
                <a:srgbClr val="3E4C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Blade wear- Speed 표준 문서화하여 재정립</a:t>
            </a:r>
            <a:endParaRPr b="1" sz="11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(지금 상관관계는 있지만, 엉터리이다 예로 100일 때 이미 30~35로 제각각이다)</a:t>
            </a:r>
            <a:endParaRPr b="1" sz="11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SOP </a:t>
            </a:r>
            <a:r>
              <a:rPr b="1" lang="ko" sz="1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확립</a:t>
            </a:r>
            <a:endParaRPr b="1" sz="11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3E4C59"/>
                </a:solidFill>
                <a:latin typeface="Calibri"/>
                <a:ea typeface="Calibri"/>
                <a:cs typeface="Calibri"/>
                <a:sym typeface="Calibri"/>
              </a:rPr>
              <a:t>Saw Speed / Coolant Flow  공정 산포 관리 미흡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latin typeface="Calibri"/>
                <a:ea typeface="Calibri"/>
                <a:cs typeface="Calibri"/>
                <a:sym typeface="Calibri"/>
              </a:rPr>
              <a:t>Saw coolant 산포 어떻게 관리?...		</a:t>
            </a:r>
            <a:r>
              <a:rPr b="1" lang="ko" sz="1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배관, 노즐 주기적 PM 정비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6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